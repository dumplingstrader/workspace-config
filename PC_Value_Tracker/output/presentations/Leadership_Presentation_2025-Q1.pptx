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Process Controls Value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Q1 2025 (January-March 2025)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January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66"/>
                </a:solidFill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6666"/>
                </a:solidFill>
              </a:defRPr>
            </a:pPr>
            <a:r>
              <a:t>Key Achievements</a:t>
            </a:r>
          </a:p>
          <a:p>
            <a:pPr>
              <a:spcBef>
                <a:spcPts val="600"/>
              </a:spcBef>
              <a:defRPr sz="1600"/>
            </a:pPr>
            <a:r>
              <a:t>  * Handled 17 technical support issues</a:t>
            </a:r>
          </a:p>
          <a:p>
            <a:pPr>
              <a:spcBef>
                <a:spcPts val="600"/>
              </a:spcBef>
              <a:defRPr sz="1600"/>
            </a:pPr>
            <a:r>
              <a:t>  * Resolved 94% of issues (Fixed + Informational)</a:t>
            </a:r>
          </a:p>
          <a:p>
            <a:pPr>
              <a:spcBef>
                <a:spcPts val="600"/>
              </a:spcBef>
              <a:defRPr sz="1600"/>
            </a:pPr>
            <a:r>
              <a:t>  * Supported 13 different system types</a:t>
            </a:r>
          </a:p>
          <a:p/>
          <a:p>
            <a:pPr>
              <a:spcBef>
                <a:spcPts val="1800"/>
              </a:spcBef>
              <a:defRPr sz="2000" b="1">
                <a:solidFill>
                  <a:srgbClr val="006666"/>
                </a:solidFill>
              </a:defRPr>
            </a:pPr>
            <a:r>
              <a:t>Trends &amp; Observations</a:t>
            </a:r>
          </a:p>
          <a:p>
            <a:pPr>
              <a:spcBef>
                <a:spcPts val="600"/>
              </a:spcBef>
              <a:defRPr sz="1600"/>
            </a:pPr>
            <a:r>
              <a:t>  * Applications stream: 41% of workload</a:t>
            </a:r>
          </a:p>
          <a:p>
            <a:pPr>
              <a:spcBef>
                <a:spcPts val="600"/>
              </a:spcBef>
              <a:defRPr sz="1600"/>
            </a:pPr>
            <a:r>
              <a:t>  * Top system: Experion/TPS (18%)</a:t>
            </a:r>
          </a:p>
          <a:p>
            <a:pPr>
              <a:spcBef>
                <a:spcPts val="600"/>
              </a:spcBef>
              <a:defRPr sz="1600"/>
            </a:pPr>
            <a:r>
              <a:t>  * Compliance-related work: 18% of issues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66"/>
                </a:solidFill>
              </a:defRPr>
            </a:pPr>
            <a:r>
              <a:t>Key Metrics Dashboard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2560320" cy="1371600"/>
          </a:xfrm>
          <a:prstGeom prst="round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2560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Total Issues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1371600"/>
            <a:ext cx="2560320" cy="1371600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91840" y="1554480"/>
            <a:ext cx="2560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94%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219456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Fixed/Resolved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371600"/>
            <a:ext cx="2560320" cy="1371600"/>
          </a:xfrm>
          <a:prstGeom prst="round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1554480"/>
            <a:ext cx="2560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41%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19456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Applications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200400"/>
            <a:ext cx="2560320" cy="1371600"/>
          </a:xfrm>
          <a:prstGeom prst="roundRect">
            <a:avLst/>
          </a:prstGeom>
          <a:solidFill>
            <a:srgbClr val="FF7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383280"/>
            <a:ext cx="2560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18%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02336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Compliance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91840" y="3200400"/>
            <a:ext cx="2560320" cy="1371600"/>
          </a:xfrm>
          <a:prstGeom prst="roundRect">
            <a:avLst/>
          </a:prstGeom>
          <a:solidFill>
            <a:srgbClr val="CD5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91840" y="3383280"/>
            <a:ext cx="2560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402336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Safety-Related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3200400"/>
            <a:ext cx="2560320" cy="1371600"/>
          </a:xfrm>
          <a:prstGeom prst="round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0" y="3383280"/>
            <a:ext cx="2560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402336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High Complexity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808080"/>
                </a:solidFill>
              </a:defRPr>
            </a:pPr>
            <a:r>
              <a:t>Data period: Q1 2025 (January-March 2025)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66"/>
                </a:solidFill>
              </a:defRPr>
            </a:pPr>
            <a:r>
              <a:t>Work by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/>
            </a:pPr>
            <a:r>
              <a:t>Experion/TPS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26080" y="1463040"/>
            <a:ext cx="987552" cy="365760"/>
          </a:xfrm>
          <a:prstGeom prst="round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005072" y="137160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3 (18%)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/>
            </a:pPr>
            <a:r>
              <a:t>DynAMo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2194560"/>
            <a:ext cx="987552" cy="365760"/>
          </a:xfrm>
          <a:prstGeom prst="round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05072" y="210312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3 (18%)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3464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/>
            </a:pPr>
            <a:r>
              <a:t>Experion Alarm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80" y="2926080"/>
            <a:ext cx="329184" cy="365760"/>
          </a:xfrm>
          <a:prstGeom prst="round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46704" y="283464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1 (6%)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56616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/>
            </a:pPr>
            <a:r>
              <a:t>GE Mark VIe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26080" y="3657600"/>
            <a:ext cx="329184" cy="365760"/>
          </a:xfrm>
          <a:prstGeom prst="round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46704" y="356616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1 (6%)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29768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/>
            </a:pPr>
            <a:r>
              <a:t>SIS/Triconex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26080" y="4389120"/>
            <a:ext cx="329184" cy="365760"/>
          </a:xfrm>
          <a:prstGeom prst="round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46704" y="429768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1 (6%)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02920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/>
            </a:pPr>
            <a:r>
              <a:t>PLC-5/TDC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926080" y="5120640"/>
            <a:ext cx="329184" cy="365760"/>
          </a:xfrm>
          <a:prstGeom prst="round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46704" y="502920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1 (6%)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76072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/>
            </a:pPr>
            <a:r>
              <a:t>Integrity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926080" y="5852160"/>
            <a:ext cx="329184" cy="365760"/>
          </a:xfrm>
          <a:prstGeom prst="round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46704" y="576072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1 (6%)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9224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/>
            </a:pPr>
            <a:r>
              <a:t>ACM/DynAMo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926080" y="6583680"/>
            <a:ext cx="329184" cy="365760"/>
          </a:xfrm>
          <a:prstGeom prst="round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46704" y="649224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1 (6%)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66"/>
                </a:solidFill>
              </a:defRPr>
            </a:pPr>
            <a:r>
              <a:t>Work by Stream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6666"/>
                </a:solidFill>
              </a:defRPr>
            </a:pPr>
            <a:r>
              <a:t>Applications: 7 (41%)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08080"/>
                </a:solidFill>
              </a:defRPr>
            </a:pPr>
            <a:r>
              <a:t>APO, ACM, DynAMo, Integrity, Historian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659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6666"/>
                </a:solidFill>
              </a:defRPr>
            </a:pPr>
            <a:r>
              <a:t>Day-to-Day: 6 (35%)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08080"/>
                </a:solidFill>
              </a:defRPr>
            </a:pPr>
            <a:r>
              <a:t>Routine support, troubleshooting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432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6666"/>
                </a:solidFill>
              </a:defRPr>
            </a:pPr>
            <a:r>
              <a:t>Legacy Modernization: 4 (24%)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632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08080"/>
                </a:solidFill>
              </a:defRPr>
            </a:pPr>
            <a:r>
              <a:t>TDC, PLC-5, obsolete systems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66"/>
                </a:solidFill>
              </a:defRPr>
            </a:pPr>
            <a:r>
              <a:t>Highlights &amp; Impact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8229600" cy="13716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6666"/>
                </a:solidFill>
              </a:defRPr>
            </a:pPr>
            <a:r>
              <a:t>PCDI writes: Consulted SME on write anomalies during steam e...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7F50"/>
                </a:solidFill>
              </a:defRPr>
            </a:pPr>
            <a:r>
              <a:t>System: SIS/Triconex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Resolution: Informational | Impact: Safety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66"/>
                </a:solidFill>
              </a:defRPr>
            </a:pPr>
            <a:r>
              <a:t>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2000" b="1">
                <a:solidFill>
                  <a:srgbClr val="006666"/>
                </a:solidFill>
              </a:defRPr>
            </a:pPr>
            <a:r>
              <a:t>1. Resource Planning</a:t>
            </a:r>
          </a:p>
          <a:p>
            <a:pPr>
              <a:spcBef>
                <a:spcPts val="600"/>
              </a:spcBef>
              <a:defRPr sz="1600"/>
            </a:pPr>
            <a:r>
              <a:t>    With 17 issues this quarter, ensure adequate coverage for Applications (41%) and Experion/TPS support.</a:t>
            </a:r>
          </a:p>
          <a:p/>
          <a:p>
            <a:pPr>
              <a:spcBef>
                <a:spcPts val="1200"/>
              </a:spcBef>
              <a:defRPr sz="2000" b="1">
                <a:solidFill>
                  <a:srgbClr val="006666"/>
                </a:solidFill>
              </a:defRPr>
            </a:pPr>
            <a:r>
              <a:t>2. Training Opportunities</a:t>
            </a:r>
          </a:p>
          <a:p>
            <a:pPr>
              <a:spcBef>
                <a:spcPts val="600"/>
              </a:spcBef>
              <a:defRPr sz="1600"/>
            </a:pPr>
            <a:r>
              <a:t>    Consider cross-training on Experion/TPS given its 18% share of workload.</a:t>
            </a:r>
          </a:p>
          <a:p/>
          <a:p>
            <a:pPr>
              <a:spcBef>
                <a:spcPts val="1200"/>
              </a:spcBef>
              <a:defRPr sz="2000" b="1">
                <a:solidFill>
                  <a:srgbClr val="006666"/>
                </a:solidFill>
              </a:defRPr>
            </a:pPr>
            <a:r>
              <a:t>3. Process Improvements</a:t>
            </a:r>
          </a:p>
          <a:p>
            <a:pPr>
              <a:spcBef>
                <a:spcPts val="600"/>
              </a:spcBef>
              <a:defRPr sz="1600"/>
            </a:pPr>
            <a:r>
              <a:t>    Review 0 high-complexity items for potential process improvements or automation.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Process Controls Team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