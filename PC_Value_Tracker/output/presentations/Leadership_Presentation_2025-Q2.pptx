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Process Controls Value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Q2 2025 (April-June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66"/>
                </a:solidFill>
              </a:defRPr>
            </a:pPr>
            <a:r>
              <a:t>Key Achievements</a:t>
            </a:r>
          </a:p>
          <a:p>
            <a:pPr>
              <a:spcBef>
                <a:spcPts val="600"/>
              </a:spcBef>
              <a:defRPr sz="1600"/>
            </a:pPr>
            <a:r>
              <a:t>  * Handled 26 technical support issues</a:t>
            </a:r>
          </a:p>
          <a:p>
            <a:pPr>
              <a:spcBef>
                <a:spcPts val="600"/>
              </a:spcBef>
              <a:defRPr sz="1600"/>
            </a:pPr>
            <a:r>
              <a:t>  * Resolved 77% of issues (Fixed + Informational)</a:t>
            </a:r>
          </a:p>
          <a:p>
            <a:pPr>
              <a:spcBef>
                <a:spcPts val="600"/>
              </a:spcBef>
              <a:defRPr sz="1600"/>
            </a:pPr>
            <a:r>
              <a:t>  * Supported 13 different system types</a:t>
            </a:r>
          </a:p>
          <a:p/>
          <a:p>
            <a:pPr>
              <a:spcBef>
                <a:spcPts val="1800"/>
              </a:spcBef>
              <a:defRPr sz="2000" b="1">
                <a:solidFill>
                  <a:srgbClr val="006666"/>
                </a:solidFill>
              </a:defRPr>
            </a:pPr>
            <a:r>
              <a:t>Trends &amp; Observations</a:t>
            </a:r>
          </a:p>
          <a:p>
            <a:pPr>
              <a:spcBef>
                <a:spcPts val="600"/>
              </a:spcBef>
              <a:defRPr sz="1600"/>
            </a:pPr>
            <a:r>
              <a:t>  * Applications stream: 58% of workload</a:t>
            </a:r>
          </a:p>
          <a:p>
            <a:pPr>
              <a:spcBef>
                <a:spcPts val="600"/>
              </a:spcBef>
              <a:defRPr sz="1600"/>
            </a:pPr>
            <a:r>
              <a:t>  * Top system: Integrity (23%)</a:t>
            </a:r>
          </a:p>
          <a:p>
            <a:pPr>
              <a:spcBef>
                <a:spcPts val="600"/>
              </a:spcBef>
              <a:defRPr sz="1600"/>
            </a:pPr>
            <a:r>
              <a:t>  * Compliance-related work: 35% of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Key Metrics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3716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3716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Fixed/Resolved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13716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2560320" cy="1371600"/>
          </a:xfrm>
          <a:prstGeom prst="round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200400"/>
            <a:ext cx="2560320" cy="1371600"/>
          </a:xfrm>
          <a:prstGeom prst="roundRect">
            <a:avLst/>
          </a:prstGeom>
          <a:solidFill>
            <a:srgbClr val="CD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Safety-Related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00400"/>
            <a:ext cx="2560320" cy="1371600"/>
          </a:xfrm>
          <a:prstGeom prst="round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High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Data period: Q2 2025 (April-June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Work by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63040"/>
            <a:ext cx="1261872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79392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6 (23%)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DynAMo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94560"/>
            <a:ext cx="82296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 (15%)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Alarm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26080"/>
            <a:ext cx="82296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834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 (15%)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Triconex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657600"/>
            <a:ext cx="438912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35661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 (8%)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Experion/TPS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389120"/>
            <a:ext cx="438912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4297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 (8%)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5120640"/>
            <a:ext cx="27432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5029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 (4%)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HMIWeb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852160"/>
            <a:ext cx="27432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57607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 (4%)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Experion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6583680"/>
            <a:ext cx="27432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64922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 (4%)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Work by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Applications: 15 (58%)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APO, ACM, DynAMo, Integrity, Historian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Day-to-Day: 11 (42%)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Routine support, troubleshooting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Highlights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Advised disabling HART diagnostics to prevent nuisance load-...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7F50"/>
                </a:solidFill>
              </a:defRPr>
            </a:pPr>
            <a:r>
              <a:t>System: Triconex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Resolution: Informational | Impact: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Aligned operations intent and diagnostic suppression for loa...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7F50"/>
                </a:solidFill>
              </a:defRPr>
            </a:pPr>
            <a:r>
              <a:t>System: Triconex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Resolution: Informational | Impact: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8229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Announced major improvements to suppressed/active sync for a...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7F50"/>
                </a:solidFill>
              </a:defRPr>
            </a:pPr>
            <a:r>
              <a:t>System: DynAMo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Resolution: Fixed | Impact: 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000" b="1">
                <a:solidFill>
                  <a:srgbClr val="006666"/>
                </a:solidFill>
              </a:defRPr>
            </a:pPr>
            <a:r>
              <a:t>1. Resource Planning</a:t>
            </a:r>
          </a:p>
          <a:p>
            <a:pPr>
              <a:spcBef>
                <a:spcPts val="600"/>
              </a:spcBef>
              <a:defRPr sz="1600"/>
            </a:pPr>
            <a:r>
              <a:t>    With 26 issues this quarter, ensure adequate coverage for Applications (58%) and Integrity support.</a:t>
            </a:r>
          </a:p>
          <a:p/>
          <a:p>
            <a:pPr>
              <a:spcBef>
                <a:spcPts val="1200"/>
              </a:spcBef>
              <a:defRPr sz="2000" b="1">
                <a:solidFill>
                  <a:srgbClr val="006666"/>
                </a:solidFill>
              </a:defRPr>
            </a:pPr>
            <a:r>
              <a:t>2. Training Opportunities</a:t>
            </a:r>
          </a:p>
          <a:p>
            <a:pPr>
              <a:spcBef>
                <a:spcPts val="600"/>
              </a:spcBef>
              <a:defRPr sz="1600"/>
            </a:pPr>
            <a:r>
              <a:t>    Consider cross-training on Integrity given its 23% share of workload.</a:t>
            </a:r>
          </a:p>
          <a:p/>
          <a:p>
            <a:pPr>
              <a:spcBef>
                <a:spcPts val="1200"/>
              </a:spcBef>
              <a:defRPr sz="2000" b="1">
                <a:solidFill>
                  <a:srgbClr val="006666"/>
                </a:solidFill>
              </a:defRPr>
            </a:pPr>
            <a:r>
              <a:t>3. Process Improvements</a:t>
            </a:r>
          </a:p>
          <a:p>
            <a:pPr>
              <a:spcBef>
                <a:spcPts val="600"/>
              </a:spcBef>
              <a:defRPr sz="1600"/>
            </a:pPr>
            <a:r>
              <a:t>    Review 1 high-complexity items for potential process improvements or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Process Controls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