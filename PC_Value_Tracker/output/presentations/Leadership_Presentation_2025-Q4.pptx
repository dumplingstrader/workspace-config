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Process Controls Value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Q4 2025 (October-December 2025)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66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66"/>
                </a:solidFill>
              </a:defRPr>
            </a:pPr>
            <a:r>
              <a:t>Key Achievements</a:t>
            </a:r>
          </a:p>
          <a:p>
            <a:pPr>
              <a:spcBef>
                <a:spcPts val="600"/>
              </a:spcBef>
              <a:defRPr sz="1600"/>
            </a:pPr>
            <a:r>
              <a:t>  * Handled 55 technical support issues</a:t>
            </a:r>
          </a:p>
          <a:p>
            <a:pPr>
              <a:spcBef>
                <a:spcPts val="600"/>
              </a:spcBef>
              <a:defRPr sz="1600"/>
            </a:pPr>
            <a:r>
              <a:t>  * Resolved 58% of issues (Fixed + Informational)</a:t>
            </a:r>
          </a:p>
          <a:p>
            <a:pPr>
              <a:spcBef>
                <a:spcPts val="600"/>
              </a:spcBef>
              <a:defRPr sz="1600"/>
            </a:pPr>
            <a:r>
              <a:t>  * Supported 19 different system types</a:t>
            </a:r>
          </a:p>
          <a:p/>
          <a:p>
            <a:pPr>
              <a:spcBef>
                <a:spcPts val="1800"/>
              </a:spcBef>
              <a:defRPr sz="2000" b="1">
                <a:solidFill>
                  <a:srgbClr val="006666"/>
                </a:solidFill>
              </a:defRPr>
            </a:pPr>
            <a:r>
              <a:t>Trends &amp; Observations</a:t>
            </a:r>
          </a:p>
          <a:p>
            <a:pPr>
              <a:spcBef>
                <a:spcPts val="600"/>
              </a:spcBef>
              <a:defRPr sz="1600"/>
            </a:pPr>
            <a:r>
              <a:t>  * Applications stream: 56% of workload</a:t>
            </a:r>
          </a:p>
          <a:p>
            <a:pPr>
              <a:spcBef>
                <a:spcPts val="600"/>
              </a:spcBef>
              <a:defRPr sz="1600"/>
            </a:pPr>
            <a:r>
              <a:t>  * Top system: Alarm (22%)</a:t>
            </a:r>
          </a:p>
          <a:p>
            <a:pPr>
              <a:spcBef>
                <a:spcPts val="600"/>
              </a:spcBef>
              <a:defRPr sz="1600"/>
            </a:pPr>
            <a:r>
              <a:t>  * Compliance-related work: 38% of issues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66"/>
                </a:solidFill>
              </a:defRPr>
            </a:pPr>
            <a:r>
              <a:t>Key Metrics Dashboard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560320" cy="137160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Total Issues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371600"/>
            <a:ext cx="2560320" cy="137160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0" y="155448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58%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1945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Fixed/Resolved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2560320" cy="13716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55448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56%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1945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Applications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200400"/>
            <a:ext cx="2560320" cy="1371600"/>
          </a:xfrm>
          <a:prstGeom prst="roundRect">
            <a:avLst/>
          </a:prstGeom>
          <a:solidFill>
            <a:srgbClr val="FF7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38328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38%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0233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Compliance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3200400"/>
            <a:ext cx="2560320" cy="1371600"/>
          </a:xfrm>
          <a:prstGeom prst="roundRect">
            <a:avLst/>
          </a:prstGeom>
          <a:solidFill>
            <a:srgbClr val="CD5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338328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40233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Safety-Related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200400"/>
            <a:ext cx="2560320" cy="1371600"/>
          </a:xfrm>
          <a:prstGeom prst="round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338328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40233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High Complexity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08080"/>
                </a:solidFill>
              </a:defRPr>
            </a:pPr>
            <a:r>
              <a:t>Data period: Q4 2025 (October-December 2025)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66"/>
                </a:solidFill>
              </a:defRPr>
            </a:pPr>
            <a:r>
              <a:t>Work by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/>
            </a:pPr>
            <a:r>
              <a:t>Alarm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1463040"/>
            <a:ext cx="1207008" cy="36576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24528" y="137160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12 (22%)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/>
            </a:pPr>
            <a:r>
              <a:t>Experion/TPS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2194560"/>
            <a:ext cx="713232" cy="36576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30752" y="21031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7 (13%)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/>
            </a:pPr>
            <a:r>
              <a:t>Alarm Mgmt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2926080"/>
            <a:ext cx="603504" cy="36576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21024" y="283464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6 (11%)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6616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/>
            </a:pPr>
            <a:r>
              <a:t>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3657600"/>
            <a:ext cx="384048" cy="36576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01568" y="356616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4 (7%)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9768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/>
            </a:pPr>
            <a:r>
              <a:t>Integrity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80" y="4389120"/>
            <a:ext cx="384048" cy="36576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01568" y="429768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4 (7%)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0292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/>
            </a:pPr>
            <a:r>
              <a:t>SIS/Triconex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26080" y="5120640"/>
            <a:ext cx="274320" cy="36576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502920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3 (5%)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76072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/>
            </a:pPr>
            <a:r>
              <a:t>DCS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26080" y="5852160"/>
            <a:ext cx="274320" cy="36576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57607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3 (5%)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/>
            </a:pPr>
            <a:r>
              <a:t>HMI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26080" y="6583680"/>
            <a:ext cx="274320" cy="36576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0" y="649224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3 (5%)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66"/>
                </a:solidFill>
              </a:defRPr>
            </a:pPr>
            <a:r>
              <a:t>Work by Stream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66"/>
                </a:solidFill>
              </a:defRPr>
            </a:pPr>
            <a:r>
              <a:t>Applications: 31 (56%)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APO, ACM, DynAMo, Integrity, Historian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66"/>
                </a:solidFill>
              </a:defRPr>
            </a:pPr>
            <a:r>
              <a:t>Day-to-Day: 23 (42%)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Routine support, troubleshooting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66"/>
                </a:solidFill>
              </a:defRPr>
            </a:pPr>
            <a:r>
              <a:t>Legacy Modernization: 1 (2%)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TDC, PLC-5, obsolete systems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66"/>
                </a:solidFill>
              </a:defRPr>
            </a:pPr>
            <a:r>
              <a:t>Highlights &amp; Impact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8229600" cy="13716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66"/>
                </a:solidFill>
              </a:defRPr>
            </a:pPr>
            <a:r>
              <a:t>FW: LARINT01 - Cannot create scheduled task: Documented expo...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7F50"/>
                </a:solidFill>
              </a:defRPr>
            </a:pPr>
            <a:r>
              <a:t>System: Experion/TPS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Resolution: Informational | Impact: 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43200"/>
            <a:ext cx="8229600" cy="13716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66"/>
                </a:solidFill>
              </a:defRPr>
            </a:pPr>
            <a:r>
              <a:t>Advised on simulating Safety Manager comms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7F50"/>
                </a:solidFill>
              </a:defRPr>
            </a:pPr>
            <a:r>
              <a:t>System: 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204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Resolution: Informational | Impact: Safety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97680"/>
            <a:ext cx="8229600" cy="13716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4348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66"/>
                </a:solidFill>
              </a:defRPr>
            </a:pPr>
            <a:r>
              <a:t>Investigated FCC alarm 11SPLC30AO, checked scan rate and SCA...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548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7F50"/>
                </a:solidFill>
              </a:defRPr>
            </a:pPr>
            <a:r>
              <a:t>System: 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0749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Resolution: Fixed | Impact: Safety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66"/>
                </a:solidFill>
              </a:defRPr>
            </a:pPr>
            <a: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2000" b="1">
                <a:solidFill>
                  <a:srgbClr val="006666"/>
                </a:solidFill>
              </a:defRPr>
            </a:pPr>
            <a:r>
              <a:t>1. Resource Planning</a:t>
            </a:r>
          </a:p>
          <a:p>
            <a:pPr>
              <a:spcBef>
                <a:spcPts val="600"/>
              </a:spcBef>
              <a:defRPr sz="1600"/>
            </a:pPr>
            <a:r>
              <a:t>    With 55 issues this quarter, ensure adequate coverage for Applications (56%) and Alarm support.</a:t>
            </a:r>
          </a:p>
          <a:p/>
          <a:p>
            <a:pPr>
              <a:spcBef>
                <a:spcPts val="1200"/>
              </a:spcBef>
              <a:defRPr sz="2000" b="1">
                <a:solidFill>
                  <a:srgbClr val="006666"/>
                </a:solidFill>
              </a:defRPr>
            </a:pPr>
            <a:r>
              <a:t>2. Training Opportunities</a:t>
            </a:r>
          </a:p>
          <a:p>
            <a:pPr>
              <a:spcBef>
                <a:spcPts val="600"/>
              </a:spcBef>
              <a:defRPr sz="1600"/>
            </a:pPr>
            <a:r>
              <a:t>    Consider cross-training on Alarm given its 22% share of workload.</a:t>
            </a:r>
          </a:p>
          <a:p/>
          <a:p>
            <a:pPr>
              <a:spcBef>
                <a:spcPts val="1200"/>
              </a:spcBef>
              <a:defRPr sz="2000" b="1">
                <a:solidFill>
                  <a:srgbClr val="006666"/>
                </a:solidFill>
              </a:defRPr>
            </a:pPr>
            <a:r>
              <a:t>3. Process Improvements</a:t>
            </a:r>
          </a:p>
          <a:p>
            <a:pPr>
              <a:spcBef>
                <a:spcPts val="600"/>
              </a:spcBef>
              <a:defRPr sz="1600"/>
            </a:pPr>
            <a:r>
              <a:t>    Review 5 high-complexity items for potential process improvements or automation.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Process Controls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