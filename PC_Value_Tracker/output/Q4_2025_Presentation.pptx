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EA8A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Process Controls Technical Assistance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Q4 2025 Summary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[Presenter Name] | Process Controls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5EA8A7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77884"/>
                </a:solidFill>
              </a:defRPr>
            </a:pPr>
            <a: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8308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C2833"/>
                </a:solidFill>
              </a:defRPr>
            </a:pPr>
            <a:r>
              <a:t>Handled 48 technical assistance requests across 9 systems. 6 quick-response issues resolved within 24 hours.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77884"/>
                </a:solidFill>
              </a:defRPr>
            </a:pPr>
            <a:r>
              <a:t>Notable Trends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3756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C2833"/>
                </a:solidFill>
              </a:defRPr>
            </a:pPr>
            <a:r>
              <a:t>Workload trend: Increasing (+225%). Primary system: Integrity (Hexagon) (1 issues). Activity averaged 16.0 issues per month.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480560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77884"/>
                </a:solidFill>
              </a:defRPr>
            </a:pPr>
            <a:r>
              <a:t>Strategic 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9204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C2833"/>
                </a:solidFill>
              </a:defRPr>
            </a:pPr>
            <a:r>
              <a:t>Maintained operational continuity across multiple sites. Reduced production impact through rapid response. Strengthened technical expertise across control platforms.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5EA8A7"/>
                </a:solidFill>
              </a:defRPr>
            </a:pPr>
            <a:r>
              <a:t>Key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2743200" cy="1828800"/>
          </a:xfrm>
          <a:prstGeom prst="rect">
            <a:avLst/>
          </a:prstGeom>
          <a:solidFill>
            <a:srgbClr val="F4F6F6"/>
          </a:solidFill>
          <a:ln w="25400">
            <a:solidFill>
              <a:srgbClr val="5EA8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2377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E4447"/>
                </a:solidFill>
              </a:defRPr>
            </a:pPr>
            <a:r>
              <a:t>48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C2833"/>
                </a:solidFill>
              </a:defRPr>
            </a:pPr>
            <a:r>
              <a:t>Total Issues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1C2833"/>
                </a:solidFill>
              </a:defRPr>
            </a:pPr>
            <a:r>
              <a:t>Technical requests handled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0" y="1371600"/>
            <a:ext cx="2743200" cy="1828800"/>
          </a:xfrm>
          <a:prstGeom prst="rect">
            <a:avLst/>
          </a:prstGeom>
          <a:solidFill>
            <a:srgbClr val="F4F6F6"/>
          </a:solidFill>
          <a:ln w="25400">
            <a:solidFill>
              <a:srgbClr val="5EA8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645920"/>
            <a:ext cx="2377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E4447"/>
                </a:solidFill>
              </a:defRPr>
            </a:pPr>
            <a: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28600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C2833"/>
                </a:solidFill>
              </a:defRPr>
            </a:pPr>
            <a:r>
              <a:t>Systems Supported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651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1C2833"/>
                </a:solidFill>
              </a:defRPr>
            </a:pPr>
            <a:r>
              <a:t>Different control systems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371600"/>
            <a:ext cx="2743200" cy="1828800"/>
          </a:xfrm>
          <a:prstGeom prst="rect">
            <a:avLst/>
          </a:prstGeom>
          <a:solidFill>
            <a:srgbClr val="F4F6F6"/>
          </a:solidFill>
          <a:ln w="25400">
            <a:solidFill>
              <a:srgbClr val="5EA8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45920"/>
            <a:ext cx="2377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E4447"/>
                </a:solidFill>
              </a:defRPr>
            </a:pPr>
            <a: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28600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C2833"/>
                </a:solidFill>
              </a:defRPr>
            </a:pPr>
            <a:r>
              <a:t>High Complexity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651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1C2833"/>
                </a:solidFill>
              </a:defRPr>
            </a:pPr>
            <a:r>
              <a:t>Major/significant issues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474720"/>
            <a:ext cx="2743200" cy="1828800"/>
          </a:xfrm>
          <a:prstGeom prst="rect">
            <a:avLst/>
          </a:prstGeom>
          <a:solidFill>
            <a:srgbClr val="F4F6F6"/>
          </a:solidFill>
          <a:ln w="25400">
            <a:solidFill>
              <a:srgbClr val="5EA8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749039"/>
            <a:ext cx="2377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E4447"/>
                </a:solidFill>
              </a:defRPr>
            </a:pPr>
            <a: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38912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C2833"/>
                </a:solidFill>
              </a:defRPr>
            </a:pPr>
            <a:r>
              <a:t>Quick Response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754879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1C2833"/>
                </a:solidFill>
              </a:defRPr>
            </a:pPr>
            <a:r>
              <a:t>12% under 24 hours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83280" y="3474720"/>
            <a:ext cx="2743200" cy="1828800"/>
          </a:xfrm>
          <a:prstGeom prst="rect">
            <a:avLst/>
          </a:prstGeom>
          <a:solidFill>
            <a:srgbClr val="F4F6F6"/>
          </a:solidFill>
          <a:ln w="25400">
            <a:solidFill>
              <a:srgbClr val="5EA8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66160" y="3749039"/>
            <a:ext cx="2377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E4447"/>
                </a:solidFill>
              </a:defRPr>
            </a:pPr>
            <a:r>
              <a:t>16.0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438912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C2833"/>
                </a:solidFill>
              </a:defRPr>
            </a:pPr>
            <a:r>
              <a:t>Monthly Average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4754879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1C2833"/>
                </a:solidFill>
              </a:defRPr>
            </a:pPr>
            <a:r>
              <a:t>Issues per month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3474720"/>
            <a:ext cx="2743200" cy="1828800"/>
          </a:xfrm>
          <a:prstGeom prst="rect">
            <a:avLst/>
          </a:prstGeom>
          <a:solidFill>
            <a:srgbClr val="F4F6F6"/>
          </a:solidFill>
          <a:ln w="25400">
            <a:solidFill>
              <a:srgbClr val="5EA8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749039"/>
            <a:ext cx="2377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E4447"/>
                </a:solidFill>
              </a:defRPr>
            </a:pPr>
            <a:r>
              <a:t>Increasing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38912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C2833"/>
                </a:solidFill>
              </a:defRPr>
            </a:pPr>
            <a:r>
              <a:t>Trend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754879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1C2833"/>
                </a:solidFill>
              </a:defRPr>
            </a:pPr>
            <a:r>
              <a:t>+225% change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5EA8A7"/>
                </a:solidFill>
              </a:defRPr>
            </a:pPr>
            <a:r>
              <a:t>Issues by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6400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>
                <a:solidFill>
                  <a:srgbClr val="277884"/>
                </a:solidFill>
              </a:defRPr>
            </a:pPr>
            <a:r>
              <a:t>[INSERT CHART HERE]</a:t>
            </a:r>
          </a:p>
          <a:p/>
          <a:p>
            <a:r>
              <a:t>Recommended: Bar chart or pie chart showing</a:t>
            </a:r>
          </a:p>
          <a:p>
            <a:r>
              <a:t>distribution of issues across control systems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5EA8A7"/>
                </a:solidFill>
              </a:defRPr>
            </a:pPr>
            <a:r>
              <a:t>Success Stories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7680960" cy="1188720"/>
          </a:xfrm>
          <a:prstGeom prst="rect">
            <a:avLst/>
          </a:prstGeom>
          <a:solidFill>
            <a:srgbClr val="F4F6F6"/>
          </a:solidFill>
          <a:ln w="12700">
            <a:solidFill>
              <a:srgbClr val="2778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77884"/>
                </a:solidFill>
              </a:defRPr>
            </a:pPr>
            <a:r>
              <a:t>High Volume Response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C2833"/>
                </a:solidFill>
              </a:defRPr>
            </a:pPr>
            <a:r>
              <a:t>Successfully handled 48 technical assistance requests across 9 different control systems during Q4 2025.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FE4447"/>
                </a:solidFill>
              </a:defRPr>
            </a:pPr>
            <a:r>
              <a:t>Impact: 6 quick-response issues resolved within 24 hours, minimizing production disruptions.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743200"/>
            <a:ext cx="7680960" cy="1188720"/>
          </a:xfrm>
          <a:prstGeom prst="rect">
            <a:avLst/>
          </a:prstGeom>
          <a:solidFill>
            <a:srgbClr val="F4F6F6"/>
          </a:solidFill>
          <a:ln w="12700">
            <a:solidFill>
              <a:srgbClr val="2778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77884"/>
                </a:solidFill>
              </a:defRPr>
            </a:pPr>
            <a:r>
              <a:t>System Expertise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546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C2833"/>
                </a:solidFill>
              </a:defRPr>
            </a:pPr>
            <a:r>
              <a:t>Primary support provided for Integrity (Hexagon) system with 1 issues addressed.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204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FE4447"/>
                </a:solidFill>
              </a:defRPr>
            </a:pPr>
            <a:r>
              <a:t>Impact: Demonstrated deep expertise in critical control systems, ensuring operational continuity.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114800"/>
            <a:ext cx="7680960" cy="1188720"/>
          </a:xfrm>
          <a:prstGeom prst="rect">
            <a:avLst/>
          </a:prstGeom>
          <a:solidFill>
            <a:srgbClr val="F4F6F6"/>
          </a:solidFill>
          <a:ln w="12700">
            <a:solidFill>
              <a:srgbClr val="2778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206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77884"/>
                </a:solidFill>
              </a:defRPr>
            </a:pPr>
            <a:r>
              <a:t>Workload Management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262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C2833"/>
                </a:solidFill>
              </a:defRPr>
            </a:pPr>
            <a:r>
              <a:t>Handled Increasing workload trend (+225% change).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8920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FE4447"/>
                </a:solidFill>
              </a:defRPr>
            </a:pPr>
            <a:r>
              <a:t>Impact: Maintained responsive support despite changing demand, adaptable resource allocation.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5EA8A7"/>
                </a:solidFill>
              </a:defRPr>
            </a:pPr>
            <a:r>
              <a:t>Recommendations</a:t>
            </a:r>
          </a:p>
        </p:txBody>
      </p:sp>
      <p:sp>
        <p:nvSpPr>
          <p:cNvPr id="3" name="Oval 2"/>
          <p:cNvSpPr/>
          <p:nvPr/>
        </p:nvSpPr>
        <p:spPr>
          <a:xfrm>
            <a:off x="914400" y="1645920"/>
            <a:ext cx="365760" cy="365760"/>
          </a:xfrm>
          <a:prstGeom prst="ellipse">
            <a:avLst/>
          </a:prstGeom>
          <a:solidFill>
            <a:srgbClr val="FE4447"/>
          </a:solidFill>
          <a:ln>
            <a:solidFill>
              <a:srgbClr val="FE44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645920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C2833"/>
                </a:solidFill>
              </a:defRPr>
            </a:pPr>
            <a:r>
              <a:t>Resource Planning: Workload increased 225% - consider capacity expansion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2468880"/>
            <a:ext cx="365760" cy="365760"/>
          </a:xfrm>
          <a:prstGeom prst="ellipse">
            <a:avLst/>
          </a:prstGeom>
          <a:solidFill>
            <a:srgbClr val="FE4447"/>
          </a:solidFill>
          <a:ln>
            <a:solidFill>
              <a:srgbClr val="FE44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80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C2833"/>
                </a:solidFill>
              </a:defRPr>
            </a:pPr>
            <a:r>
              <a:t>Continue documenting technical assistance activities for trend analysis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291840"/>
            <a:ext cx="365760" cy="365760"/>
          </a:xfrm>
          <a:prstGeom prst="ellipse">
            <a:avLst/>
          </a:prstGeom>
          <a:solidFill>
            <a:srgbClr val="FE4447"/>
          </a:solidFill>
          <a:ln>
            <a:solidFill>
              <a:srgbClr val="FE44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9184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291840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C2833"/>
                </a:solidFill>
              </a:defRPr>
            </a:pPr>
            <a:r>
              <a:t>Schedule quarterly reviews to assess workload patterns and resource needs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4114800"/>
            <a:ext cx="365760" cy="365760"/>
          </a:xfrm>
          <a:prstGeom prst="ellipse">
            <a:avLst/>
          </a:prstGeom>
          <a:solidFill>
            <a:srgbClr val="FE4447"/>
          </a:solidFill>
          <a:ln>
            <a:solidFill>
              <a:srgbClr val="FE44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1148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114800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C2833"/>
                </a:solidFill>
              </a:defRPr>
            </a:pPr>
            <a:r>
              <a:t>[Additional recommendation based on specific observations]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788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[Your Name] | [Email] | [Phone]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