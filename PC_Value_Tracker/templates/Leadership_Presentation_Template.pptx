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A8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Technical Assistance Value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[Period: Month/Quarter YYYY]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[Presenter Name] | Process Controls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EA8A7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7884"/>
                </a:solidFill>
              </a:defRPr>
            </a:pPr>
            <a: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[Highlight top 2-3 accomplishments]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7884"/>
                </a:solidFill>
              </a:defRPr>
            </a:pPr>
            <a:r>
              <a:t>Notable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[1-2 patterns observed]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7884"/>
                </a:solidFill>
              </a:defRPr>
            </a:pPr>
            <a:r>
              <a:t>Strategic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[How this work supports business goals]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EA8A7"/>
                </a:solidFill>
              </a:defRPr>
            </a:pPr>
            <a:r>
              <a:t>Key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6F6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E4447"/>
                </a:solidFill>
              </a:defRPr>
            </a:pPr>
            <a:r>
              <a:t>[#]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833"/>
                </a:solidFill>
              </a:defRPr>
            </a:pPr>
            <a:r>
              <a:t>Total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C2833"/>
                </a:solidFill>
              </a:defRPr>
            </a:pPr>
            <a:r>
              <a:t>Technical requests handled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371600"/>
            <a:ext cx="2743200" cy="1828800"/>
          </a:xfrm>
          <a:prstGeom prst="rect">
            <a:avLst/>
          </a:prstGeom>
          <a:solidFill>
            <a:srgbClr val="F4F6F6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E4447"/>
                </a:solidFill>
              </a:defRPr>
            </a:pPr>
            <a:r>
              <a:t>[#]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833"/>
                </a:solidFill>
              </a:defRPr>
            </a:pPr>
            <a:r>
              <a:t>Systems Supported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C2833"/>
                </a:solidFill>
              </a:defRPr>
            </a:pPr>
            <a:r>
              <a:t>Different control systems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2743200" cy="1828800"/>
          </a:xfrm>
          <a:prstGeom prst="rect">
            <a:avLst/>
          </a:prstGeom>
          <a:solidFill>
            <a:srgbClr val="F4F6F6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E4447"/>
                </a:solidFill>
              </a:defRPr>
            </a:pPr>
            <a:r>
              <a:t>[#]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833"/>
                </a:solidFill>
              </a:defRPr>
            </a:pPr>
            <a:r>
              <a:t>High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C2833"/>
                </a:solidFill>
              </a:defRPr>
            </a:pPr>
            <a:r>
              <a:t>Major/significant issues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2743200" cy="1828800"/>
          </a:xfrm>
          <a:prstGeom prst="rect">
            <a:avLst/>
          </a:prstGeom>
          <a:solidFill>
            <a:srgbClr val="F4F6F6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E4447"/>
                </a:solidFill>
              </a:defRPr>
            </a:pPr>
            <a:r>
              <a:t>[#]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833"/>
                </a:solidFill>
              </a:defRPr>
            </a:pPr>
            <a:r>
              <a:t>Cross-Site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C2833"/>
                </a:solidFill>
              </a:defRPr>
            </a:pPr>
            <a:r>
              <a:t>Multi-site coordination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474720"/>
            <a:ext cx="2743200" cy="1828800"/>
          </a:xfrm>
          <a:prstGeom prst="rect">
            <a:avLst/>
          </a:prstGeom>
          <a:solidFill>
            <a:srgbClr val="F4F6F6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749039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E4447"/>
                </a:solidFill>
              </a:defRPr>
            </a:pPr>
            <a:r>
              <a:t>[X hours]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3891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833"/>
                </a:solidFill>
              </a:defRPr>
            </a:pPr>
            <a:r>
              <a:t>Avg Response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C2833"/>
                </a:solidFill>
              </a:defRPr>
            </a:pPr>
            <a:r>
              <a:t>Time to resolution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474720"/>
            <a:ext cx="2743200" cy="1828800"/>
          </a:xfrm>
          <a:prstGeom prst="rect">
            <a:avLst/>
          </a:prstGeom>
          <a:solidFill>
            <a:srgbClr val="F4F6F6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749039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E4447"/>
                </a:solidFill>
              </a:defRPr>
            </a:pPr>
            <a:r>
              <a:t>[X%]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3891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833"/>
                </a:solidFill>
              </a:defRPr>
            </a:pPr>
            <a:r>
              <a:t>Uptime Protected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C2833"/>
                </a:solidFill>
              </a:defRPr>
            </a:pPr>
            <a:r>
              <a:t>Production impact avoided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EA8A7"/>
                </a:solidFill>
              </a:defRPr>
            </a:pPr>
            <a:r>
              <a:t>Issues by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277884"/>
                </a:solidFill>
              </a:defRPr>
            </a:pPr>
            <a:r>
              <a:t>[INSERT CHART HERE]</a:t>
            </a:r>
          </a:p>
          <a:p/>
          <a:p>
            <a:r>
              <a:t>Recommended: Bar chart or pie chart showing</a:t>
            </a:r>
          </a:p>
          <a:p>
            <a:r>
              <a:t>distribution of issues across control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EA8A7"/>
                </a:solidFill>
              </a:defRPr>
            </a:pPr>
            <a:r>
              <a:t>Success Stories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solidFill>
            <a:srgbClr val="F4F6F6"/>
          </a:solidFill>
          <a:ln w="127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7884"/>
                </a:solidFill>
              </a:defRPr>
            </a:pPr>
            <a:r>
              <a:t>Major Issue Resolved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833"/>
                </a:solidFill>
              </a:defRPr>
            </a:pPr>
            <a:r>
              <a:t>[Brief description of complex problem solved]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E4447"/>
                </a:solidFill>
              </a:defRPr>
            </a:pPr>
            <a:r>
              <a:t>Impact: [Production saved, downtime avoided, cost savings]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7680960" cy="1188720"/>
          </a:xfrm>
          <a:prstGeom prst="rect">
            <a:avLst/>
          </a:prstGeom>
          <a:solidFill>
            <a:srgbClr val="F4F6F6"/>
          </a:solidFill>
          <a:ln w="127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7884"/>
                </a:solidFill>
              </a:defRPr>
            </a:pPr>
            <a:r>
              <a:t>Cross-Site Collaboration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833"/>
                </a:solidFill>
              </a:defRPr>
            </a:pPr>
            <a:r>
              <a:t>[Example of multi-site coordination]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E4447"/>
                </a:solidFill>
              </a:defRPr>
            </a:pPr>
            <a:r>
              <a:t>Impact: [Standardization achieved, best practices shared]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7680960" cy="1188720"/>
          </a:xfrm>
          <a:prstGeom prst="rect">
            <a:avLst/>
          </a:prstGeom>
          <a:solidFill>
            <a:srgbClr val="F4F6F6"/>
          </a:solidFill>
          <a:ln w="127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7884"/>
                </a:solidFill>
              </a:defRPr>
            </a:pPr>
            <a:r>
              <a:t>Training &amp; Knowledge Transfer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833"/>
                </a:solidFill>
              </a:defRPr>
            </a:pPr>
            <a:r>
              <a:t>[How you enabled others]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E4447"/>
                </a:solidFill>
              </a:defRPr>
            </a:pPr>
            <a:r>
              <a:t>Impact: [Team capability improved, self-sufficiency increased]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EA8A7"/>
                </a:solidFill>
              </a:defRPr>
            </a:pPr>
            <a:r>
              <a:t>Recommendations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645920"/>
            <a:ext cx="365760" cy="365760"/>
          </a:xfrm>
          <a:prstGeom prst="ellipse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C2833"/>
                </a:solidFill>
              </a:defRPr>
            </a:pPr>
            <a:r>
              <a:t>Invest in [training/equipment/resources]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468880"/>
            <a:ext cx="365760" cy="365760"/>
          </a:xfrm>
          <a:prstGeom prst="ellipse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8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C2833"/>
                </a:solidFill>
              </a:defRPr>
            </a:pPr>
            <a:r>
              <a:t>Standardize [process/documentation]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291840"/>
            <a:ext cx="365760" cy="365760"/>
          </a:xfrm>
          <a:prstGeom prst="ellipse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9184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C2833"/>
                </a:solidFill>
              </a:defRPr>
            </a:pPr>
            <a:r>
              <a:t>Expand support to [new area/system]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114800"/>
            <a:ext cx="365760" cy="365760"/>
          </a:xfrm>
          <a:prstGeom prst="ellipse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148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C2833"/>
                </a:solidFill>
              </a:defRPr>
            </a:pPr>
            <a:r>
              <a:t>Schedule regular [reviews/maintenance]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78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[Your Name] | [Email] | [Phone]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