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A8A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Technical Assistance Value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[Period: Month/Quarter YYYY]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[Presenter Name] | Process Controls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EA8A7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77884"/>
                </a:solidFill>
              </a:defRPr>
            </a:pPr>
            <a: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C2833"/>
                </a:solidFill>
              </a:defRPr>
            </a:pPr>
            <a:r>
              <a:t>[Highlight top 2-3 accomplishments]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77884"/>
                </a:solidFill>
              </a:defRPr>
            </a:pPr>
            <a:r>
              <a:t>Notable Trends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C2833"/>
                </a:solidFill>
              </a:defRPr>
            </a:pPr>
            <a:r>
              <a:t>[1-2 patterns observed]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77884"/>
                </a:solidFill>
              </a:defRPr>
            </a:pPr>
            <a:r>
              <a:t>Strategic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C2833"/>
                </a:solidFill>
              </a:defRPr>
            </a:pPr>
            <a:r>
              <a:t>[How this work supports business goals]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EA8A7"/>
                </a:solidFill>
              </a:defRPr>
            </a:pPr>
            <a:r>
              <a:t>Key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2743200" cy="1828800"/>
          </a:xfrm>
          <a:prstGeom prst="rect">
            <a:avLst/>
          </a:prstGeom>
          <a:solidFill>
            <a:srgbClr val="F4F6F6"/>
          </a:solidFill>
          <a:ln w="25400">
            <a:solidFill>
              <a:srgbClr val="5EA8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E4447"/>
                </a:solidFill>
              </a:defRPr>
            </a:pPr>
            <a:r>
              <a:t>[#]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C2833"/>
                </a:solidFill>
              </a:defRPr>
            </a:pPr>
            <a:r>
              <a:t>Total Issues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C2833"/>
                </a:solidFill>
              </a:defRPr>
            </a:pPr>
            <a:r>
              <a:t>Technical requests handled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371600"/>
            <a:ext cx="2743200" cy="1828800"/>
          </a:xfrm>
          <a:prstGeom prst="rect">
            <a:avLst/>
          </a:prstGeom>
          <a:solidFill>
            <a:srgbClr val="F4F6F6"/>
          </a:solidFill>
          <a:ln w="25400">
            <a:solidFill>
              <a:srgbClr val="5EA8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645920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E4447"/>
                </a:solidFill>
              </a:defRPr>
            </a:pPr>
            <a:r>
              <a:t>[#]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28600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C2833"/>
                </a:solidFill>
              </a:defRPr>
            </a:pPr>
            <a:r>
              <a:t>Systems Supported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651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C2833"/>
                </a:solidFill>
              </a:defRPr>
            </a:pPr>
            <a:r>
              <a:t>Different control systems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2743200" cy="1828800"/>
          </a:xfrm>
          <a:prstGeom prst="rect">
            <a:avLst/>
          </a:prstGeom>
          <a:solidFill>
            <a:srgbClr val="F4F6F6"/>
          </a:solidFill>
          <a:ln w="25400">
            <a:solidFill>
              <a:srgbClr val="5EA8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45920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E4447"/>
                </a:solidFill>
              </a:defRPr>
            </a:pPr>
            <a:r>
              <a:t>[#]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8600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C2833"/>
                </a:solidFill>
              </a:defRPr>
            </a:pPr>
            <a:r>
              <a:t>High Complexity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51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C2833"/>
                </a:solidFill>
              </a:defRPr>
            </a:pPr>
            <a:r>
              <a:t>Major/significant issues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2743200" cy="1828800"/>
          </a:xfrm>
          <a:prstGeom prst="rect">
            <a:avLst/>
          </a:prstGeom>
          <a:solidFill>
            <a:srgbClr val="F4F6F6"/>
          </a:solidFill>
          <a:ln w="25400">
            <a:solidFill>
              <a:srgbClr val="5EA8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49039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E4447"/>
                </a:solidFill>
              </a:defRPr>
            </a:pPr>
            <a:r>
              <a:t>[#]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C2833"/>
                </a:solidFill>
              </a:defRPr>
            </a:pPr>
            <a:r>
              <a:t>Cross-Site 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5487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C2833"/>
                </a:solidFill>
              </a:defRPr>
            </a:pPr>
            <a:r>
              <a:t>Multi-site coordination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474720"/>
            <a:ext cx="2743200" cy="1828800"/>
          </a:xfrm>
          <a:prstGeom prst="rect">
            <a:avLst/>
          </a:prstGeom>
          <a:solidFill>
            <a:srgbClr val="F4F6F6"/>
          </a:solidFill>
          <a:ln w="25400">
            <a:solidFill>
              <a:srgbClr val="5EA8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749039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E4447"/>
                </a:solidFill>
              </a:defRPr>
            </a:pPr>
            <a:r>
              <a:t>[X hours]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38912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C2833"/>
                </a:solidFill>
              </a:defRPr>
            </a:pPr>
            <a:r>
              <a:t>Avg Response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75487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C2833"/>
                </a:solidFill>
              </a:defRPr>
            </a:pPr>
            <a:r>
              <a:t>Time to resolution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474720"/>
            <a:ext cx="2743200" cy="1828800"/>
          </a:xfrm>
          <a:prstGeom prst="rect">
            <a:avLst/>
          </a:prstGeom>
          <a:solidFill>
            <a:srgbClr val="F4F6F6"/>
          </a:solidFill>
          <a:ln w="25400">
            <a:solidFill>
              <a:srgbClr val="5EA8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749039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E4447"/>
                </a:solidFill>
              </a:defRPr>
            </a:pPr>
            <a:r>
              <a:t>[X%]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38912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C2833"/>
                </a:solidFill>
              </a:defRPr>
            </a:pPr>
            <a:r>
              <a:t>Uptime Protected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75487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C2833"/>
                </a:solidFill>
              </a:defRPr>
            </a:pPr>
            <a:r>
              <a:t>Production impact avoided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EA8A7"/>
                </a:solidFill>
              </a:defRPr>
            </a:pPr>
            <a:r>
              <a:t>Issues by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64008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277884"/>
                </a:solidFill>
              </a:defRPr>
            </a:pPr>
            <a:r>
              <a:t>[INSERT CHART HERE]</a:t>
            </a:r>
          </a:p>
          <a:p/>
          <a:p>
            <a:r>
              <a:t>Recommended: Bar chart or pie chart showing</a:t>
            </a:r>
          </a:p>
          <a:p>
            <a:r>
              <a:t>distribution of issues across control systems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EA8A7"/>
                </a:solidFill>
              </a:defRPr>
            </a:pPr>
            <a:r>
              <a:t>Success Stories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7680960" cy="1188720"/>
          </a:xfrm>
          <a:prstGeom prst="rect">
            <a:avLst/>
          </a:prstGeom>
          <a:solidFill>
            <a:srgbClr val="F4F6F6"/>
          </a:solidFill>
          <a:ln w="12700">
            <a:solidFill>
              <a:srgbClr val="277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77884"/>
                </a:solidFill>
              </a:defRPr>
            </a:pPr>
            <a:r>
              <a:t>Major Issue Resolved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C2833"/>
                </a:solidFill>
              </a:defRPr>
            </a:pPr>
            <a:r>
              <a:t>[Brief description of complex problem solved]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FE4447"/>
                </a:solidFill>
              </a:defRPr>
            </a:pPr>
            <a:r>
              <a:t>Impact: [Production saved, downtime avoided, cost savings]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7680960" cy="1188720"/>
          </a:xfrm>
          <a:prstGeom prst="rect">
            <a:avLst/>
          </a:prstGeom>
          <a:solidFill>
            <a:srgbClr val="F4F6F6"/>
          </a:solidFill>
          <a:ln w="12700">
            <a:solidFill>
              <a:srgbClr val="277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77884"/>
                </a:solidFill>
              </a:defRPr>
            </a:pPr>
            <a:r>
              <a:t>Cross-Site Collaboration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C2833"/>
                </a:solidFill>
              </a:defRPr>
            </a:pPr>
            <a:r>
              <a:t>[Example of multi-site coordination]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FE4447"/>
                </a:solidFill>
              </a:defRPr>
            </a:pPr>
            <a:r>
              <a:t>Impact: [Standardization achieved, best practices shared]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114800"/>
            <a:ext cx="7680960" cy="1188720"/>
          </a:xfrm>
          <a:prstGeom prst="rect">
            <a:avLst/>
          </a:prstGeom>
          <a:solidFill>
            <a:srgbClr val="F4F6F6"/>
          </a:solidFill>
          <a:ln w="12700">
            <a:solidFill>
              <a:srgbClr val="277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77884"/>
                </a:solidFill>
              </a:defRPr>
            </a:pPr>
            <a:r>
              <a:t>Training &amp; Knowledge Transfer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262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C2833"/>
                </a:solidFill>
              </a:defRPr>
            </a:pPr>
            <a:r>
              <a:t>[How you enabled others]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FE4447"/>
                </a:solidFill>
              </a:defRPr>
            </a:pPr>
            <a:r>
              <a:t>Impact: [Team capability improved, self-sufficiency increased]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EA8A7"/>
                </a:solidFill>
              </a:defRPr>
            </a:pPr>
            <a:r>
              <a:t>Recommendations</a:t>
            </a:r>
          </a:p>
        </p:txBody>
      </p:sp>
      <p:sp>
        <p:nvSpPr>
          <p:cNvPr id="3" name="Oval 2"/>
          <p:cNvSpPr/>
          <p:nvPr/>
        </p:nvSpPr>
        <p:spPr>
          <a:xfrm>
            <a:off x="914400" y="1645920"/>
            <a:ext cx="365760" cy="365760"/>
          </a:xfrm>
          <a:prstGeom prst="ellipse">
            <a:avLst/>
          </a:prstGeom>
          <a:solidFill>
            <a:srgbClr val="FE4447"/>
          </a:solidFill>
          <a:ln>
            <a:solidFill>
              <a:srgbClr val="FE4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4592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C2833"/>
                </a:solidFill>
              </a:defRPr>
            </a:pPr>
            <a:r>
              <a:t>Invest in [training/equipment/resources]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468880"/>
            <a:ext cx="365760" cy="365760"/>
          </a:xfrm>
          <a:prstGeom prst="ellipse">
            <a:avLst/>
          </a:prstGeom>
          <a:solidFill>
            <a:srgbClr val="FE4447"/>
          </a:solidFill>
          <a:ln>
            <a:solidFill>
              <a:srgbClr val="FE4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8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C2833"/>
                </a:solidFill>
              </a:defRPr>
            </a:pPr>
            <a:r>
              <a:t>Standardize [process/documentation]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291840"/>
            <a:ext cx="365760" cy="365760"/>
          </a:xfrm>
          <a:prstGeom prst="ellipse">
            <a:avLst/>
          </a:prstGeom>
          <a:solidFill>
            <a:srgbClr val="FE4447"/>
          </a:solidFill>
          <a:ln>
            <a:solidFill>
              <a:srgbClr val="FE4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29184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C2833"/>
                </a:solidFill>
              </a:defRPr>
            </a:pPr>
            <a:r>
              <a:t>Expand support to [new area/system]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14800"/>
            <a:ext cx="365760" cy="365760"/>
          </a:xfrm>
          <a:prstGeom prst="ellipse">
            <a:avLst/>
          </a:prstGeom>
          <a:solidFill>
            <a:srgbClr val="FE4447"/>
          </a:solidFill>
          <a:ln>
            <a:solidFill>
              <a:srgbClr val="FE4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11480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C2833"/>
                </a:solidFill>
              </a:defRPr>
            </a:pPr>
            <a:r>
              <a:t>Schedule regular [reviews/maintenance]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7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[Your Name] | [Email] | [Phone]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