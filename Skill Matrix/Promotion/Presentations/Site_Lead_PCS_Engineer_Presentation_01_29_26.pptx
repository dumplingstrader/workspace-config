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16"/>
  </p:notesMasterIdLst>
  <p:handoutMasterIdLst>
    <p:handoutMasterId r:id="rId17"/>
  </p:handout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71" r:id="rId12"/>
    <p:sldId id="272" r:id="rId13"/>
    <p:sldId id="273" r:id="rId14"/>
    <p:sldId id="274" r:id="rId1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D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8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2174" y="3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3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161" cy="464180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634" y="0"/>
            <a:ext cx="3038161" cy="464180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CD0FC2C1-F611-401D-8C5B-1D6F30C3AE89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0621"/>
            <a:ext cx="3038161" cy="464180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634" y="8830621"/>
            <a:ext cx="3038161" cy="464180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5643583C-0F35-46E1-89E8-EFF373A2F1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7" y="0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/>
          <a:lstStyle>
            <a:lvl1pPr algn="r">
              <a:defRPr sz="1200"/>
            </a:lvl1pPr>
          </a:lstStyle>
          <a:p>
            <a:fld id="{28EF6E50-4EC2-485E-B31B-479566D013C0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8" rIns="93177" bIns="4658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8" rIns="93177" bIns="4658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7" y="8829967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 anchor="b"/>
          <a:lstStyle>
            <a:lvl1pPr algn="r">
              <a:defRPr sz="1200"/>
            </a:lvl1pPr>
          </a:lstStyle>
          <a:p>
            <a:fld id="{76581CD3-594E-4BE0-AFC6-036CCE4C3ED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0"/>
          </p:nvPr>
        </p:nvSpPr>
        <p:spPr>
          <a:xfrm>
            <a:off x="381000" y="1219200"/>
            <a:ext cx="8458200" cy="4953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Line 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8200" cy="4572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381000" y="990600"/>
            <a:ext cx="8458200" cy="5181600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UB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381000" y="1219200"/>
            <a:ext cx="8448675" cy="4953000"/>
          </a:xfrm>
        </p:spPr>
        <p:txBody>
          <a:bodyPr/>
          <a:lstStyle>
            <a:lvl1pPr>
              <a:spcBef>
                <a:spcPts val="1500"/>
              </a:spcBef>
              <a:defRPr/>
            </a:lvl1pPr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ubtitle_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55283" y="2375535"/>
            <a:ext cx="8435975" cy="1114425"/>
          </a:xfrm>
        </p:spPr>
        <p:txBody>
          <a:bodyPr lIns="0" rIns="0" anchor="ctr"/>
          <a:lstStyle>
            <a:lvl1pPr algn="ctr"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44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5283" y="3803332"/>
            <a:ext cx="8435975" cy="276999"/>
          </a:xfrm>
        </p:spPr>
        <p:txBody>
          <a:bodyPr wrap="square" lIns="0" rIns="0">
            <a:spAutoFit/>
          </a:bodyPr>
          <a:lstStyle>
            <a:lvl1pPr marL="0" indent="0" algn="ctr">
              <a:spcBef>
                <a:spcPct val="20000"/>
              </a:spcBef>
              <a:buFont typeface="Wingdings" pitchFamily="2" charset="2"/>
              <a:buNone/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6" name="Rectangle 25"/>
          <p:cNvSpPr/>
          <p:nvPr userDrawn="1"/>
        </p:nvSpPr>
        <p:spPr bwMode="auto">
          <a:xfrm>
            <a:off x="3400" y="971314"/>
            <a:ext cx="9140600" cy="45720"/>
          </a:xfrm>
          <a:prstGeom prst="rect">
            <a:avLst/>
          </a:prstGeom>
          <a:solidFill>
            <a:srgbClr val="005DAA"/>
          </a:solidFill>
          <a:ln w="9525" cap="flat" cmpd="sng" algn="ctr">
            <a:solidFill>
              <a:srgbClr val="005DA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6C3F68-EB9D-48C6-8D87-6B0CB54EF691}"/>
              </a:ext>
            </a:extLst>
          </p:cNvPr>
          <p:cNvSpPr/>
          <p:nvPr userDrawn="1"/>
        </p:nvSpPr>
        <p:spPr bwMode="auto">
          <a:xfrm>
            <a:off x="3400" y="6748137"/>
            <a:ext cx="9140600" cy="45720"/>
          </a:xfrm>
          <a:prstGeom prst="rect">
            <a:avLst/>
          </a:prstGeom>
          <a:solidFill>
            <a:srgbClr val="005DAA"/>
          </a:solidFill>
          <a:ln w="9525" cap="flat" cmpd="sng" algn="ctr">
            <a:solidFill>
              <a:srgbClr val="005DA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5A81CA4E-C584-4FF5-AFC4-6114EE2FFE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39" y="315984"/>
            <a:ext cx="2755907" cy="4837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953000" y="663575"/>
            <a:ext cx="3868738" cy="1114425"/>
          </a:xfrm>
        </p:spPr>
        <p:txBody>
          <a:bodyPr lIns="0" rIns="0" anchor="ctr"/>
          <a:lstStyle>
            <a:lvl1pPr algn="r"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44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53000" y="1979612"/>
            <a:ext cx="3868738" cy="276999"/>
          </a:xfrm>
        </p:spPr>
        <p:txBody>
          <a:bodyPr wrap="square" lIns="0" rIns="0">
            <a:spAutoFit/>
          </a:bodyPr>
          <a:lstStyle>
            <a:lvl1pPr marL="0" indent="0" algn="r">
              <a:spcBef>
                <a:spcPct val="20000"/>
              </a:spcBef>
              <a:buFont typeface="Wingdings" pitchFamily="2" charset="2"/>
              <a:buNone/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075" name="AutoShape 3"/>
          <p:cNvSpPr>
            <a:spLocks noChangeAspect="1" noChangeArrowheads="1" noTextEdit="1"/>
          </p:cNvSpPr>
          <p:nvPr/>
        </p:nvSpPr>
        <p:spPr bwMode="auto">
          <a:xfrm>
            <a:off x="0" y="4762500"/>
            <a:ext cx="9153525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7" name="Freeform 5"/>
          <p:cNvSpPr>
            <a:spLocks/>
          </p:cNvSpPr>
          <p:nvPr/>
        </p:nvSpPr>
        <p:spPr bwMode="auto">
          <a:xfrm>
            <a:off x="0" y="4778375"/>
            <a:ext cx="9153525" cy="8477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70" y="0"/>
              </a:cxn>
              <a:cxn ang="0">
                <a:pos x="1570" y="534"/>
              </a:cxn>
              <a:cxn ang="0">
                <a:pos x="0" y="534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 w="1570" h="534">
                <a:moveTo>
                  <a:pt x="0" y="0"/>
                </a:moveTo>
                <a:lnTo>
                  <a:pt x="1570" y="0"/>
                </a:lnTo>
                <a:lnTo>
                  <a:pt x="1570" y="534"/>
                </a:lnTo>
                <a:lnTo>
                  <a:pt x="0" y="53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DAA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6" name="Freeform 14"/>
          <p:cNvSpPr>
            <a:spLocks/>
          </p:cNvSpPr>
          <p:nvPr/>
        </p:nvSpPr>
        <p:spPr bwMode="auto">
          <a:xfrm>
            <a:off x="0" y="5729288"/>
            <a:ext cx="9153525" cy="188913"/>
          </a:xfrm>
          <a:custGeom>
            <a:avLst/>
            <a:gdLst/>
            <a:ahLst/>
            <a:cxnLst>
              <a:cxn ang="0">
                <a:pos x="2" y="0"/>
              </a:cxn>
              <a:cxn ang="0">
                <a:pos x="5766" y="0"/>
              </a:cxn>
              <a:cxn ang="0">
                <a:pos x="5766" y="119"/>
              </a:cxn>
              <a:cxn ang="0">
                <a:pos x="0" y="119"/>
              </a:cxn>
              <a:cxn ang="0">
                <a:pos x="2" y="0"/>
              </a:cxn>
              <a:cxn ang="0">
                <a:pos x="2" y="0"/>
              </a:cxn>
            </a:cxnLst>
            <a:rect l="0" t="0" r="r" b="b"/>
            <a:pathLst>
              <a:path w="5766" h="119">
                <a:moveTo>
                  <a:pt x="2" y="0"/>
                </a:moveTo>
                <a:lnTo>
                  <a:pt x="5766" y="0"/>
                </a:lnTo>
                <a:lnTo>
                  <a:pt x="5766" y="119"/>
                </a:lnTo>
                <a:lnTo>
                  <a:pt x="0" y="119"/>
                </a:lnTo>
                <a:lnTo>
                  <a:pt x="2" y="0"/>
                </a:lnTo>
                <a:lnTo>
                  <a:pt x="2" y="0"/>
                </a:lnTo>
                <a:close/>
              </a:path>
            </a:pathLst>
          </a:custGeom>
          <a:solidFill>
            <a:srgbClr val="ED174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381000" y="381000"/>
            <a:ext cx="4191000" cy="41148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457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990600"/>
            <a:ext cx="4173537" cy="51816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1061" y="990600"/>
            <a:ext cx="4189413" cy="51816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457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200"/>
            <a:ext cx="4173537" cy="49530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1061" y="1219200"/>
            <a:ext cx="4189413" cy="49530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Content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457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200"/>
            <a:ext cx="4173537" cy="49530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99" y="228600"/>
            <a:ext cx="8458201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19200"/>
            <a:ext cx="4097337" cy="438150"/>
          </a:xfrm>
          <a:solidFill>
            <a:schemeClr val="tx2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>
            <a:lvl1pPr marL="0" indent="0" algn="ctr">
              <a:buNone/>
              <a:def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rtl="0" eaLnBrk="1" fontAlgn="base" hangingPunct="1">
              <a:spcBef>
                <a:spcPts val="24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752600"/>
            <a:ext cx="4098925" cy="44196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3137" y="1219200"/>
            <a:ext cx="4097338" cy="438150"/>
          </a:xfrm>
          <a:solidFill>
            <a:schemeClr val="tx2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anchor="ctr" anchorCtr="1">
            <a:norm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962" y="1752600"/>
            <a:ext cx="4100513" cy="44196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_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_KICKER_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6009640"/>
            <a:ext cx="8458200" cy="228600"/>
          </a:xfrm>
        </p:spPr>
        <p:txBody>
          <a:bodyPr>
            <a:normAutofit/>
          </a:bodyPr>
          <a:lstStyle>
            <a:lvl1pPr marL="403225" indent="-403225">
              <a:spcBef>
                <a:spcPts val="0"/>
              </a:spcBef>
              <a:buNone/>
              <a:tabLst>
                <a:tab pos="403225" algn="l"/>
              </a:tabLst>
              <a:defRPr sz="800" i="1" baseline="0"/>
            </a:lvl1pPr>
          </a:lstStyle>
          <a:p>
            <a:pPr lvl="0"/>
            <a:r>
              <a:rPr lang="en-US" dirty="0"/>
              <a:t>Source: 	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5628640"/>
            <a:ext cx="8458200" cy="381000"/>
          </a:xfrm>
        </p:spPr>
        <p:txBody>
          <a:bodyPr/>
          <a:lstStyle>
            <a:lvl1pPr algn="ctr">
              <a:spcBef>
                <a:spcPts val="0"/>
              </a:spcBef>
              <a:buNone/>
              <a:defRPr b="0" i="1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Kicker Text Box — for emphasis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381000" y="1219200"/>
            <a:ext cx="8458200" cy="4279392"/>
          </a:xfrm>
        </p:spPr>
        <p:txBody>
          <a:bodyPr/>
          <a:lstStyle>
            <a:lvl1pPr>
              <a:spcBef>
                <a:spcPts val="1500"/>
              </a:spcBef>
              <a:defRPr/>
            </a:lvl1pPr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_SOURC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380999" y="1219200"/>
            <a:ext cx="8458200" cy="4663440"/>
          </a:xfrm>
        </p:spPr>
        <p:txBody>
          <a:bodyPr/>
          <a:lstStyle>
            <a:lvl1pPr>
              <a:spcBef>
                <a:spcPts val="1500"/>
              </a:spcBef>
              <a:defRPr/>
            </a:lvl1pPr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6009640"/>
            <a:ext cx="8458200" cy="228600"/>
          </a:xfrm>
        </p:spPr>
        <p:txBody>
          <a:bodyPr>
            <a:normAutofit/>
          </a:bodyPr>
          <a:lstStyle>
            <a:lvl1pPr marL="403225" indent="-403225">
              <a:spcBef>
                <a:spcPts val="0"/>
              </a:spcBef>
              <a:buNone/>
              <a:tabLst>
                <a:tab pos="403225" algn="l"/>
              </a:tabLst>
              <a:defRPr sz="800" i="1" baseline="0"/>
            </a:lvl1pPr>
          </a:lstStyle>
          <a:p>
            <a:pPr lvl="0"/>
            <a:r>
              <a:rPr lang="en-US" dirty="0"/>
              <a:t>Source: 	</a:t>
            </a:r>
          </a:p>
        </p:txBody>
      </p:sp>
      <p:sp>
        <p:nvSpPr>
          <p:cNvPr id="12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rward Lookin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6"/>
          <p:cNvSpPr>
            <a:spLocks noGrp="1"/>
          </p:cNvSpPr>
          <p:nvPr>
            <p:ph sz="quarter" idx="10"/>
          </p:nvPr>
        </p:nvSpPr>
        <p:spPr>
          <a:xfrm>
            <a:off x="381000" y="990600"/>
            <a:ext cx="8382000" cy="3581400"/>
          </a:xfrm>
        </p:spPr>
        <p:txBody>
          <a:bodyPr>
            <a:normAutofit/>
          </a:bodyPr>
          <a:lstStyle>
            <a:lvl1pPr marL="0" indent="0" algn="just">
              <a:lnSpc>
                <a:spcPct val="125000"/>
              </a:lnSpc>
              <a:buFontTx/>
              <a:buNone/>
              <a:defRPr sz="11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1"/>
          </p:nvPr>
        </p:nvSpPr>
        <p:spPr>
          <a:xfrm>
            <a:off x="381000" y="4648200"/>
            <a:ext cx="8382000" cy="1572768"/>
          </a:xfrm>
        </p:spPr>
        <p:txBody>
          <a:bodyPr>
            <a:normAutofit/>
          </a:bodyPr>
          <a:lstStyle>
            <a:lvl1pPr marL="0" indent="0" algn="just">
              <a:lnSpc>
                <a:spcPct val="125000"/>
              </a:lnSpc>
              <a:buFontTx/>
              <a:buNone/>
              <a:defRPr sz="1000" i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7"/>
          <p:cNvSpPr>
            <a:spLocks/>
          </p:cNvSpPr>
          <p:nvPr/>
        </p:nvSpPr>
        <p:spPr bwMode="auto">
          <a:xfrm>
            <a:off x="1012978" y="6794524"/>
            <a:ext cx="7917958" cy="4571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044" y="0"/>
              </a:cxn>
              <a:cxn ang="0">
                <a:pos x="6044" y="140"/>
              </a:cxn>
              <a:cxn ang="0">
                <a:pos x="0" y="14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 w="6044" h="140">
                <a:moveTo>
                  <a:pt x="0" y="0"/>
                </a:moveTo>
                <a:lnTo>
                  <a:pt x="6044" y="0"/>
                </a:lnTo>
                <a:lnTo>
                  <a:pt x="6044" y="140"/>
                </a:lnTo>
                <a:lnTo>
                  <a:pt x="0" y="14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DAA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34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8458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34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19200"/>
            <a:ext cx="8458200" cy="495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EE64C3FB-D70A-4E15-94D2-5477D77E522B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454140"/>
            <a:ext cx="447797" cy="3396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96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9" r:id="rId14"/>
    <p:sldLayoutId id="2147483700" r:id="rId15"/>
    <p:sldLayoutId id="2147483701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1" baseline="0" dirty="0" smtClean="0">
          <a:solidFill>
            <a:schemeClr val="tx2"/>
          </a:solidFill>
          <a:effectLst/>
          <a:latin typeface="Tw Cen MT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ts val="18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lang="en-US" sz="2000" b="0" smtClean="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571500" indent="-182563" algn="l" rtl="0" eaLnBrk="1" fontAlgn="base" hangingPunct="1">
        <a:spcBef>
          <a:spcPts val="1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lang="en-US" sz="1800" b="0" smtClean="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857250" indent="-168275" algn="l" rtl="0" eaLnBrk="1" fontAlgn="base" hangingPunct="1">
        <a:spcBef>
          <a:spcPts val="3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lang="en-US" sz="1600" b="0" baseline="0" smtClean="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143000" indent="-114300" algn="l" rtl="0" eaLnBrk="1" fontAlgn="base" hangingPunct="1">
        <a:spcBef>
          <a:spcPts val="100"/>
        </a:spcBef>
        <a:spcAft>
          <a:spcPct val="0"/>
        </a:spcAft>
        <a:buClr>
          <a:schemeClr val="tx2"/>
        </a:buClr>
        <a:buSzPct val="80000"/>
        <a:buFont typeface="Arial" pitchFamily="34" charset="0"/>
        <a:buChar char="•"/>
        <a:defRPr lang="en-US" sz="1600" b="0" smtClean="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1314450" indent="-120650" algn="l" rtl="0" eaLnBrk="1" fontAlgn="base" hangingPunct="1">
        <a:spcBef>
          <a:spcPts val="0"/>
        </a:spcBef>
        <a:spcAft>
          <a:spcPct val="0"/>
        </a:spcAft>
        <a:buClr>
          <a:schemeClr val="tx2"/>
        </a:buClr>
        <a:buSzPct val="85000"/>
        <a:buFont typeface="Arial" pitchFamily="34" charset="0"/>
        <a:buChar char="–"/>
        <a:defRPr lang="en-US" sz="1400" b="0" dirty="0" smtClean="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27806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Char char="•"/>
        <a:defRPr sz="1600" b="1">
          <a:solidFill>
            <a:schemeClr val="tx1"/>
          </a:solidFill>
          <a:latin typeface="+mn-lt"/>
        </a:defRPr>
      </a:lvl6pPr>
      <a:lvl7pPr marL="273526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Char char="•"/>
        <a:defRPr sz="1600" b="1">
          <a:solidFill>
            <a:schemeClr val="tx1"/>
          </a:solidFill>
          <a:latin typeface="+mn-lt"/>
        </a:defRPr>
      </a:lvl7pPr>
      <a:lvl8pPr marL="319246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Char char="•"/>
        <a:defRPr sz="1600" b="1">
          <a:solidFill>
            <a:schemeClr val="tx1"/>
          </a:solidFill>
          <a:latin typeface="+mn-lt"/>
        </a:defRPr>
      </a:lvl8pPr>
      <a:lvl9pPr marL="364966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Char char="•"/>
        <a:defRPr sz="16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2037F141-7DA2-4F62-9D59-1E81F0ADC59F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355283" y="2591289"/>
            <a:ext cx="8435975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sz="4000" dirty="0"/>
              <a:t>Site Lead Process Controls Engineer</a:t>
            </a:r>
            <a:endParaRPr lang="en-US" sz="3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0D6BA-657E-4605-A24F-AFC1850FE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283" y="3803332"/>
            <a:ext cx="8435975" cy="941796"/>
          </a:xfrm>
        </p:spPr>
        <p:txBody>
          <a:bodyPr/>
          <a:lstStyle/>
          <a:p>
            <a:r>
              <a:rPr lang="en-US" dirty="0"/>
              <a:t>A Case for Readiness</a:t>
            </a:r>
          </a:p>
          <a:p>
            <a:r>
              <a:rPr lang="en-US" dirty="0"/>
              <a:t>Tony Chiu</a:t>
            </a:r>
          </a:p>
          <a:p>
            <a:r>
              <a:rPr lang="en-US" dirty="0"/>
              <a:t>Senior Process Controls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lang="en-US" sz="3200" dirty="0"/>
              <a:t>Today's Objective</a:t>
            </a:r>
            <a:endParaRPr sz="32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1388733"/>
            <a:ext cx="8229600" cy="389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dirty="0"/>
              <a:t>What I'm Asking For: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Your assessment of my readiness for Site Lead PCS Engineer role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Identification of any gaps you see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Guidance on next steps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What I'm NOT Asking For: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An immediate promotion decision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Special treatment or shortcuts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endParaRPr lang="en-US" dirty="0"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b="1" dirty="0"/>
              <a:t>My Goal</a:t>
            </a:r>
            <a:r>
              <a:rPr dirty="0"/>
              <a:t>: Earn your recommendation to move forward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lang="en-US" sz="3200" dirty="0"/>
              <a:t>How I Understand the Site Lead PCS Role</a:t>
            </a:r>
            <a:endParaRPr sz="32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1188720"/>
            <a:ext cx="8366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dirty="0"/>
              <a:t>Based on MPC's expectations, a Site Lead PCS Engineer: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1. Technical Authority: Multi-site platform ownership, escalation point for critical systems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2. Corporate Influence: Shapes enterprise standards, represents site at corporate level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3. Business Leadership: Owns budgets, vendor relationships, strategic planning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4. Crisis Management: Leads high-complexity technical problem-solving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5. Talent Development: Mentors team, builds capability for the future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6. Cross-Functional Leadership: Aligns Operations, Engineering, IT, Safety, Finance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Question for you: Does this align with how you see the role?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lang="en-US" sz="3200" dirty="0"/>
              <a:t>The Reality-I'm Already Performing at This Level</a:t>
            </a:r>
            <a:endParaRPr sz="32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1188720"/>
            <a:ext cx="8366760" cy="369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dirty="0"/>
              <a:t>Over the past 18-24 months, my scope has expanded significantly: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Multi-site technical authority (5 sites: Carson, Wilmington, SLC, Detroit, Anacortes)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Corporate alarm governance (Tiger Team contributor)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Platform ownership (Integrity x2, DynAMo x5, Mark </a:t>
            </a:r>
            <a:r>
              <a:rPr dirty="0" err="1"/>
              <a:t>VIe</a:t>
            </a:r>
            <a:r>
              <a:rPr dirty="0"/>
              <a:t>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Budget/vendor leadership ($2M+ annual, multi-year planning)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Training programs (Python, SIS, PLC - 200+ hours)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Crisis leadership (LARINT01 rebuild, Mark </a:t>
            </a:r>
            <a:r>
              <a:rPr dirty="0" err="1"/>
              <a:t>VIe</a:t>
            </a:r>
            <a:r>
              <a:rPr dirty="0"/>
              <a:t> restoration)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Infrastructure modernization (6+ major projects)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I'm not asking to grow into this role-I'm asking for recognition of the work I'm already doing.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lang="en-US" sz="2400" dirty="0"/>
              <a:t>Evidence #1: LARINT01 Integrity Platform Ownership</a:t>
            </a:r>
            <a:endParaRPr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1188720"/>
            <a:ext cx="8366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dirty="0"/>
              <a:t>My Role: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Led TWO Integrity platforms (LARRS772 + LARINT01)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LARINT01: Reference for MPC's 13-refinery fleet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Rebuilt pipelines, corrected asset mapping, backups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The Impact: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Carson = enterprise model</a:t>
            </a:r>
            <a:r>
              <a:rPr lang="en-US" dirty="0"/>
              <a:t> for reapplication and best practices</a:t>
            </a:r>
            <a:endParaRPr dirty="0"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99%+ uptime, audit-ready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$150K+ cost avoidance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Leadership: Corporate initiative | Multi-site | Standards | Recovery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lang="en-US" sz="2400" dirty="0"/>
              <a:t>Evidence #2: Corporate Alarm Governance Leadership</a:t>
            </a:r>
            <a:endParaRPr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1188720"/>
            <a:ext cx="8366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t>My Contributions: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Active Tiger Team - fixes adopted at multiple sites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Multi-Site DynAMo SME (5 sites)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PI-based alarm metrics dashboards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30-50% alarm reduction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t>The Impact: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Consistent alarm governance across MPC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Shaped enterprise standards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Leadership: Corporate influence | Multi-site | Standards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lang="fr-FR" sz="2400" dirty="0"/>
              <a:t>Evidence #3: GE Mark VIe Crisis Resolution</a:t>
            </a:r>
            <a:endParaRPr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1188720"/>
            <a:ext cx="8366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t>The Challenge: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GTG chronic unreliability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Lost Mark VIe expertise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t>My Role: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Led GTG troubleshooting, training program, vendor relations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t>The Impact: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Zero unplanned trips post-resolution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Built internal capability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Leadership: Problem solving | Vendor mgmt | Risk mitigation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lang="en-US" sz="2400" dirty="0"/>
              <a:t>Evidence #4: Budget &amp; Vendor Strategy Ownership</a:t>
            </a:r>
            <a:endParaRPr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667222"/>
            <a:ext cx="8366760" cy="4788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dirty="0"/>
              <a:t>A Site Lead is responsible for business and financial leadership.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In 2024-2025, I managed: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2025-2029 PCG budget</a:t>
            </a:r>
            <a:r>
              <a:rPr lang="en-US" dirty="0"/>
              <a:t>, </a:t>
            </a:r>
            <a:r>
              <a:rPr dirty="0"/>
              <a:t>Honeywell multi-year license renewals</a:t>
            </a:r>
            <a:r>
              <a:rPr lang="en-US" dirty="0"/>
              <a:t>, </a:t>
            </a:r>
            <a:r>
              <a:rPr dirty="0"/>
              <a:t>Schneider CFA contract</a:t>
            </a:r>
            <a:r>
              <a:rPr lang="en-US" dirty="0"/>
              <a:t>, </a:t>
            </a:r>
            <a:r>
              <a:rPr dirty="0"/>
              <a:t>GE cycle renewals and spares strategy</a:t>
            </a:r>
            <a:r>
              <a:rPr lang="en-US" dirty="0"/>
              <a:t>, </a:t>
            </a:r>
            <a:r>
              <a:rPr dirty="0" err="1"/>
              <a:t>Prognost</a:t>
            </a:r>
            <a:r>
              <a:rPr dirty="0"/>
              <a:t> and Trimark service contracts</a:t>
            </a:r>
            <a:r>
              <a:rPr lang="en-US" dirty="0"/>
              <a:t>, </a:t>
            </a:r>
            <a:r>
              <a:rPr dirty="0"/>
              <a:t>Multi-vendor POs, BPOs, and GRs</a:t>
            </a:r>
            <a:r>
              <a:rPr lang="en-US" dirty="0"/>
              <a:t>, </a:t>
            </a:r>
            <a:r>
              <a:rPr dirty="0"/>
              <a:t>PR process optimization with Supply Chain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The Impact: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Result: Zero licensing lapses, clearer spend forecasting, and stronger vendor accountability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This financial ownership is a hallmark of the Site Lead PCS role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Leadership Demonstrated: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Business acumen and financial responsibility | Strategic planning (multi-year horizon) | Vendor relationship ownership | Cross-functional coordination (Finance, Supply Chain, Engineering)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lang="en-US" sz="2400" dirty="0"/>
              <a:t>Evidence #5: Talent Development &amp; Knowledge Transfer</a:t>
            </a:r>
            <a:endParaRPr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717228"/>
            <a:ext cx="8366760" cy="564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dirty="0"/>
              <a:t>I provide structured development for new and existing team members-another Site Lead PCS expectation.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Key contributions: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Onboarded new hires (ACM, DynAMo, Integrity, conditional alarming, point deletion)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Delivered Python training, PLC5/SLC500, SIS courses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Provided 1:1 mentoring for engineers and technicians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Created reusable troubleshooting guides and lab environments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The Impact: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Result: Faster engineer ramp-up, stronger internal talent pipeline, and higher overall controls capability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Leadership Demonstrated: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Investment in team's future capability | Knowledge preservation (prevents tribal knowledge loss) | Strategic thinking (building pipeline, not just solving today's problems)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lang="en-US" sz="3200" dirty="0"/>
              <a:t>Stakeholder Validation </a:t>
            </a:r>
            <a:endParaRPr sz="32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838673"/>
            <a:ext cx="3895058" cy="584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sz="1200" dirty="0"/>
              <a:t>Area Engineers (PCEs):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sz="1200" dirty="0"/>
              <a:t>Alarm accuracy ops trusts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sz="1200" dirty="0"/>
              <a:t>Integrity: TAR data ready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sz="1200" dirty="0"/>
              <a:t>Boundary troubleshooting first-call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sz="1200" dirty="0"/>
              <a:t>Systems Group: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sz="1200" dirty="0"/>
              <a:t>Reliability driver: monitoring, automation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sz="1200" dirty="0"/>
              <a:t>Spares/procurement owner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sz="1200" dirty="0"/>
              <a:t>Knowledge repository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sz="1200" dirty="0"/>
              <a:t>Team Culture: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sz="1200" dirty="0"/>
              <a:t>Morale booster: workspace improvements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sz="1200" dirty="0"/>
              <a:t>Quality of life resources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sz="1200" dirty="0"/>
              <a:t>Makes people want to stay</a:t>
            </a:r>
            <a:endParaRPr lang="en-US" sz="1200" dirty="0"/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lang="en-US" sz="1200" dirty="0"/>
              <a:t>Operations: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Parts readiness for troubleshooting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Systems just work daily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76FD50-EE99-DC83-2D62-2C16146964EA}"/>
              </a:ext>
            </a:extLst>
          </p:cNvPr>
          <p:cNvSpPr txBox="1"/>
          <p:nvPr/>
        </p:nvSpPr>
        <p:spPr>
          <a:xfrm>
            <a:off x="4379786" y="838672"/>
            <a:ext cx="3895058" cy="4614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800" b="1"/>
            </a:pPr>
            <a:r>
              <a:rPr lang="en-US" sz="1200" dirty="0"/>
              <a:t>Initiatives/Projects: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Obsolescence: multi-platform view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Integrity: project resource enabler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Controls historian: institutional knowledge</a:t>
            </a: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lang="en-US" sz="1200" dirty="0"/>
              <a:t>Corporate/Enterprise: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Alarm management: fleet-wide benchmark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DynAMo: deployment standard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HUG presenter: industry whitepapers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IC F2F: company-wide innovation</a:t>
            </a: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lang="en-US" sz="1200" dirty="0"/>
              <a:t>Leadership: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Budget, risk, audit readiness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Talent retention and development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Corporate credibility (Tiger Team)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  <a:defRPr sz="1800" b="1"/>
            </a:pPr>
            <a:r>
              <a:rPr sz="2800" b="1"/>
              <a:t>What I Bring to the Lead Role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667220"/>
            <a:ext cx="8366760" cy="5917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dirty="0"/>
              <a:t>Technical: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DCS, SIS, alarm, APC, OT security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Crisis leadership, 8+ platforms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Business: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$2M+ budget, vendor negotiation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Leadership: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Tiger Team, multi-site SME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Cross-functional (Ops/Safety/IT/Finance)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Talent development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HUG presenter, PCE panels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Strategic: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Multi-year planning (2025-2029)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6+ modernization projects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  <a:defRPr sz="1800" b="1"/>
            </a:pPr>
            <a:r>
              <a:rPr sz="2800" b="1"/>
              <a:t>Addressing the "But..."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1188720"/>
            <a:ext cx="8366760" cy="3814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u="sng" dirty="0"/>
              <a:t>"Role is new-still defining"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&gt; I can help shape it based on current work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800" b="1"/>
            </a:pPr>
            <a:r>
              <a:rPr b="1" u="sng" dirty="0"/>
              <a:t>"Need corporate visibility"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&gt; Tiger Team + 3 sites + HUG. Where are gaps?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u="sng" dirty="0"/>
              <a:t>"</a:t>
            </a:r>
            <a:r>
              <a:rPr b="1" u="sng" dirty="0"/>
              <a:t>Not Senior long enough"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&gt; 18-24 months at Lead level. Tenure target?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800" b="1"/>
            </a:pPr>
            <a:r>
              <a:rPr b="1" u="sng" dirty="0"/>
              <a:t>"Need PCG alignment"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&gt; Agreed. Direct or you frame first?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b="1" u="sng" dirty="0"/>
              <a:t>My Ask</a:t>
            </a:r>
            <a:r>
              <a:rPr b="1" dirty="0"/>
              <a:t>: </a:t>
            </a:r>
            <a:r>
              <a:rPr dirty="0"/>
              <a:t>Make gaps specific and addressable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  <a:defRPr sz="1800" b="1"/>
            </a:pPr>
            <a:r>
              <a:rPr sz="2800" b="1"/>
              <a:t>The Path Forward-What I Need from You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1188720"/>
            <a:ext cx="8366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dirty="0"/>
              <a:t>1. Assessment: Where do I stand vs Site Lead?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2. Gaps: Technical? Corporate? Leadership?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3. Path Forward: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A: Development plan + timeline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B: PCG Technologist discussion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C: Recommend to Chris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I Commit To: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Execute development plan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Continue Lead-level delivery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Open to feedback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  <a:defRPr sz="1800" b="1"/>
            </a:pPr>
            <a:r>
              <a:rPr sz="2800" b="1"/>
              <a:t>The Bottom 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1188720"/>
            <a:ext cx="8366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t>Not asking for a new role.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Not asking to grow into it.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Asking for recognition of current leadership.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"Senior PCS Engineer" no longer reflects my work.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t>Formalizing Site Lead would: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Enable clearer authority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Strengthen vendor/cross-site relationships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Support succession planning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Align responsibilities with recognition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Thank you. Ready for feedback and next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ard MPCorporation Template">
  <a:themeElements>
    <a:clrScheme name="MOC_Colors_2010A">
      <a:dk1>
        <a:srgbClr val="000000"/>
      </a:dk1>
      <a:lt1>
        <a:srgbClr val="FFFFFF"/>
      </a:lt1>
      <a:dk2>
        <a:srgbClr val="0060AE"/>
      </a:dk2>
      <a:lt2>
        <a:srgbClr val="FFCC00"/>
      </a:lt2>
      <a:accent1>
        <a:srgbClr val="ED174F"/>
      </a:accent1>
      <a:accent2>
        <a:srgbClr val="FFFF66"/>
      </a:accent2>
      <a:accent3>
        <a:srgbClr val="9933FF"/>
      </a:accent3>
      <a:accent4>
        <a:srgbClr val="33CC33"/>
      </a:accent4>
      <a:accent5>
        <a:srgbClr val="6699FF"/>
      </a:accent5>
      <a:accent6>
        <a:srgbClr val="FF9933"/>
      </a:accent6>
      <a:hlink>
        <a:srgbClr val="00307F"/>
      </a:hlink>
      <a:folHlink>
        <a:srgbClr val="4C90FF"/>
      </a:folHlink>
    </a:clrScheme>
    <a:fontScheme name="MOC_Fonts_2010A">
      <a:majorFont>
        <a:latin typeface="Tw Cen MT"/>
        <a:ea typeface=""/>
        <a:cs typeface=""/>
      </a:majorFont>
      <a:minorFont>
        <a:latin typeface="Calibri"/>
        <a:ea typeface="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rtlCol="0" anchor="ctr" anchorCtr="0" compatLnSpc="1">
        <a:prstTxWarp prst="textNoShape">
          <a:avLst/>
        </a:prstTxWarp>
      </a:bodyPr>
      <a:lstStyle>
        <a:defPPr algn="ctr">
          <a:defRPr sz="1600" dirty="0" smtClean="0">
            <a:solidFill>
              <a:schemeClr val="bg1"/>
            </a:solidFill>
            <a:latin typeface="+mn-lt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17a241b2-6b05-453b-98eb-ec32a0b91c8d}" enabled="1" method="Privileged" siteId="{1640f4ce-86c6-44f2-a477-06bd39617e9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Board MPCorporation Template</Template>
  <TotalTime>129</TotalTime>
  <Words>1114</Words>
  <Application>Microsoft Office PowerPoint</Application>
  <PresentationFormat>On-screen Show (4:3)</PresentationFormat>
  <Paragraphs>171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Tw Cen MT</vt:lpstr>
      <vt:lpstr>Wingdings</vt:lpstr>
      <vt:lpstr>Board MPCorporation Template</vt:lpstr>
      <vt:lpstr>Site Lead Process Controls Engineer</vt:lpstr>
      <vt:lpstr>Today's Objective</vt:lpstr>
      <vt:lpstr>How I Understand the Site Lead PCS Role</vt:lpstr>
      <vt:lpstr>The Reality-I'm Already Performing at This Level</vt:lpstr>
      <vt:lpstr>Evidence #1: LARINT01 Integrity Platform Ownership</vt:lpstr>
      <vt:lpstr>Evidence #2: Corporate Alarm Governance Leadership</vt:lpstr>
      <vt:lpstr>Evidence #3: GE Mark VIe Crisis Resolution</vt:lpstr>
      <vt:lpstr>Evidence #4: Budget &amp; Vendor Strategy Ownership</vt:lpstr>
      <vt:lpstr>Evidence #5: Talent Development &amp; Knowledge Transfer</vt:lpstr>
      <vt:lpstr>Stakeholder Validation </vt:lpstr>
      <vt:lpstr>What I Bring to the Lead Role</vt:lpstr>
      <vt:lpstr>Addressing the "But..."</vt:lpstr>
      <vt:lpstr>The Path Forward-What I Need from You</vt:lpstr>
      <vt:lpstr>The Bottom Line</vt:lpstr>
    </vt:vector>
  </TitlesOfParts>
  <Company>Marathon Oil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John Gauss</dc:creator>
  <cp:lastModifiedBy>Chiu, Tony</cp:lastModifiedBy>
  <cp:revision>47</cp:revision>
  <cp:lastPrinted>2020-06-29T14:28:52Z</cp:lastPrinted>
  <dcterms:created xsi:type="dcterms:W3CDTF">2013-04-02T20:06:37Z</dcterms:created>
  <dcterms:modified xsi:type="dcterms:W3CDTF">2026-01-29T13:40:41Z</dcterms:modified>
</cp:coreProperties>
</file>