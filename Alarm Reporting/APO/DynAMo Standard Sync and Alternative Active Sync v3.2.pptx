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Lst>
  <p:notesMasterIdLst>
    <p:notesMasterId r:id="rId82"/>
  </p:notesMasterIdLst>
  <p:handoutMasterIdLst>
    <p:handoutMasterId r:id="rId83"/>
  </p:handoutMasterIdLst>
  <p:sldIdLst>
    <p:sldId id="287" r:id="rId5"/>
    <p:sldId id="1884" r:id="rId6"/>
    <p:sldId id="1885" r:id="rId7"/>
    <p:sldId id="1806" r:id="rId8"/>
    <p:sldId id="1908" r:id="rId9"/>
    <p:sldId id="1876" r:id="rId10"/>
    <p:sldId id="1909" r:id="rId11"/>
    <p:sldId id="1878" r:id="rId12"/>
    <p:sldId id="1925" r:id="rId13"/>
    <p:sldId id="1902" r:id="rId14"/>
    <p:sldId id="1903" r:id="rId15"/>
    <p:sldId id="1904" r:id="rId16"/>
    <p:sldId id="1899" r:id="rId17"/>
    <p:sldId id="1873" r:id="rId18"/>
    <p:sldId id="408" r:id="rId19"/>
    <p:sldId id="1824" r:id="rId20"/>
    <p:sldId id="1907" r:id="rId21"/>
    <p:sldId id="361" r:id="rId22"/>
    <p:sldId id="1888" r:id="rId23"/>
    <p:sldId id="1920" r:id="rId24"/>
    <p:sldId id="1799" r:id="rId25"/>
    <p:sldId id="1887" r:id="rId26"/>
    <p:sldId id="1919" r:id="rId27"/>
    <p:sldId id="1890" r:id="rId28"/>
    <p:sldId id="1929" r:id="rId29"/>
    <p:sldId id="1921" r:id="rId30"/>
    <p:sldId id="409" r:id="rId31"/>
    <p:sldId id="1863" r:id="rId32"/>
    <p:sldId id="1923" r:id="rId33"/>
    <p:sldId id="1934" r:id="rId34"/>
    <p:sldId id="1886" r:id="rId35"/>
    <p:sldId id="1924" r:id="rId36"/>
    <p:sldId id="1839" r:id="rId37"/>
    <p:sldId id="415" r:id="rId38"/>
    <p:sldId id="1922" r:id="rId39"/>
    <p:sldId id="1905" r:id="rId40"/>
    <p:sldId id="1881" r:id="rId41"/>
    <p:sldId id="1880" r:id="rId42"/>
    <p:sldId id="1932" r:id="rId43"/>
    <p:sldId id="1891" r:id="rId44"/>
    <p:sldId id="1892" r:id="rId45"/>
    <p:sldId id="1894" r:id="rId46"/>
    <p:sldId id="1930" r:id="rId47"/>
    <p:sldId id="1926" r:id="rId48"/>
    <p:sldId id="1906" r:id="rId49"/>
    <p:sldId id="1927" r:id="rId50"/>
    <p:sldId id="1928" r:id="rId51"/>
    <p:sldId id="1900" r:id="rId52"/>
    <p:sldId id="1896" r:id="rId53"/>
    <p:sldId id="1914" r:id="rId54"/>
    <p:sldId id="1113" r:id="rId55"/>
    <p:sldId id="1895" r:id="rId56"/>
    <p:sldId id="1931" r:id="rId57"/>
    <p:sldId id="1916" r:id="rId58"/>
    <p:sldId id="1901" r:id="rId59"/>
    <p:sldId id="1810" r:id="rId60"/>
    <p:sldId id="1933" r:id="rId61"/>
    <p:sldId id="1910" r:id="rId62"/>
    <p:sldId id="1877" r:id="rId63"/>
    <p:sldId id="1911" r:id="rId64"/>
    <p:sldId id="1912" r:id="rId65"/>
    <p:sldId id="1879" r:id="rId66"/>
    <p:sldId id="345" r:id="rId67"/>
    <p:sldId id="347" r:id="rId68"/>
    <p:sldId id="328" r:id="rId69"/>
    <p:sldId id="1936" r:id="rId70"/>
    <p:sldId id="352" r:id="rId71"/>
    <p:sldId id="348" r:id="rId72"/>
    <p:sldId id="1915" r:id="rId73"/>
    <p:sldId id="343" r:id="rId74"/>
    <p:sldId id="349" r:id="rId75"/>
    <p:sldId id="339" r:id="rId76"/>
    <p:sldId id="342" r:id="rId77"/>
    <p:sldId id="350" r:id="rId78"/>
    <p:sldId id="1935" r:id="rId79"/>
    <p:sldId id="321" r:id="rId80"/>
    <p:sldId id="1918" r:id="rId81"/>
  </p:sldIdLst>
  <p:sldSz cx="9144000" cy="6858000" type="screen4x3"/>
  <p:notesSz cx="7023100" cy="93091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008E40"/>
    <a:srgbClr val="EDEDED"/>
    <a:srgbClr val="00F26D"/>
    <a:srgbClr val="9A9AE6"/>
    <a:srgbClr val="E1E1F7"/>
    <a:srgbClr val="FADCDA"/>
    <a:srgbClr val="93FFC4"/>
    <a:srgbClr val="C1B621"/>
    <a:srgbClr val="E5DC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5006" autoAdjust="0"/>
  </p:normalViewPr>
  <p:slideViewPr>
    <p:cSldViewPr>
      <p:cViewPr varScale="1">
        <p:scale>
          <a:sx n="78" d="100"/>
          <a:sy n="78" d="100"/>
        </p:scale>
        <p:origin x="1555" y="197"/>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379"/>
    </p:cViewPr>
  </p:sorterViewPr>
  <p:notesViewPr>
    <p:cSldViewPr>
      <p:cViewPr varScale="1">
        <p:scale>
          <a:sx n="64" d="100"/>
          <a:sy n="64" d="100"/>
        </p:scale>
        <p:origin x="3158" y="86"/>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42722"/>
            <a:ext cx="3043649" cy="466378"/>
          </a:xfrm>
          <a:prstGeom prst="rect">
            <a:avLst/>
          </a:prstGeom>
        </p:spPr>
        <p:txBody>
          <a:bodyPr vert="horz" lIns="88274" tIns="44137" rIns="88274" bIns="4413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7929" y="8842722"/>
            <a:ext cx="3043649" cy="466378"/>
          </a:xfrm>
          <a:prstGeom prst="rect">
            <a:avLst/>
          </a:prstGeom>
        </p:spPr>
        <p:txBody>
          <a:bodyPr vert="horz" lIns="88274" tIns="44137" rIns="88274" bIns="44137" rtlCol="0" anchor="b"/>
          <a:lstStyle>
            <a:lvl1pPr algn="r">
              <a:defRPr sz="1200"/>
            </a:lvl1pPr>
          </a:lstStyle>
          <a:p>
            <a:fld id="{1A06145A-15DD-4E4E-955E-F9C27DA2334A}" type="slidenum">
              <a:rPr lang="en-US" smtClean="0"/>
              <a:pPr/>
              <a:t>‹#›</a:t>
            </a:fld>
            <a:endParaRPr lang="en-US" dirty="0"/>
          </a:p>
        </p:txBody>
      </p:sp>
      <p:sp>
        <p:nvSpPr>
          <p:cNvPr id="6" name="Header Placeholder 5"/>
          <p:cNvSpPr>
            <a:spLocks noGrp="1"/>
          </p:cNvSpPr>
          <p:nvPr>
            <p:ph type="hdr" sz="quarter"/>
          </p:nvPr>
        </p:nvSpPr>
        <p:spPr>
          <a:xfrm>
            <a:off x="0" y="0"/>
            <a:ext cx="3043238" cy="466725"/>
          </a:xfrm>
          <a:prstGeom prst="rect">
            <a:avLst/>
          </a:prstGeom>
        </p:spPr>
        <p:txBody>
          <a:bodyPr vert="horz" lIns="91438" tIns="45719" rIns="91438" bIns="45719" rtlCol="0"/>
          <a:lstStyle>
            <a:lvl1pPr algn="l">
              <a:defRPr sz="1200"/>
            </a:lvl1pPr>
          </a:lstStyle>
          <a:p>
            <a:r>
              <a:rPr lang="en-US" dirty="0"/>
              <a:t>Introduction</a:t>
            </a:r>
          </a:p>
        </p:txBody>
      </p:sp>
    </p:spTree>
    <p:extLst>
      <p:ext uri="{BB962C8B-B14F-4D97-AF65-F5344CB8AC3E}">
        <p14:creationId xmlns:p14="http://schemas.microsoft.com/office/powerpoint/2010/main" val="2994881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1"/>
            <a:ext cx="3043649" cy="464839"/>
          </a:xfrm>
          <a:prstGeom prst="rect">
            <a:avLst/>
          </a:prstGeom>
          <a:noFill/>
          <a:ln w="9525">
            <a:noFill/>
            <a:miter lim="800000"/>
            <a:headEnd/>
            <a:tailEnd/>
          </a:ln>
          <a:effectLst/>
        </p:spPr>
        <p:txBody>
          <a:bodyPr vert="horz" wrap="square" lIns="88274" tIns="44137" rIns="88274" bIns="44137" numCol="1" anchor="t" anchorCtr="0" compatLnSpc="1">
            <a:prstTxWarp prst="textNoShape">
              <a:avLst/>
            </a:prstTxWarp>
          </a:bodyPr>
          <a:lstStyle>
            <a:lvl1pPr>
              <a:defRPr sz="1200"/>
            </a:lvl1pPr>
          </a:lstStyle>
          <a:p>
            <a:pPr>
              <a:defRPr/>
            </a:pPr>
            <a:endParaRPr lang="en-US" dirty="0"/>
          </a:p>
        </p:txBody>
      </p:sp>
      <p:sp>
        <p:nvSpPr>
          <p:cNvPr id="76803" name="Rectangle 3"/>
          <p:cNvSpPr>
            <a:spLocks noGrp="1" noChangeArrowheads="1"/>
          </p:cNvSpPr>
          <p:nvPr>
            <p:ph type="dt" idx="1"/>
          </p:nvPr>
        </p:nvSpPr>
        <p:spPr bwMode="auto">
          <a:xfrm>
            <a:off x="3977929" y="1"/>
            <a:ext cx="3043649" cy="464839"/>
          </a:xfrm>
          <a:prstGeom prst="rect">
            <a:avLst/>
          </a:prstGeom>
          <a:noFill/>
          <a:ln w="9525">
            <a:noFill/>
            <a:miter lim="800000"/>
            <a:headEnd/>
            <a:tailEnd/>
          </a:ln>
          <a:effectLst/>
        </p:spPr>
        <p:txBody>
          <a:bodyPr vert="horz" wrap="square" lIns="88274" tIns="44137" rIns="88274" bIns="44137" numCol="1" anchor="t" anchorCtr="0" compatLnSpc="1">
            <a:prstTxWarp prst="textNoShape">
              <a:avLst/>
            </a:prstTxWarp>
          </a:bodyPr>
          <a:lstStyle>
            <a:lvl1pPr algn="r">
              <a:defRPr sz="1200"/>
            </a:lvl1pPr>
          </a:lstStyle>
          <a:p>
            <a:pPr>
              <a:defRPr/>
            </a:pPr>
            <a:endParaRPr lang="en-US" dirty="0"/>
          </a:p>
        </p:txBody>
      </p:sp>
      <p:sp>
        <p:nvSpPr>
          <p:cNvPr id="34820"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p:spPr>
      </p:sp>
      <p:sp>
        <p:nvSpPr>
          <p:cNvPr id="76805" name="Rectangle 5"/>
          <p:cNvSpPr>
            <a:spLocks noGrp="1" noChangeArrowheads="1"/>
          </p:cNvSpPr>
          <p:nvPr>
            <p:ph type="body" sz="quarter" idx="3"/>
          </p:nvPr>
        </p:nvSpPr>
        <p:spPr bwMode="auto">
          <a:xfrm>
            <a:off x="702616" y="4422132"/>
            <a:ext cx="5617870" cy="4188171"/>
          </a:xfrm>
          <a:prstGeom prst="rect">
            <a:avLst/>
          </a:prstGeom>
          <a:noFill/>
          <a:ln w="9525">
            <a:noFill/>
            <a:miter lim="800000"/>
            <a:headEnd/>
            <a:tailEnd/>
          </a:ln>
          <a:effectLst/>
        </p:spPr>
        <p:txBody>
          <a:bodyPr vert="horz" wrap="square" lIns="88274" tIns="44137" rIns="88274" bIns="4413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6806" name="Rectangle 6"/>
          <p:cNvSpPr>
            <a:spLocks noGrp="1" noChangeArrowheads="1"/>
          </p:cNvSpPr>
          <p:nvPr>
            <p:ph type="ftr" sz="quarter" idx="4"/>
          </p:nvPr>
        </p:nvSpPr>
        <p:spPr bwMode="auto">
          <a:xfrm>
            <a:off x="0" y="8842723"/>
            <a:ext cx="3043649" cy="464839"/>
          </a:xfrm>
          <a:prstGeom prst="rect">
            <a:avLst/>
          </a:prstGeom>
          <a:noFill/>
          <a:ln w="9525">
            <a:noFill/>
            <a:miter lim="800000"/>
            <a:headEnd/>
            <a:tailEnd/>
          </a:ln>
          <a:effectLst/>
        </p:spPr>
        <p:txBody>
          <a:bodyPr vert="horz" wrap="square" lIns="88274" tIns="44137" rIns="88274" bIns="44137" numCol="1" anchor="b" anchorCtr="0" compatLnSpc="1">
            <a:prstTxWarp prst="textNoShape">
              <a:avLst/>
            </a:prstTxWarp>
          </a:bodyPr>
          <a:lstStyle>
            <a:lvl1pPr>
              <a:defRPr sz="1200"/>
            </a:lvl1pPr>
          </a:lstStyle>
          <a:p>
            <a:pPr>
              <a:defRPr/>
            </a:pPr>
            <a:endParaRPr lang="en-US" dirty="0"/>
          </a:p>
        </p:txBody>
      </p:sp>
      <p:sp>
        <p:nvSpPr>
          <p:cNvPr id="76807" name="Rectangle 7"/>
          <p:cNvSpPr>
            <a:spLocks noGrp="1" noChangeArrowheads="1"/>
          </p:cNvSpPr>
          <p:nvPr>
            <p:ph type="sldNum" sz="quarter" idx="5"/>
          </p:nvPr>
        </p:nvSpPr>
        <p:spPr bwMode="auto">
          <a:xfrm>
            <a:off x="3977929" y="8842723"/>
            <a:ext cx="3043649" cy="464839"/>
          </a:xfrm>
          <a:prstGeom prst="rect">
            <a:avLst/>
          </a:prstGeom>
          <a:noFill/>
          <a:ln w="9525">
            <a:noFill/>
            <a:miter lim="800000"/>
            <a:headEnd/>
            <a:tailEnd/>
          </a:ln>
          <a:effectLst/>
        </p:spPr>
        <p:txBody>
          <a:bodyPr vert="horz" wrap="square" lIns="88274" tIns="44137" rIns="88274" bIns="44137" numCol="1" anchor="b" anchorCtr="0" compatLnSpc="1">
            <a:prstTxWarp prst="textNoShape">
              <a:avLst/>
            </a:prstTxWarp>
          </a:bodyPr>
          <a:lstStyle>
            <a:lvl1pPr algn="r">
              <a:defRPr sz="1200"/>
            </a:lvl1pPr>
          </a:lstStyle>
          <a:p>
            <a:pPr>
              <a:defRPr/>
            </a:pPr>
            <a:fld id="{2C0987A0-168C-4296-B7CD-5BE897E26686}" type="slidenum">
              <a:rPr lang="en-US"/>
              <a:pPr>
                <a:defRPr/>
              </a:pPr>
              <a:t>‹#›</a:t>
            </a:fld>
            <a:endParaRPr lang="en-US" dirty="0"/>
          </a:p>
        </p:txBody>
      </p:sp>
    </p:spTree>
    <p:extLst>
      <p:ext uri="{BB962C8B-B14F-4D97-AF65-F5344CB8AC3E}">
        <p14:creationId xmlns:p14="http://schemas.microsoft.com/office/powerpoint/2010/main" val="8791062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Slide Number Placeholder 3"/>
          <p:cNvSpPr>
            <a:spLocks noGrp="1"/>
          </p:cNvSpPr>
          <p:nvPr>
            <p:ph type="sldNum" sz="quarter" idx="5"/>
          </p:nvPr>
        </p:nvSpPr>
        <p:spPr>
          <a:noFill/>
        </p:spPr>
        <p:txBody>
          <a:bodyPr/>
          <a:lstStyle/>
          <a:p>
            <a:fld id="{609E0CE2-BE2D-4A55-B532-0B0E72ADF4D6}" type="slidenum">
              <a:rPr lang="en-US" smtClean="0"/>
              <a:pPr/>
              <a:t>1</a:t>
            </a:fld>
            <a:endParaRPr lang="en-US" dirty="0"/>
          </a:p>
        </p:txBody>
      </p:sp>
    </p:spTree>
    <p:extLst>
      <p:ext uri="{BB962C8B-B14F-4D97-AF65-F5344CB8AC3E}">
        <p14:creationId xmlns:p14="http://schemas.microsoft.com/office/powerpoint/2010/main" val="4102412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C484AA-6EF6-4420-9EB2-7E7669C2D784}" type="slidenum">
              <a:rPr lang="en-US" smtClean="0"/>
              <a:pPr>
                <a:defRPr/>
              </a:pPr>
              <a:t>3</a:t>
            </a:fld>
            <a:endParaRPr lang="en-US" dirty="0"/>
          </a:p>
        </p:txBody>
      </p:sp>
    </p:spTree>
    <p:extLst>
      <p:ext uri="{BB962C8B-B14F-4D97-AF65-F5344CB8AC3E}">
        <p14:creationId xmlns:p14="http://schemas.microsoft.com/office/powerpoint/2010/main" val="3278174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C484AA-6EF6-4420-9EB2-7E7669C2D784}" type="slidenum">
              <a:rPr lang="en-US" smtClean="0"/>
              <a:pPr>
                <a:defRPr/>
              </a:pPr>
              <a:t>4</a:t>
            </a:fld>
            <a:endParaRPr lang="en-US" dirty="0"/>
          </a:p>
        </p:txBody>
      </p:sp>
    </p:spTree>
    <p:extLst>
      <p:ext uri="{BB962C8B-B14F-4D97-AF65-F5344CB8AC3E}">
        <p14:creationId xmlns:p14="http://schemas.microsoft.com/office/powerpoint/2010/main" val="2240108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customers happy or discouraged</a:t>
            </a:r>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6</a:t>
            </a:fld>
            <a:endParaRPr lang="en-US" dirty="0"/>
          </a:p>
        </p:txBody>
      </p:sp>
    </p:spTree>
    <p:extLst>
      <p:ext uri="{BB962C8B-B14F-4D97-AF65-F5344CB8AC3E}">
        <p14:creationId xmlns:p14="http://schemas.microsoft.com/office/powerpoint/2010/main" val="3379080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8</a:t>
            </a:fld>
            <a:endParaRPr lang="en-US" dirty="0"/>
          </a:p>
        </p:txBody>
      </p:sp>
    </p:spTree>
    <p:extLst>
      <p:ext uri="{BB962C8B-B14F-4D97-AF65-F5344CB8AC3E}">
        <p14:creationId xmlns:p14="http://schemas.microsoft.com/office/powerpoint/2010/main" val="2445788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9</a:t>
            </a:fld>
            <a:endParaRPr lang="en-US" dirty="0"/>
          </a:p>
        </p:txBody>
      </p:sp>
    </p:spTree>
    <p:extLst>
      <p:ext uri="{BB962C8B-B14F-4D97-AF65-F5344CB8AC3E}">
        <p14:creationId xmlns:p14="http://schemas.microsoft.com/office/powerpoint/2010/main" val="3259188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Slide Number Placeholder 3"/>
          <p:cNvSpPr>
            <a:spLocks noGrp="1"/>
          </p:cNvSpPr>
          <p:nvPr>
            <p:ph type="sldNum" sz="quarter" idx="5"/>
          </p:nvPr>
        </p:nvSpPr>
        <p:spPr>
          <a:noFill/>
        </p:spPr>
        <p:txBody>
          <a:bodyPr/>
          <a:lstStyle/>
          <a:p>
            <a:fld id="{609E0CE2-BE2D-4A55-B532-0B0E72ADF4D6}" type="slidenum">
              <a:rPr lang="en-US" smtClean="0"/>
              <a:pPr/>
              <a:t>13</a:t>
            </a:fld>
            <a:endParaRPr lang="en-US" dirty="0"/>
          </a:p>
        </p:txBody>
      </p:sp>
    </p:spTree>
    <p:extLst>
      <p:ext uri="{BB962C8B-B14F-4D97-AF65-F5344CB8AC3E}">
        <p14:creationId xmlns:p14="http://schemas.microsoft.com/office/powerpoint/2010/main" val="1463427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C484AA-6EF6-4420-9EB2-7E7669C2D784}" type="slidenum">
              <a:rPr lang="en-US" smtClean="0"/>
              <a:pPr>
                <a:defRPr/>
              </a:pPr>
              <a:t>17</a:t>
            </a:fld>
            <a:endParaRPr lang="en-US" dirty="0"/>
          </a:p>
        </p:txBody>
      </p:sp>
    </p:spTree>
    <p:extLst>
      <p:ext uri="{BB962C8B-B14F-4D97-AF65-F5344CB8AC3E}">
        <p14:creationId xmlns:p14="http://schemas.microsoft.com/office/powerpoint/2010/main" val="4079972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19</a:t>
            </a:fld>
            <a:endParaRPr lang="en-US" dirty="0"/>
          </a:p>
        </p:txBody>
      </p:sp>
    </p:spTree>
    <p:extLst>
      <p:ext uri="{BB962C8B-B14F-4D97-AF65-F5344CB8AC3E}">
        <p14:creationId xmlns:p14="http://schemas.microsoft.com/office/powerpoint/2010/main" val="1254245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20</a:t>
            </a:fld>
            <a:endParaRPr lang="en-US" dirty="0"/>
          </a:p>
        </p:txBody>
      </p:sp>
    </p:spTree>
    <p:extLst>
      <p:ext uri="{BB962C8B-B14F-4D97-AF65-F5344CB8AC3E}">
        <p14:creationId xmlns:p14="http://schemas.microsoft.com/office/powerpoint/2010/main" val="210340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202.1 is works… then it will break in 210.</a:t>
            </a:r>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21</a:t>
            </a:fld>
            <a:endParaRPr lang="en-US" dirty="0"/>
          </a:p>
        </p:txBody>
      </p:sp>
    </p:spTree>
    <p:extLst>
      <p:ext uri="{BB962C8B-B14F-4D97-AF65-F5344CB8AC3E}">
        <p14:creationId xmlns:p14="http://schemas.microsoft.com/office/powerpoint/2010/main" val="3173204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22</a:t>
            </a:fld>
            <a:endParaRPr lang="en-US" dirty="0"/>
          </a:p>
        </p:txBody>
      </p:sp>
    </p:spTree>
    <p:extLst>
      <p:ext uri="{BB962C8B-B14F-4D97-AF65-F5344CB8AC3E}">
        <p14:creationId xmlns:p14="http://schemas.microsoft.com/office/powerpoint/2010/main" val="1200586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23</a:t>
            </a:fld>
            <a:endParaRPr lang="en-US" dirty="0"/>
          </a:p>
        </p:txBody>
      </p:sp>
    </p:spTree>
    <p:extLst>
      <p:ext uri="{BB962C8B-B14F-4D97-AF65-F5344CB8AC3E}">
        <p14:creationId xmlns:p14="http://schemas.microsoft.com/office/powerpoint/2010/main" val="267983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C484AA-6EF6-4420-9EB2-7E7669C2D784}" type="slidenum">
              <a:rPr lang="en-US" smtClean="0"/>
              <a:pPr>
                <a:defRPr/>
              </a:pPr>
              <a:t>24</a:t>
            </a:fld>
            <a:endParaRPr lang="en-US" dirty="0"/>
          </a:p>
        </p:txBody>
      </p:sp>
    </p:spTree>
    <p:extLst>
      <p:ext uri="{BB962C8B-B14F-4D97-AF65-F5344CB8AC3E}">
        <p14:creationId xmlns:p14="http://schemas.microsoft.com/office/powerpoint/2010/main" val="2507720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25</a:t>
            </a:fld>
            <a:endParaRPr lang="en-US" dirty="0"/>
          </a:p>
        </p:txBody>
      </p:sp>
    </p:spTree>
    <p:extLst>
      <p:ext uri="{BB962C8B-B14F-4D97-AF65-F5344CB8AC3E}">
        <p14:creationId xmlns:p14="http://schemas.microsoft.com/office/powerpoint/2010/main" val="2837530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26</a:t>
            </a:fld>
            <a:endParaRPr lang="en-US" dirty="0"/>
          </a:p>
        </p:txBody>
      </p:sp>
    </p:spTree>
    <p:extLst>
      <p:ext uri="{BB962C8B-B14F-4D97-AF65-F5344CB8AC3E}">
        <p14:creationId xmlns:p14="http://schemas.microsoft.com/office/powerpoint/2010/main" val="3243430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29</a:t>
            </a:fld>
            <a:endParaRPr lang="en-US" dirty="0"/>
          </a:p>
        </p:txBody>
      </p:sp>
    </p:spTree>
    <p:extLst>
      <p:ext uri="{BB962C8B-B14F-4D97-AF65-F5344CB8AC3E}">
        <p14:creationId xmlns:p14="http://schemas.microsoft.com/office/powerpoint/2010/main" val="20840366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31</a:t>
            </a:fld>
            <a:endParaRPr lang="en-US" dirty="0"/>
          </a:p>
        </p:txBody>
      </p:sp>
    </p:spTree>
    <p:extLst>
      <p:ext uri="{BB962C8B-B14F-4D97-AF65-F5344CB8AC3E}">
        <p14:creationId xmlns:p14="http://schemas.microsoft.com/office/powerpoint/2010/main" val="377012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32</a:t>
            </a:fld>
            <a:endParaRPr lang="en-US" dirty="0"/>
          </a:p>
        </p:txBody>
      </p:sp>
    </p:spTree>
    <p:extLst>
      <p:ext uri="{BB962C8B-B14F-4D97-AF65-F5344CB8AC3E}">
        <p14:creationId xmlns:p14="http://schemas.microsoft.com/office/powerpoint/2010/main" val="1113676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35</a:t>
            </a:fld>
            <a:endParaRPr lang="en-US" dirty="0"/>
          </a:p>
        </p:txBody>
      </p:sp>
    </p:spTree>
    <p:extLst>
      <p:ext uri="{BB962C8B-B14F-4D97-AF65-F5344CB8AC3E}">
        <p14:creationId xmlns:p14="http://schemas.microsoft.com/office/powerpoint/2010/main" val="10611455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36</a:t>
            </a:fld>
            <a:endParaRPr lang="en-US" dirty="0"/>
          </a:p>
        </p:txBody>
      </p:sp>
    </p:spTree>
    <p:extLst>
      <p:ext uri="{BB962C8B-B14F-4D97-AF65-F5344CB8AC3E}">
        <p14:creationId xmlns:p14="http://schemas.microsoft.com/office/powerpoint/2010/main" val="2628369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39</a:t>
            </a:fld>
            <a:endParaRPr lang="en-US" dirty="0"/>
          </a:p>
        </p:txBody>
      </p:sp>
    </p:spTree>
    <p:extLst>
      <p:ext uri="{BB962C8B-B14F-4D97-AF65-F5344CB8AC3E}">
        <p14:creationId xmlns:p14="http://schemas.microsoft.com/office/powerpoint/2010/main" val="4217654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Slide Number Placeholder 3"/>
          <p:cNvSpPr>
            <a:spLocks noGrp="1"/>
          </p:cNvSpPr>
          <p:nvPr>
            <p:ph type="sldNum" sz="quarter" idx="5"/>
          </p:nvPr>
        </p:nvSpPr>
        <p:spPr>
          <a:noFill/>
        </p:spPr>
        <p:txBody>
          <a:bodyPr/>
          <a:lstStyle/>
          <a:p>
            <a:fld id="{609E0CE2-BE2D-4A55-B532-0B0E72ADF4D6}" type="slidenum">
              <a:rPr lang="en-US" smtClean="0"/>
              <a:pPr/>
              <a:t>48</a:t>
            </a:fld>
            <a:endParaRPr lang="en-US" dirty="0"/>
          </a:p>
        </p:txBody>
      </p:sp>
    </p:spTree>
    <p:extLst>
      <p:ext uri="{BB962C8B-B14F-4D97-AF65-F5344CB8AC3E}">
        <p14:creationId xmlns:p14="http://schemas.microsoft.com/office/powerpoint/2010/main" val="4163933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Slide Number Placeholder 3"/>
          <p:cNvSpPr>
            <a:spLocks noGrp="1"/>
          </p:cNvSpPr>
          <p:nvPr>
            <p:ph type="sldNum" sz="quarter" idx="5"/>
          </p:nvPr>
        </p:nvSpPr>
        <p:spPr>
          <a:noFill/>
        </p:spPr>
        <p:txBody>
          <a:bodyPr/>
          <a:lstStyle/>
          <a:p>
            <a:fld id="{609E0CE2-BE2D-4A55-B532-0B0E72ADF4D6}" type="slidenum">
              <a:rPr lang="en-US" smtClean="0"/>
              <a:pPr/>
              <a:t>55</a:t>
            </a:fld>
            <a:endParaRPr lang="en-US" dirty="0"/>
          </a:p>
        </p:txBody>
      </p:sp>
    </p:spTree>
    <p:extLst>
      <p:ext uri="{BB962C8B-B14F-4D97-AF65-F5344CB8AC3E}">
        <p14:creationId xmlns:p14="http://schemas.microsoft.com/office/powerpoint/2010/main" val="25548386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DA354D5-D27D-4244-869E-8324F4D9A01F}" type="slidenum">
              <a:rPr lang="en-US" smtClean="0"/>
              <a:pPr>
                <a:defRPr/>
              </a:pPr>
              <a:t>56</a:t>
            </a:fld>
            <a:endParaRPr lang="en-US" dirty="0"/>
          </a:p>
        </p:txBody>
      </p:sp>
    </p:spTree>
    <p:extLst>
      <p:ext uri="{BB962C8B-B14F-4D97-AF65-F5344CB8AC3E}">
        <p14:creationId xmlns:p14="http://schemas.microsoft.com/office/powerpoint/2010/main" val="3475139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DA354D5-D27D-4244-869E-8324F4D9A01F}" type="slidenum">
              <a:rPr lang="en-US" smtClean="0"/>
              <a:pPr>
                <a:defRPr/>
              </a:pPr>
              <a:t>57</a:t>
            </a:fld>
            <a:endParaRPr lang="en-US" dirty="0"/>
          </a:p>
        </p:txBody>
      </p:sp>
    </p:spTree>
    <p:extLst>
      <p:ext uri="{BB962C8B-B14F-4D97-AF65-F5344CB8AC3E}">
        <p14:creationId xmlns:p14="http://schemas.microsoft.com/office/powerpoint/2010/main" val="1066289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61</a:t>
            </a:fld>
            <a:endParaRPr lang="en-US" dirty="0"/>
          </a:p>
        </p:txBody>
      </p:sp>
    </p:spTree>
    <p:extLst>
      <p:ext uri="{BB962C8B-B14F-4D97-AF65-F5344CB8AC3E}">
        <p14:creationId xmlns:p14="http://schemas.microsoft.com/office/powerpoint/2010/main" val="120619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63</a:t>
            </a:fld>
            <a:endParaRPr lang="en-US" dirty="0"/>
          </a:p>
        </p:txBody>
      </p:sp>
    </p:spTree>
    <p:extLst>
      <p:ext uri="{BB962C8B-B14F-4D97-AF65-F5344CB8AC3E}">
        <p14:creationId xmlns:p14="http://schemas.microsoft.com/office/powerpoint/2010/main" val="23131005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decided not to map in my script</a:t>
            </a:r>
          </a:p>
        </p:txBody>
      </p:sp>
      <p:sp>
        <p:nvSpPr>
          <p:cNvPr id="4" name="Slide Number Placeholder 3"/>
          <p:cNvSpPr>
            <a:spLocks noGrp="1"/>
          </p:cNvSpPr>
          <p:nvPr>
            <p:ph type="sldNum" sz="quarter" idx="5"/>
          </p:nvPr>
        </p:nvSpPr>
        <p:spPr/>
        <p:txBody>
          <a:bodyPr/>
          <a:lstStyle/>
          <a:p>
            <a:pPr>
              <a:defRPr/>
            </a:pPr>
            <a:fld id="{2C0987A0-168C-4296-B7CD-5BE897E26686}" type="slidenum">
              <a:rPr lang="en-US" smtClean="0"/>
              <a:pPr>
                <a:defRPr/>
              </a:pPr>
              <a:t>70</a:t>
            </a:fld>
            <a:endParaRPr lang="en-US" dirty="0"/>
          </a:p>
        </p:txBody>
      </p:sp>
    </p:spTree>
    <p:extLst>
      <p:ext uri="{BB962C8B-B14F-4D97-AF65-F5344CB8AC3E}">
        <p14:creationId xmlns:p14="http://schemas.microsoft.com/office/powerpoint/2010/main" val="5710628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p:spPr>
        <p:txBody>
          <a:bodyPr/>
          <a:lstStyle/>
          <a:p>
            <a:endParaRPr lang="en-US" dirty="0"/>
          </a:p>
        </p:txBody>
      </p:sp>
      <p:sp>
        <p:nvSpPr>
          <p:cNvPr id="67588" name="Slide Number Placeholder 3"/>
          <p:cNvSpPr>
            <a:spLocks noGrp="1"/>
          </p:cNvSpPr>
          <p:nvPr>
            <p:ph type="sldNum" sz="quarter" idx="5"/>
          </p:nvPr>
        </p:nvSpPr>
        <p:spPr>
          <a:noFill/>
        </p:spPr>
        <p:txBody>
          <a:bodyPr/>
          <a:lstStyle/>
          <a:p>
            <a:fld id="{0BAAE69C-6AF4-41C4-AD30-34F13D7BB39E}" type="slidenum">
              <a:rPr lang="en-US" smtClean="0"/>
              <a:pPr/>
              <a:t>76</a:t>
            </a:fld>
            <a:endParaRPr lang="en-US" dirty="0"/>
          </a:p>
        </p:txBody>
      </p:sp>
    </p:spTree>
    <p:extLst>
      <p:ext uri="{BB962C8B-B14F-4D97-AF65-F5344CB8AC3E}">
        <p14:creationId xmlns:p14="http://schemas.microsoft.com/office/powerpoint/2010/main" val="27458715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C484AA-6EF6-4420-9EB2-7E7669C2D784}" type="slidenum">
              <a:rPr lang="en-US" smtClean="0"/>
              <a:pPr>
                <a:defRPr/>
              </a:pPr>
              <a:t>77</a:t>
            </a:fld>
            <a:endParaRPr lang="en-US" dirty="0"/>
          </a:p>
        </p:txBody>
      </p:sp>
    </p:spTree>
    <p:extLst>
      <p:ext uri="{BB962C8B-B14F-4D97-AF65-F5344CB8AC3E}">
        <p14:creationId xmlns:p14="http://schemas.microsoft.com/office/powerpoint/2010/main" val="5183800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6" Type="http://schemas.openxmlformats.org/officeDocument/2006/relationships/image" Target="../media/image5.jpe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2161"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6" name="Title 1"/>
          <p:cNvSpPr>
            <a:spLocks noGrp="1"/>
          </p:cNvSpPr>
          <p:nvPr>
            <p:ph type="title"/>
          </p:nvPr>
        </p:nvSpPr>
        <p:spPr>
          <a:xfrm>
            <a:off x="534924" y="152400"/>
            <a:ext cx="7986568" cy="498610"/>
          </a:xfrm>
        </p:spPr>
        <p:txBody>
          <a:bodyPr rIns="91440"/>
          <a:lstStyle>
            <a:lvl1pPr>
              <a:defRPr baseline="0">
                <a:solidFill>
                  <a:schemeClr val="bg2"/>
                </a:solidFill>
              </a:defRPr>
            </a:lvl1pPr>
          </a:lstStyle>
          <a:p>
            <a:r>
              <a:rPr lang="en-US" dirty="0"/>
              <a:t>Click to edit Master title style</a:t>
            </a:r>
          </a:p>
        </p:txBody>
      </p:sp>
      <p:sp>
        <p:nvSpPr>
          <p:cNvPr id="5" name="Content Placeholder 4"/>
          <p:cNvSpPr>
            <a:spLocks noGrp="1"/>
          </p:cNvSpPr>
          <p:nvPr>
            <p:ph sz="quarter" idx="12"/>
          </p:nvPr>
        </p:nvSpPr>
        <p:spPr>
          <a:xfrm>
            <a:off x="548641" y="990600"/>
            <a:ext cx="8085560" cy="5227320"/>
          </a:xfrm>
          <a:prstGeom prst="rect">
            <a:avLst/>
          </a:prstGeom>
        </p:spPr>
        <p:txBody>
          <a:bodyPr/>
          <a:lstStyle>
            <a:lvl1pPr marL="274320" indent="-274320">
              <a:spcBef>
                <a:spcPts val="450"/>
              </a:spcBef>
              <a:spcAft>
                <a:spcPts val="0"/>
              </a:spcAft>
              <a:buClr>
                <a:schemeClr val="tx2"/>
              </a:buClr>
              <a:defRPr sz="2800">
                <a:solidFill>
                  <a:schemeClr val="bg2"/>
                </a:solidFill>
              </a:defRPr>
            </a:lvl1pPr>
            <a:lvl2pPr marL="457200" indent="-274320">
              <a:spcBef>
                <a:spcPts val="450"/>
              </a:spcBef>
              <a:spcAft>
                <a:spcPts val="0"/>
              </a:spcAft>
              <a:buClr>
                <a:schemeClr val="tx1"/>
              </a:buClr>
              <a:defRPr sz="2800">
                <a:solidFill>
                  <a:schemeClr val="bg2"/>
                </a:solidFill>
              </a:defRPr>
            </a:lvl2pPr>
            <a:lvl3pPr marL="640080" indent="-274320">
              <a:spcBef>
                <a:spcPts val="450"/>
              </a:spcBef>
              <a:spcAft>
                <a:spcPts val="0"/>
              </a:spcAft>
              <a:buClr>
                <a:schemeClr val="tx1"/>
              </a:buClr>
              <a:defRPr sz="2400">
                <a:solidFill>
                  <a:schemeClr val="bg2"/>
                </a:solidFill>
              </a:defRPr>
            </a:lvl3pPr>
            <a:lvl4pPr marL="822960" indent="-274320">
              <a:spcBef>
                <a:spcPts val="450"/>
              </a:spcBef>
              <a:spcAft>
                <a:spcPts val="0"/>
              </a:spcAft>
              <a:buClr>
                <a:schemeClr val="tx1"/>
              </a:buClr>
              <a:buFont typeface="Arial" panose="020B0604020202020204" pitchFamily="34" charset="0"/>
              <a:buChar char="-"/>
              <a:defRPr sz="2000">
                <a:solidFill>
                  <a:schemeClr val="bg2"/>
                </a:solidFill>
                <a:latin typeface="Arial" panose="020B0604020202020204" pitchFamily="34" charset="0"/>
                <a:cs typeface="Arial" panose="020B0604020202020204" pitchFamily="34" charset="0"/>
              </a:defRPr>
            </a:lvl4pPr>
            <a:lvl5pPr marL="914400" indent="-274320">
              <a:spcBef>
                <a:spcPts val="450"/>
              </a:spcBef>
              <a:spcAft>
                <a:spcPts val="0"/>
              </a:spcAft>
              <a:buClr>
                <a:schemeClr val="tx1"/>
              </a:buClr>
              <a:defRPr sz="18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77759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8306"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2" name="Title 1"/>
          <p:cNvSpPr>
            <a:spLocks noGrp="1"/>
          </p:cNvSpPr>
          <p:nvPr>
            <p:ph type="title"/>
          </p:nvPr>
        </p:nvSpPr>
        <p:spPr>
          <a:xfrm>
            <a:off x="534924" y="76200"/>
            <a:ext cx="7892502" cy="498475"/>
          </a:xfrm>
        </p:spPr>
        <p:txBody>
          <a:bodyPr/>
          <a:lstStyle>
            <a:lvl1pPr>
              <a:defRPr>
                <a:solidFill>
                  <a:schemeClr val="bg2"/>
                </a:solidFill>
              </a:defRPr>
            </a:lvl1pPr>
          </a:lstStyle>
          <a:p>
            <a:r>
              <a:rPr lang="en-US" dirty="0"/>
              <a:t>Click to edit Master title style</a:t>
            </a:r>
          </a:p>
        </p:txBody>
      </p:sp>
    </p:spTree>
    <p:extLst>
      <p:ext uri="{BB962C8B-B14F-4D97-AF65-F5344CB8AC3E}">
        <p14:creationId xmlns:p14="http://schemas.microsoft.com/office/powerpoint/2010/main" val="16722905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section start">
    <p:bg>
      <p:bgPr>
        <a:solidFill>
          <a:srgbClr val="E1E1F7"/>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3187"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6" name="Title 1"/>
          <p:cNvSpPr>
            <a:spLocks noGrp="1"/>
          </p:cNvSpPr>
          <p:nvPr>
            <p:ph type="title"/>
          </p:nvPr>
        </p:nvSpPr>
        <p:spPr>
          <a:xfrm>
            <a:off x="534924" y="356616"/>
            <a:ext cx="7986568" cy="498610"/>
          </a:xfrm>
        </p:spPr>
        <p:txBody>
          <a:bodyPr rIns="91440"/>
          <a:lstStyle>
            <a:lvl1pPr>
              <a:defRPr baseline="0">
                <a:solidFill>
                  <a:schemeClr val="bg2"/>
                </a:solidFill>
              </a:defRPr>
            </a:lvl1pPr>
          </a:lstStyle>
          <a:p>
            <a:r>
              <a:rPr lang="en-US" dirty="0"/>
              <a:t>Click to edit Master title style</a:t>
            </a:r>
          </a:p>
        </p:txBody>
      </p:sp>
      <p:sp>
        <p:nvSpPr>
          <p:cNvPr id="5" name="Content Placeholder 4"/>
          <p:cNvSpPr>
            <a:spLocks noGrp="1"/>
          </p:cNvSpPr>
          <p:nvPr>
            <p:ph sz="quarter" idx="12" hasCustomPrompt="1"/>
          </p:nvPr>
        </p:nvSpPr>
        <p:spPr>
          <a:xfrm>
            <a:off x="548641" y="1188720"/>
            <a:ext cx="3909060" cy="5029200"/>
          </a:xfrm>
          <a:prstGeom prst="rect">
            <a:avLst/>
          </a:prstGeom>
        </p:spPr>
        <p:txBody>
          <a:bodyPr/>
          <a:lstStyle>
            <a:lvl1pPr marL="137160" indent="-137160">
              <a:spcBef>
                <a:spcPts val="450"/>
              </a:spcBef>
              <a:spcAft>
                <a:spcPts val="0"/>
              </a:spcAft>
              <a:buClr>
                <a:schemeClr val="tx2"/>
              </a:buClr>
              <a:defRPr sz="2800">
                <a:solidFill>
                  <a:schemeClr val="bg2"/>
                </a:solidFill>
              </a:defRPr>
            </a:lvl1pPr>
            <a:lvl2pPr marL="342900" indent="-137160">
              <a:spcBef>
                <a:spcPts val="450"/>
              </a:spcBef>
              <a:spcAft>
                <a:spcPts val="0"/>
              </a:spcAft>
              <a:buClr>
                <a:schemeClr val="tx1"/>
              </a:buClr>
              <a:defRPr sz="2400">
                <a:solidFill>
                  <a:schemeClr val="bg2"/>
                </a:solidFill>
              </a:defRPr>
            </a:lvl2pPr>
            <a:lvl3pPr marL="480060" indent="-137160">
              <a:spcBef>
                <a:spcPts val="450"/>
              </a:spcBef>
              <a:spcAft>
                <a:spcPts val="0"/>
              </a:spcAft>
              <a:buClr>
                <a:schemeClr val="tx1"/>
              </a:buClr>
              <a:defRPr sz="2000">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3"/>
          </p:nvPr>
        </p:nvSpPr>
        <p:spPr>
          <a:xfrm>
            <a:off x="8732520" y="0"/>
            <a:ext cx="411480" cy="502920"/>
          </a:xfrm>
          <a:prstGeom prst="rect">
            <a:avLst/>
          </a:prstGeom>
        </p:spPr>
        <p:txBody>
          <a:bodyPr/>
          <a:lstStyle>
            <a:lvl1pPr>
              <a:defRPr>
                <a:solidFill>
                  <a:schemeClr val="bg1"/>
                </a:solidFill>
              </a:defRPr>
            </a:lvl1pPr>
          </a:lstStyle>
          <a:p>
            <a:pPr>
              <a:defRPr/>
            </a:pPr>
            <a:fld id="{65C380C9-3062-4F1D-A521-BEC000498A55}" type="slidenum">
              <a:rPr lang="en-US" smtClean="0"/>
              <a:pPr>
                <a:defRPr/>
              </a:pPr>
              <a:t>‹#›</a:t>
            </a:fld>
            <a:endParaRPr lang="en-US" dirty="0"/>
          </a:p>
        </p:txBody>
      </p:sp>
      <p:cxnSp>
        <p:nvCxnSpPr>
          <p:cNvPr id="8" name="Straight Connector 7"/>
          <p:cNvCxnSpPr/>
          <p:nvPr userDrawn="1"/>
        </p:nvCxnSpPr>
        <p:spPr bwMode="auto">
          <a:xfrm>
            <a:off x="4572000" y="1299754"/>
            <a:ext cx="0" cy="475488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9" name="Content Placeholder 4">
            <a:extLst>
              <a:ext uri="{FF2B5EF4-FFF2-40B4-BE49-F238E27FC236}">
                <a16:creationId xmlns:a16="http://schemas.microsoft.com/office/drawing/2014/main" id="{2088F566-02E9-486D-BF6A-597DE05A5668}"/>
              </a:ext>
            </a:extLst>
          </p:cNvPr>
          <p:cNvSpPr>
            <a:spLocks noGrp="1"/>
          </p:cNvSpPr>
          <p:nvPr>
            <p:ph sz="quarter" idx="14" hasCustomPrompt="1"/>
          </p:nvPr>
        </p:nvSpPr>
        <p:spPr>
          <a:xfrm>
            <a:off x="4689231" y="1162594"/>
            <a:ext cx="3909060" cy="5029200"/>
          </a:xfrm>
          <a:prstGeom prst="rect">
            <a:avLst/>
          </a:prstGeom>
        </p:spPr>
        <p:txBody>
          <a:bodyPr/>
          <a:lstStyle>
            <a:lvl1pPr marL="137160" indent="-137160">
              <a:spcBef>
                <a:spcPts val="450"/>
              </a:spcBef>
              <a:spcAft>
                <a:spcPts val="0"/>
              </a:spcAft>
              <a:buClr>
                <a:schemeClr val="tx2"/>
              </a:buClr>
              <a:defRPr sz="2800">
                <a:solidFill>
                  <a:schemeClr val="bg2"/>
                </a:solidFill>
              </a:defRPr>
            </a:lvl1pPr>
            <a:lvl2pPr marL="342900" indent="-137160">
              <a:spcBef>
                <a:spcPts val="450"/>
              </a:spcBef>
              <a:spcAft>
                <a:spcPts val="0"/>
              </a:spcAft>
              <a:buClr>
                <a:schemeClr val="tx1"/>
              </a:buClr>
              <a:defRPr sz="2400">
                <a:solidFill>
                  <a:schemeClr val="bg2"/>
                </a:solidFill>
              </a:defRPr>
            </a:lvl2pPr>
            <a:lvl3pPr marL="480060" indent="-137160">
              <a:spcBef>
                <a:spcPts val="450"/>
              </a:spcBef>
              <a:spcAft>
                <a:spcPts val="0"/>
              </a:spcAft>
              <a:buClr>
                <a:schemeClr val="tx1"/>
              </a:buClr>
              <a:defRPr sz="2000">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4970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Big Section start">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4210"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6" name="Title 1"/>
          <p:cNvSpPr>
            <a:spLocks noGrp="1"/>
          </p:cNvSpPr>
          <p:nvPr>
            <p:ph type="title"/>
          </p:nvPr>
        </p:nvSpPr>
        <p:spPr>
          <a:xfrm>
            <a:off x="534924" y="356616"/>
            <a:ext cx="7986568" cy="498610"/>
          </a:xfrm>
        </p:spPr>
        <p:txBody>
          <a:bodyPr rIns="91440"/>
          <a:lstStyle>
            <a:lvl1pPr>
              <a:defRPr baseline="0">
                <a:solidFill>
                  <a:schemeClr val="bg2"/>
                </a:solidFill>
              </a:defRPr>
            </a:lvl1pPr>
          </a:lstStyle>
          <a:p>
            <a:r>
              <a:rPr lang="en-US" dirty="0"/>
              <a:t>Click to edit Master title style</a:t>
            </a:r>
          </a:p>
        </p:txBody>
      </p:sp>
      <p:sp>
        <p:nvSpPr>
          <p:cNvPr id="5" name="Content Placeholder 4"/>
          <p:cNvSpPr>
            <a:spLocks noGrp="1"/>
          </p:cNvSpPr>
          <p:nvPr>
            <p:ph sz="quarter" idx="12"/>
          </p:nvPr>
        </p:nvSpPr>
        <p:spPr>
          <a:xfrm>
            <a:off x="548641" y="1188720"/>
            <a:ext cx="8085560" cy="5029200"/>
          </a:xfrm>
          <a:prstGeom prst="rect">
            <a:avLst/>
          </a:prstGeom>
          <a:solidFill>
            <a:schemeClr val="accent1">
              <a:lumMod val="40000"/>
              <a:lumOff val="60000"/>
            </a:schemeClr>
          </a:solidFill>
        </p:spPr>
        <p:txBody>
          <a:bodyPr/>
          <a:lstStyle>
            <a:lvl1pPr marL="137160" indent="-137160">
              <a:spcBef>
                <a:spcPts val="450"/>
              </a:spcBef>
              <a:spcAft>
                <a:spcPts val="0"/>
              </a:spcAft>
              <a:buClr>
                <a:schemeClr val="tx2"/>
              </a:buClr>
              <a:defRPr sz="2800">
                <a:solidFill>
                  <a:schemeClr val="bg2"/>
                </a:solidFill>
              </a:defRPr>
            </a:lvl1pPr>
            <a:lvl2pPr marL="342900" indent="-137160">
              <a:spcBef>
                <a:spcPts val="450"/>
              </a:spcBef>
              <a:spcAft>
                <a:spcPts val="0"/>
              </a:spcAft>
              <a:buClr>
                <a:schemeClr val="tx1"/>
              </a:buClr>
              <a:defRPr sz="2800">
                <a:solidFill>
                  <a:schemeClr val="bg2"/>
                </a:solidFill>
              </a:defRPr>
            </a:lvl2pPr>
            <a:lvl3pPr marL="480060" indent="-137160">
              <a:spcBef>
                <a:spcPts val="450"/>
              </a:spcBef>
              <a:spcAft>
                <a:spcPts val="0"/>
              </a:spcAft>
              <a:buClr>
                <a:schemeClr val="tx1"/>
              </a:buClr>
              <a:defRPr sz="2400">
                <a:solidFill>
                  <a:schemeClr val="bg2"/>
                </a:solidFill>
              </a:defRPr>
            </a:lvl3pPr>
            <a:lvl4pPr marL="685800" indent="-137160">
              <a:spcBef>
                <a:spcPts val="450"/>
              </a:spcBef>
              <a:spcAft>
                <a:spcPts val="0"/>
              </a:spcAft>
              <a:buClr>
                <a:schemeClr val="tx1"/>
              </a:buClr>
              <a:buFont typeface="Arial" panose="020B0604020202020204" pitchFamily="34" charset="0"/>
              <a:buChar char="-"/>
              <a:defRPr sz="200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18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3"/>
          </p:nvPr>
        </p:nvSpPr>
        <p:spPr/>
        <p:txBody>
          <a:bodyPr/>
          <a:lstStyle>
            <a:lvl1pPr>
              <a:defRPr>
                <a:solidFill>
                  <a:schemeClr val="bg2"/>
                </a:solidFill>
              </a:defRPr>
            </a:lvl1pPr>
          </a:lstStyle>
          <a:p>
            <a:pPr>
              <a:defRPr/>
            </a:pPr>
            <a:fld id="{65C380C9-3062-4F1D-A521-BEC000498A55}" type="slidenum">
              <a:rPr lang="en-US" smtClean="0"/>
              <a:pPr>
                <a:defRPr/>
              </a:pPr>
              <a:t>‹#›</a:t>
            </a:fld>
            <a:endParaRPr lang="en-US" dirty="0"/>
          </a:p>
        </p:txBody>
      </p:sp>
    </p:spTree>
    <p:extLst>
      <p:ext uri="{BB962C8B-B14F-4D97-AF65-F5344CB8AC3E}">
        <p14:creationId xmlns:p14="http://schemas.microsoft.com/office/powerpoint/2010/main" val="285098221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876556" name="Picture 12" descr="C:\Users\e154578\AppData\Local\Temp\SNAGHTML188cbe5f.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3120" y="-14248"/>
            <a:ext cx="7543800" cy="77704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userDrawn="1"/>
        </p:nvPicPr>
        <p:blipFill>
          <a:blip r:embed="rId3" cstate="print"/>
          <a:stretch>
            <a:fillRect/>
          </a:stretch>
        </p:blipFill>
        <p:spPr>
          <a:xfrm>
            <a:off x="0" y="-5187"/>
            <a:ext cx="1143000" cy="749866"/>
          </a:xfrm>
          <a:prstGeom prst="rect">
            <a:avLst/>
          </a:prstGeom>
        </p:spPr>
      </p:pic>
      <p:pic>
        <p:nvPicPr>
          <p:cNvPr id="10" name="Picture 9"/>
          <p:cNvPicPr>
            <a:picLocks noChangeAspect="1"/>
          </p:cNvPicPr>
          <p:nvPr userDrawn="1"/>
        </p:nvPicPr>
        <p:blipFill>
          <a:blip r:embed="rId3" cstate="print"/>
          <a:stretch>
            <a:fillRect/>
          </a:stretch>
        </p:blipFill>
        <p:spPr>
          <a:xfrm>
            <a:off x="1143000" y="3874"/>
            <a:ext cx="1143000" cy="749866"/>
          </a:xfrm>
          <a:prstGeom prst="rect">
            <a:avLst/>
          </a:prstGeom>
        </p:spPr>
      </p:pic>
      <p:pic>
        <p:nvPicPr>
          <p:cNvPr id="11" name="Picture 10"/>
          <p:cNvPicPr>
            <a:picLocks noChangeAspect="1"/>
          </p:cNvPicPr>
          <p:nvPr userDrawn="1"/>
        </p:nvPicPr>
        <p:blipFill>
          <a:blip r:embed="rId3" cstate="print"/>
          <a:stretch>
            <a:fillRect/>
          </a:stretch>
        </p:blipFill>
        <p:spPr>
          <a:xfrm>
            <a:off x="8006080" y="3873"/>
            <a:ext cx="1143000" cy="722962"/>
          </a:xfrm>
          <a:prstGeom prst="rect">
            <a:avLst/>
          </a:prstGeom>
        </p:spPr>
      </p:pic>
      <p:pic>
        <p:nvPicPr>
          <p:cNvPr id="12" name="Picture 11"/>
          <p:cNvPicPr>
            <a:picLocks noChangeAspect="1"/>
          </p:cNvPicPr>
          <p:nvPr userDrawn="1"/>
        </p:nvPicPr>
        <p:blipFill>
          <a:blip r:embed="rId3" cstate="print"/>
          <a:stretch>
            <a:fillRect/>
          </a:stretch>
        </p:blipFill>
        <p:spPr>
          <a:xfrm>
            <a:off x="6863080" y="3873"/>
            <a:ext cx="1143000" cy="720555"/>
          </a:xfrm>
          <a:prstGeom prst="rect">
            <a:avLst/>
          </a:prstGeom>
        </p:spPr>
      </p:pic>
      <p:sp>
        <p:nvSpPr>
          <p:cNvPr id="13" name="Title 1"/>
          <p:cNvSpPr>
            <a:spLocks noGrp="1"/>
          </p:cNvSpPr>
          <p:nvPr>
            <p:ph type="title" hasCustomPrompt="1"/>
          </p:nvPr>
        </p:nvSpPr>
        <p:spPr>
          <a:xfrm>
            <a:off x="2440940" y="115013"/>
            <a:ext cx="4267200" cy="468312"/>
          </a:xfrm>
        </p:spPr>
        <p:txBody>
          <a:bodyPr/>
          <a:lstStyle>
            <a:lvl1pPr>
              <a:defRPr b="1" i="0" baseline="0">
                <a:solidFill>
                  <a:schemeClr val="bg1"/>
                </a:solidFill>
              </a:defRPr>
            </a:lvl1pPr>
          </a:lstStyle>
          <a:p>
            <a:r>
              <a:rPr lang="en-US" dirty="0"/>
              <a:t>Exercises</a:t>
            </a:r>
          </a:p>
        </p:txBody>
      </p:sp>
    </p:spTree>
    <p:extLst>
      <p:ext uri="{BB962C8B-B14F-4D97-AF65-F5344CB8AC3E}">
        <p14:creationId xmlns:p14="http://schemas.microsoft.com/office/powerpoint/2010/main" val="3947824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Big Section start">
    <p:bg>
      <p:bgPr>
        <a:solidFill>
          <a:srgbClr val="E1E1F7"/>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5233"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6" name="Title 1"/>
          <p:cNvSpPr>
            <a:spLocks noGrp="1"/>
          </p:cNvSpPr>
          <p:nvPr>
            <p:ph type="title"/>
          </p:nvPr>
        </p:nvSpPr>
        <p:spPr>
          <a:xfrm>
            <a:off x="534924" y="356616"/>
            <a:ext cx="7986568" cy="498610"/>
          </a:xfrm>
        </p:spPr>
        <p:txBody>
          <a:bodyPr rIns="91440"/>
          <a:lstStyle>
            <a:lvl1pPr>
              <a:defRPr baseline="0">
                <a:solidFill>
                  <a:schemeClr val="bg2"/>
                </a:solidFill>
              </a:defRPr>
            </a:lvl1pPr>
          </a:lstStyle>
          <a:p>
            <a:r>
              <a:rPr lang="en-US" dirty="0"/>
              <a:t>Click to edit Master title style</a:t>
            </a:r>
          </a:p>
        </p:txBody>
      </p:sp>
      <p:sp>
        <p:nvSpPr>
          <p:cNvPr id="5" name="Content Placeholder 4"/>
          <p:cNvSpPr>
            <a:spLocks noGrp="1"/>
          </p:cNvSpPr>
          <p:nvPr>
            <p:ph sz="quarter" idx="12"/>
          </p:nvPr>
        </p:nvSpPr>
        <p:spPr>
          <a:xfrm>
            <a:off x="548641" y="1188720"/>
            <a:ext cx="8085560" cy="5029200"/>
          </a:xfrm>
          <a:prstGeom prst="rect">
            <a:avLst/>
          </a:prstGeom>
          <a:noFill/>
        </p:spPr>
        <p:txBody>
          <a:bodyPr/>
          <a:lstStyle>
            <a:lvl1pPr marL="137160" indent="-137160">
              <a:spcBef>
                <a:spcPts val="450"/>
              </a:spcBef>
              <a:spcAft>
                <a:spcPts val="0"/>
              </a:spcAft>
              <a:buClr>
                <a:schemeClr val="tx2"/>
              </a:buClr>
              <a:defRPr sz="2800">
                <a:solidFill>
                  <a:schemeClr val="bg2"/>
                </a:solidFill>
              </a:defRPr>
            </a:lvl1pPr>
            <a:lvl2pPr marL="342900" indent="-137160">
              <a:spcBef>
                <a:spcPts val="450"/>
              </a:spcBef>
              <a:spcAft>
                <a:spcPts val="0"/>
              </a:spcAft>
              <a:buClr>
                <a:schemeClr val="tx1"/>
              </a:buClr>
              <a:defRPr sz="2800">
                <a:solidFill>
                  <a:schemeClr val="bg2"/>
                </a:solidFill>
              </a:defRPr>
            </a:lvl2pPr>
            <a:lvl3pPr marL="480060" indent="-137160">
              <a:spcBef>
                <a:spcPts val="450"/>
              </a:spcBef>
              <a:spcAft>
                <a:spcPts val="0"/>
              </a:spcAft>
              <a:buClr>
                <a:schemeClr val="tx1"/>
              </a:buClr>
              <a:defRPr sz="2400">
                <a:solidFill>
                  <a:schemeClr val="bg2"/>
                </a:solidFill>
              </a:defRPr>
            </a:lvl3pPr>
            <a:lvl4pPr marL="685800" indent="-137160">
              <a:spcBef>
                <a:spcPts val="450"/>
              </a:spcBef>
              <a:spcAft>
                <a:spcPts val="0"/>
              </a:spcAft>
              <a:buClr>
                <a:schemeClr val="tx1"/>
              </a:buClr>
              <a:buFont typeface="Arial" panose="020B0604020202020204" pitchFamily="34" charset="0"/>
              <a:buChar char="-"/>
              <a:defRPr sz="200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18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3"/>
          </p:nvPr>
        </p:nvSpPr>
        <p:spPr/>
        <p:txBody>
          <a:bodyPr/>
          <a:lstStyle>
            <a:lvl1pPr>
              <a:defRPr>
                <a:solidFill>
                  <a:schemeClr val="bg2"/>
                </a:solidFill>
              </a:defRPr>
            </a:lvl1pPr>
          </a:lstStyle>
          <a:p>
            <a:pPr>
              <a:defRPr/>
            </a:pPr>
            <a:fld id="{65C380C9-3062-4F1D-A521-BEC000498A55}" type="slidenum">
              <a:rPr lang="en-US" smtClean="0"/>
              <a:pPr>
                <a:defRPr/>
              </a:pPr>
              <a:t>‹#›</a:t>
            </a:fld>
            <a:endParaRPr lang="en-US" dirty="0"/>
          </a:p>
        </p:txBody>
      </p:sp>
    </p:spTree>
    <p:extLst>
      <p:ext uri="{BB962C8B-B14F-4D97-AF65-F5344CB8AC3E}">
        <p14:creationId xmlns:p14="http://schemas.microsoft.com/office/powerpoint/2010/main" val="308735742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imple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6257"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6" name="Title 1"/>
          <p:cNvSpPr>
            <a:spLocks noGrp="1"/>
          </p:cNvSpPr>
          <p:nvPr>
            <p:ph type="title"/>
          </p:nvPr>
        </p:nvSpPr>
        <p:spPr>
          <a:xfrm>
            <a:off x="534924" y="76200"/>
            <a:ext cx="7986568" cy="498610"/>
          </a:xfrm>
        </p:spPr>
        <p:txBody>
          <a:bodyPr rIns="91440"/>
          <a:lstStyle>
            <a:lvl1pPr>
              <a:defRPr baseline="0">
                <a:solidFill>
                  <a:schemeClr val="bg2"/>
                </a:solidFill>
              </a:defRPr>
            </a:lvl1pPr>
          </a:lstStyle>
          <a:p>
            <a:r>
              <a:rPr lang="en-US" dirty="0"/>
              <a:t>Click to edit Master title style</a:t>
            </a:r>
          </a:p>
        </p:txBody>
      </p:sp>
      <p:sp>
        <p:nvSpPr>
          <p:cNvPr id="5" name="Content Placeholder 4"/>
          <p:cNvSpPr>
            <a:spLocks noGrp="1"/>
          </p:cNvSpPr>
          <p:nvPr>
            <p:ph sz="quarter" idx="12"/>
          </p:nvPr>
        </p:nvSpPr>
        <p:spPr>
          <a:xfrm>
            <a:off x="548641" y="1188720"/>
            <a:ext cx="3909060" cy="5029200"/>
          </a:xfrm>
          <a:prstGeom prst="rect">
            <a:avLst/>
          </a:prstGeom>
        </p:spPr>
        <p:txBody>
          <a:bodyPr/>
          <a:lstStyle>
            <a:lvl1pPr marL="137160" indent="-137160">
              <a:spcBef>
                <a:spcPts val="450"/>
              </a:spcBef>
              <a:spcAft>
                <a:spcPts val="0"/>
              </a:spcAft>
              <a:buClr>
                <a:schemeClr val="tx2"/>
              </a:buClr>
              <a:defRPr>
                <a:solidFill>
                  <a:schemeClr val="bg2"/>
                </a:solidFill>
              </a:defRPr>
            </a:lvl1pPr>
            <a:lvl2pPr marL="342900" indent="-137160">
              <a:spcBef>
                <a:spcPts val="450"/>
              </a:spcBef>
              <a:spcAft>
                <a:spcPts val="0"/>
              </a:spcAft>
              <a:buClr>
                <a:schemeClr val="tx1"/>
              </a:buClr>
              <a:defRPr>
                <a:solidFill>
                  <a:schemeClr val="bg2"/>
                </a:solidFill>
              </a:defRPr>
            </a:lvl2pPr>
            <a:lvl3pPr marL="480060" indent="-137160">
              <a:spcBef>
                <a:spcPts val="450"/>
              </a:spcBef>
              <a:spcAft>
                <a:spcPts val="0"/>
              </a:spcAft>
              <a:buClr>
                <a:schemeClr val="tx1"/>
              </a:buClr>
              <a:defRPr>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4"/>
          <p:cNvSpPr>
            <a:spLocks noGrp="1"/>
          </p:cNvSpPr>
          <p:nvPr>
            <p:ph sz="quarter" idx="14"/>
          </p:nvPr>
        </p:nvSpPr>
        <p:spPr>
          <a:xfrm>
            <a:off x="4693126" y="1188720"/>
            <a:ext cx="3909060" cy="5029200"/>
          </a:xfrm>
          <a:prstGeom prst="rect">
            <a:avLst/>
          </a:prstGeom>
        </p:spPr>
        <p:txBody>
          <a:bodyPr/>
          <a:lstStyle>
            <a:lvl1pPr marL="137160" indent="-137160">
              <a:spcBef>
                <a:spcPts val="450"/>
              </a:spcBef>
              <a:spcAft>
                <a:spcPts val="0"/>
              </a:spcAft>
              <a:buClr>
                <a:schemeClr val="tx2"/>
              </a:buClr>
              <a:defRPr>
                <a:solidFill>
                  <a:schemeClr val="bg2"/>
                </a:solidFill>
              </a:defRPr>
            </a:lvl1pPr>
            <a:lvl2pPr marL="342900" indent="-137160">
              <a:spcBef>
                <a:spcPts val="450"/>
              </a:spcBef>
              <a:spcAft>
                <a:spcPts val="0"/>
              </a:spcAft>
              <a:buClr>
                <a:schemeClr val="tx1"/>
              </a:buClr>
              <a:defRPr>
                <a:solidFill>
                  <a:schemeClr val="bg2"/>
                </a:solidFill>
              </a:defRPr>
            </a:lvl2pPr>
            <a:lvl3pPr marL="480060" indent="-137160">
              <a:spcBef>
                <a:spcPts val="450"/>
              </a:spcBef>
              <a:spcAft>
                <a:spcPts val="0"/>
              </a:spcAft>
              <a:buClr>
                <a:schemeClr val="tx1"/>
              </a:buClr>
              <a:defRPr>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bwMode="auto">
          <a:xfrm>
            <a:off x="4572000" y="1299754"/>
            <a:ext cx="0" cy="4754880"/>
          </a:xfrm>
          <a:prstGeom prst="line">
            <a:avLst/>
          </a:prstGeom>
          <a:noFill/>
          <a:ln w="9525" cap="flat" cmpd="sng" algn="ctr">
            <a:solidFill>
              <a:schemeClr val="bg1">
                <a:lumMod val="65000"/>
              </a:schemeClr>
            </a:solidFill>
            <a:prstDash val="solid"/>
            <a:round/>
            <a:headEnd type="none" w="med" len="med"/>
            <a:tailEnd type="none" w="med" len="med"/>
          </a:ln>
          <a:effectLst/>
        </p:spPr>
      </p:cxnSp>
    </p:spTree>
    <p:extLst>
      <p:ext uri="{BB962C8B-B14F-4D97-AF65-F5344CB8AC3E}">
        <p14:creationId xmlns:p14="http://schemas.microsoft.com/office/powerpoint/2010/main" val="59044971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imple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7281"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6" name="Title 1"/>
          <p:cNvSpPr>
            <a:spLocks noGrp="1"/>
          </p:cNvSpPr>
          <p:nvPr>
            <p:ph type="title"/>
          </p:nvPr>
        </p:nvSpPr>
        <p:spPr>
          <a:xfrm>
            <a:off x="534924" y="76200"/>
            <a:ext cx="7986568" cy="498610"/>
          </a:xfrm>
        </p:spPr>
        <p:txBody>
          <a:bodyPr rIns="91440"/>
          <a:lstStyle>
            <a:lvl1pPr>
              <a:defRPr baseline="0">
                <a:solidFill>
                  <a:schemeClr val="bg2"/>
                </a:solidFill>
              </a:defRPr>
            </a:lvl1pPr>
          </a:lstStyle>
          <a:p>
            <a:r>
              <a:rPr lang="en-US" dirty="0"/>
              <a:t>Click to edit Master title style</a:t>
            </a:r>
          </a:p>
        </p:txBody>
      </p:sp>
      <p:sp>
        <p:nvSpPr>
          <p:cNvPr id="5" name="Content Placeholder 4"/>
          <p:cNvSpPr>
            <a:spLocks noGrp="1"/>
          </p:cNvSpPr>
          <p:nvPr>
            <p:ph sz="quarter" idx="12"/>
          </p:nvPr>
        </p:nvSpPr>
        <p:spPr>
          <a:xfrm>
            <a:off x="548641" y="1188721"/>
            <a:ext cx="3909060" cy="2338251"/>
          </a:xfrm>
          <a:prstGeom prst="rect">
            <a:avLst/>
          </a:prstGeom>
        </p:spPr>
        <p:txBody>
          <a:bodyPr/>
          <a:lstStyle>
            <a:lvl1pPr marL="137160" indent="-137160">
              <a:spcBef>
                <a:spcPts val="450"/>
              </a:spcBef>
              <a:spcAft>
                <a:spcPts val="0"/>
              </a:spcAft>
              <a:buClr>
                <a:schemeClr val="tx2"/>
              </a:buClr>
              <a:defRPr>
                <a:solidFill>
                  <a:schemeClr val="bg2"/>
                </a:solidFill>
              </a:defRPr>
            </a:lvl1pPr>
            <a:lvl2pPr marL="342900" indent="-137160">
              <a:spcBef>
                <a:spcPts val="450"/>
              </a:spcBef>
              <a:spcAft>
                <a:spcPts val="0"/>
              </a:spcAft>
              <a:buClr>
                <a:schemeClr val="tx1"/>
              </a:buClr>
              <a:defRPr>
                <a:solidFill>
                  <a:schemeClr val="bg2"/>
                </a:solidFill>
              </a:defRPr>
            </a:lvl2pPr>
            <a:lvl3pPr marL="480060" indent="-137160">
              <a:spcBef>
                <a:spcPts val="450"/>
              </a:spcBef>
              <a:spcAft>
                <a:spcPts val="0"/>
              </a:spcAft>
              <a:buClr>
                <a:schemeClr val="tx1"/>
              </a:buClr>
              <a:defRPr>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4"/>
          <p:cNvSpPr>
            <a:spLocks noGrp="1"/>
          </p:cNvSpPr>
          <p:nvPr>
            <p:ph sz="quarter" idx="14"/>
          </p:nvPr>
        </p:nvSpPr>
        <p:spPr>
          <a:xfrm>
            <a:off x="4693126" y="1188721"/>
            <a:ext cx="3909060" cy="2338251"/>
          </a:xfrm>
          <a:prstGeom prst="rect">
            <a:avLst/>
          </a:prstGeom>
        </p:spPr>
        <p:txBody>
          <a:bodyPr/>
          <a:lstStyle>
            <a:lvl1pPr marL="137160" indent="-137160">
              <a:spcBef>
                <a:spcPts val="450"/>
              </a:spcBef>
              <a:spcAft>
                <a:spcPts val="0"/>
              </a:spcAft>
              <a:buClr>
                <a:schemeClr val="tx2"/>
              </a:buClr>
              <a:defRPr>
                <a:solidFill>
                  <a:schemeClr val="bg2"/>
                </a:solidFill>
              </a:defRPr>
            </a:lvl1pPr>
            <a:lvl2pPr marL="342900" indent="-137160">
              <a:spcBef>
                <a:spcPts val="450"/>
              </a:spcBef>
              <a:spcAft>
                <a:spcPts val="0"/>
              </a:spcAft>
              <a:buClr>
                <a:schemeClr val="tx1"/>
              </a:buClr>
              <a:defRPr>
                <a:solidFill>
                  <a:schemeClr val="bg2"/>
                </a:solidFill>
              </a:defRPr>
            </a:lvl2pPr>
            <a:lvl3pPr marL="480060" indent="-137160">
              <a:spcBef>
                <a:spcPts val="450"/>
              </a:spcBef>
              <a:spcAft>
                <a:spcPts val="0"/>
              </a:spcAft>
              <a:buClr>
                <a:schemeClr val="tx1"/>
              </a:buClr>
              <a:defRPr>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p:cNvCxnSpPr/>
          <p:nvPr userDrawn="1"/>
        </p:nvCxnSpPr>
        <p:spPr bwMode="auto">
          <a:xfrm flipH="1">
            <a:off x="631201" y="3677194"/>
            <a:ext cx="7898606"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11" name="Content Placeholder 4"/>
          <p:cNvSpPr>
            <a:spLocks noGrp="1"/>
          </p:cNvSpPr>
          <p:nvPr>
            <p:ph sz="quarter" idx="15"/>
          </p:nvPr>
        </p:nvSpPr>
        <p:spPr>
          <a:xfrm>
            <a:off x="548641" y="3801292"/>
            <a:ext cx="3909060" cy="2338251"/>
          </a:xfrm>
          <a:prstGeom prst="rect">
            <a:avLst/>
          </a:prstGeom>
        </p:spPr>
        <p:txBody>
          <a:bodyPr/>
          <a:lstStyle>
            <a:lvl1pPr marL="137160" indent="-137160">
              <a:spcBef>
                <a:spcPts val="450"/>
              </a:spcBef>
              <a:spcAft>
                <a:spcPts val="0"/>
              </a:spcAft>
              <a:buClr>
                <a:schemeClr val="tx2"/>
              </a:buClr>
              <a:defRPr>
                <a:solidFill>
                  <a:schemeClr val="bg2"/>
                </a:solidFill>
              </a:defRPr>
            </a:lvl1pPr>
            <a:lvl2pPr marL="342900" indent="-137160">
              <a:spcBef>
                <a:spcPts val="450"/>
              </a:spcBef>
              <a:spcAft>
                <a:spcPts val="0"/>
              </a:spcAft>
              <a:buClr>
                <a:schemeClr val="tx1"/>
              </a:buClr>
              <a:defRPr>
                <a:solidFill>
                  <a:schemeClr val="bg2"/>
                </a:solidFill>
              </a:defRPr>
            </a:lvl2pPr>
            <a:lvl3pPr marL="480060" indent="-137160">
              <a:spcBef>
                <a:spcPts val="450"/>
              </a:spcBef>
              <a:spcAft>
                <a:spcPts val="0"/>
              </a:spcAft>
              <a:buClr>
                <a:schemeClr val="tx1"/>
              </a:buClr>
              <a:defRPr>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
          <p:cNvSpPr>
            <a:spLocks noGrp="1"/>
          </p:cNvSpPr>
          <p:nvPr>
            <p:ph sz="quarter" idx="16"/>
          </p:nvPr>
        </p:nvSpPr>
        <p:spPr>
          <a:xfrm>
            <a:off x="4693126" y="3801292"/>
            <a:ext cx="3909060" cy="2338251"/>
          </a:xfrm>
          <a:prstGeom prst="rect">
            <a:avLst/>
          </a:prstGeom>
        </p:spPr>
        <p:txBody>
          <a:bodyPr/>
          <a:lstStyle>
            <a:lvl1pPr marL="137160" indent="-137160">
              <a:spcBef>
                <a:spcPts val="450"/>
              </a:spcBef>
              <a:spcAft>
                <a:spcPts val="0"/>
              </a:spcAft>
              <a:buClr>
                <a:schemeClr val="tx2"/>
              </a:buClr>
              <a:defRPr>
                <a:solidFill>
                  <a:schemeClr val="bg2"/>
                </a:solidFill>
              </a:defRPr>
            </a:lvl1pPr>
            <a:lvl2pPr marL="342900" indent="-137160">
              <a:spcBef>
                <a:spcPts val="450"/>
              </a:spcBef>
              <a:spcAft>
                <a:spcPts val="0"/>
              </a:spcAft>
              <a:buClr>
                <a:schemeClr val="tx1"/>
              </a:buClr>
              <a:defRPr>
                <a:solidFill>
                  <a:schemeClr val="bg2"/>
                </a:solidFill>
              </a:defRPr>
            </a:lvl2pPr>
            <a:lvl3pPr marL="480060" indent="-137160">
              <a:spcBef>
                <a:spcPts val="450"/>
              </a:spcBef>
              <a:spcAft>
                <a:spcPts val="0"/>
              </a:spcAft>
              <a:buClr>
                <a:schemeClr val="tx1"/>
              </a:buClr>
              <a:defRPr>
                <a:solidFill>
                  <a:schemeClr val="bg2"/>
                </a:solidFill>
              </a:defRPr>
            </a:lvl3pPr>
            <a:lvl4pPr marL="685800" indent="-137160">
              <a:spcBef>
                <a:spcPts val="450"/>
              </a:spcBef>
              <a:spcAft>
                <a:spcPts val="0"/>
              </a:spcAft>
              <a:buClr>
                <a:schemeClr val="tx1"/>
              </a:buClr>
              <a:buFont typeface="Arial" panose="020B0604020202020204" pitchFamily="34" charset="0"/>
              <a:buChar char="-"/>
              <a:defRPr sz="1050">
                <a:solidFill>
                  <a:schemeClr val="bg2"/>
                </a:solidFill>
                <a:latin typeface="Arial" panose="020B0604020202020204" pitchFamily="34" charset="0"/>
                <a:cs typeface="Arial" panose="020B0604020202020204" pitchFamily="34" charset="0"/>
              </a:defRPr>
            </a:lvl4pPr>
            <a:lvl5pPr marL="822960" indent="-137160">
              <a:spcBef>
                <a:spcPts val="450"/>
              </a:spcBef>
              <a:spcAft>
                <a:spcPts val="0"/>
              </a:spcAft>
              <a:buClr>
                <a:schemeClr val="tx1"/>
              </a:buClr>
              <a:defRPr sz="900">
                <a:solidFill>
                  <a:schemeClr val="bg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p:cNvCxnSpPr/>
          <p:nvPr userDrawn="1"/>
        </p:nvCxnSpPr>
        <p:spPr bwMode="auto">
          <a:xfrm>
            <a:off x="4572000" y="1299754"/>
            <a:ext cx="0" cy="4754880"/>
          </a:xfrm>
          <a:prstGeom prst="line">
            <a:avLst/>
          </a:prstGeom>
          <a:noFill/>
          <a:ln w="9525" cap="flat" cmpd="sng" algn="ctr">
            <a:solidFill>
              <a:schemeClr val="bg1">
                <a:lumMod val="65000"/>
              </a:schemeClr>
            </a:solidFill>
            <a:prstDash val="solid"/>
            <a:round/>
            <a:headEnd type="none" w="med" len="med"/>
            <a:tailEnd type="none" w="med" len="med"/>
          </a:ln>
          <a:effectLst/>
        </p:spPr>
      </p:cxnSp>
    </p:spTree>
    <p:extLst>
      <p:ext uri="{BB962C8B-B14F-4D97-AF65-F5344CB8AC3E}">
        <p14:creationId xmlns:p14="http://schemas.microsoft.com/office/powerpoint/2010/main" val="211015740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9329"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192" y="1589"/>
                        <a:ext cx="1190" cy="1587"/>
                      </a:xfrm>
                      <a:prstGeom prst="rect">
                        <a:avLst/>
                      </a:prstGeom>
                    </p:spPr>
                  </p:pic>
                </p:oleObj>
              </mc:Fallback>
            </mc:AlternateContent>
          </a:graphicData>
        </a:graphic>
      </p:graphicFrame>
      <p:sp>
        <p:nvSpPr>
          <p:cNvPr id="2" name="Title 1"/>
          <p:cNvSpPr>
            <a:spLocks noGrp="1"/>
          </p:cNvSpPr>
          <p:nvPr>
            <p:ph type="title"/>
          </p:nvPr>
        </p:nvSpPr>
        <p:spPr>
          <a:xfrm>
            <a:off x="0" y="2119727"/>
            <a:ext cx="9144000" cy="498475"/>
          </a:xfrm>
        </p:spPr>
        <p:txBody>
          <a:bodyPr/>
          <a:lstStyle>
            <a:lvl1pPr algn="ctr">
              <a:defRPr sz="4000">
                <a:solidFill>
                  <a:schemeClr val="bg2"/>
                </a:solidFill>
              </a:defRPr>
            </a:lvl1pPr>
          </a:lstStyle>
          <a:p>
            <a:r>
              <a:rPr lang="en-US" dirty="0"/>
              <a:t>Click to edit Master title style</a:t>
            </a:r>
          </a:p>
        </p:txBody>
      </p:sp>
      <p:sp>
        <p:nvSpPr>
          <p:cNvPr id="5" name="Line 2">
            <a:extLst>
              <a:ext uri="{FF2B5EF4-FFF2-40B4-BE49-F238E27FC236}">
                <a16:creationId xmlns:a16="http://schemas.microsoft.com/office/drawing/2014/main" id="{451326DE-0A0A-4A9E-9EBE-532CB4A9A124}"/>
              </a:ext>
            </a:extLst>
          </p:cNvPr>
          <p:cNvSpPr>
            <a:spLocks noChangeShapeType="1"/>
          </p:cNvSpPr>
          <p:nvPr userDrawn="1"/>
        </p:nvSpPr>
        <p:spPr bwMode="auto">
          <a:xfrm>
            <a:off x="152400" y="762000"/>
            <a:ext cx="8686800" cy="0"/>
          </a:xfrm>
          <a:prstGeom prst="line">
            <a:avLst/>
          </a:prstGeom>
          <a:noFill/>
          <a:ln w="25400">
            <a:solidFill>
              <a:schemeClr val="bg1"/>
            </a:solidFill>
            <a:round/>
            <a:headEnd/>
            <a:tailEnd/>
          </a:ln>
        </p:spPr>
        <p:txBody>
          <a:bodyPr/>
          <a:lstStyle/>
          <a:p>
            <a:pPr>
              <a:defRPr/>
            </a:pPr>
            <a:endParaRPr lang="en-US"/>
          </a:p>
        </p:txBody>
      </p:sp>
    </p:spTree>
    <p:extLst>
      <p:ext uri="{BB962C8B-B14F-4D97-AF65-F5344CB8AC3E}">
        <p14:creationId xmlns:p14="http://schemas.microsoft.com/office/powerpoint/2010/main" val="3610115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imple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10353"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192" y="1589"/>
                        <a:ext cx="1190" cy="1587"/>
                      </a:xfrm>
                      <a:prstGeom prst="rect">
                        <a:avLst/>
                      </a:prstGeom>
                    </p:spPr>
                  </p:pic>
                </p:oleObj>
              </mc:Fallback>
            </mc:AlternateContent>
          </a:graphicData>
        </a:graphic>
      </p:graphicFrame>
      <p:pic>
        <p:nvPicPr>
          <p:cNvPr id="7" name="Picture 6" descr="Brand-Promise_editable_HORZ_ol.jpg"/>
          <p:cNvPicPr>
            <a:picLocks noChangeAspect="1"/>
          </p:cNvPicPr>
          <p:nvPr userDrawn="1"/>
        </p:nvPicPr>
        <p:blipFill rotWithShape="1">
          <a:blip r:embed="rId6" cstate="print">
            <a:extLst>
              <a:ext uri="{28A0092B-C50C-407E-A947-70E740481C1C}">
                <a14:useLocalDpi xmlns:a14="http://schemas.microsoft.com/office/drawing/2010/main"/>
              </a:ext>
            </a:extLst>
          </a:blip>
          <a:srcRect l="238" t="534" r="413" b="600"/>
          <a:stretch/>
        </p:blipFill>
        <p:spPr>
          <a:xfrm>
            <a:off x="0" y="-1"/>
            <a:ext cx="9144000" cy="6858001"/>
          </a:xfrm>
          <a:prstGeom prst="rect">
            <a:avLst/>
          </a:prstGeom>
          <a:noFill/>
          <a:ln>
            <a:noFill/>
          </a:ln>
        </p:spPr>
      </p:pic>
    </p:spTree>
    <p:extLst>
      <p:ext uri="{BB962C8B-B14F-4D97-AF65-F5344CB8AC3E}">
        <p14:creationId xmlns:p14="http://schemas.microsoft.com/office/powerpoint/2010/main" val="383163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0143F-9155-4D87-ACA1-0493DB468982}"/>
              </a:ext>
            </a:extLst>
          </p:cNvPr>
          <p:cNvSpPr>
            <a:spLocks noGrp="1"/>
          </p:cNvSpPr>
          <p:nvPr>
            <p:ph type="title"/>
          </p:nvPr>
        </p:nvSpPr>
        <p:spPr>
          <a:xfrm>
            <a:off x="530352" y="76200"/>
            <a:ext cx="7680960" cy="498475"/>
          </a:xfrm>
        </p:spPr>
        <p:txBody>
          <a:bodyPr/>
          <a:lstStyle/>
          <a:p>
            <a:r>
              <a:rPr lang="en-US" dirty="0"/>
              <a:t>Click to edit Master title style</a:t>
            </a:r>
          </a:p>
        </p:txBody>
      </p:sp>
      <p:sp>
        <p:nvSpPr>
          <p:cNvPr id="3" name="Rectangle 2">
            <a:extLst>
              <a:ext uri="{FF2B5EF4-FFF2-40B4-BE49-F238E27FC236}">
                <a16:creationId xmlns:a16="http://schemas.microsoft.com/office/drawing/2014/main" id="{031EC052-C970-4457-848B-6A4FA513B6D4}"/>
              </a:ext>
            </a:extLst>
          </p:cNvPr>
          <p:cNvSpPr/>
          <p:nvPr userDrawn="1"/>
        </p:nvSpPr>
        <p:spPr>
          <a:xfrm>
            <a:off x="1066800" y="1295400"/>
            <a:ext cx="4572000" cy="1938992"/>
          </a:xfrm>
          <a:prstGeom prst="rect">
            <a:avLst/>
          </a:prstGeo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98681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1CB0D4B-E761-4852-AF82-D74018328878}"/>
              </a:ext>
            </a:extLst>
          </p:cNvPr>
          <p:cNvSpPr>
            <a:spLocks noGrp="1"/>
          </p:cNvSpPr>
          <p:nvPr>
            <p:ph type="sldNum" sz="quarter" idx="10"/>
          </p:nvPr>
        </p:nvSpPr>
        <p:spPr>
          <a:xfrm>
            <a:off x="8732520" y="0"/>
            <a:ext cx="411480" cy="502920"/>
          </a:xfrm>
          <a:prstGeom prst="rect">
            <a:avLst/>
          </a:prstGeom>
        </p:spPr>
        <p:txBody>
          <a:bodyPr/>
          <a:lstStyle>
            <a:lvl1pPr>
              <a:defRPr>
                <a:solidFill>
                  <a:schemeClr val="bg1"/>
                </a:solidFill>
              </a:defRPr>
            </a:lvl1pPr>
          </a:lstStyle>
          <a:p>
            <a:pPr>
              <a:defRPr/>
            </a:pPr>
            <a:fld id="{E7709538-BB9A-4E8C-A50F-1F4EB6EDDBD2}" type="slidenum">
              <a:rPr lang="en-US" smtClean="0"/>
              <a:pPr>
                <a:defRPr/>
              </a:pPr>
              <a:t>‹#›</a:t>
            </a:fld>
            <a:endParaRPr lang="en-US" dirty="0"/>
          </a:p>
        </p:txBody>
      </p:sp>
    </p:spTree>
    <p:extLst>
      <p:ext uri="{BB962C8B-B14F-4D97-AF65-F5344CB8AC3E}">
        <p14:creationId xmlns:p14="http://schemas.microsoft.com/office/powerpoint/2010/main" val="3169892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5"/>
            </p:custDataLst>
          </p:nvPr>
        </p:nvGraphicFramePr>
        <p:xfrm>
          <a:off x="1192" y="1589"/>
          <a:ext cx="1190" cy="1587"/>
        </p:xfrm>
        <a:graphic>
          <a:graphicData uri="http://schemas.openxmlformats.org/presentationml/2006/ole">
            <mc:AlternateContent xmlns:mc="http://schemas.openxmlformats.org/markup-compatibility/2006">
              <mc:Choice xmlns:v="urn:schemas-microsoft-com:vml" Requires="v">
                <p:oleObj spid="_x0000_s1139" name="think-cell Slide" r:id="rId16" imgW="270" imgH="270" progId="TCLayout.ActiveDocument.1">
                  <p:embed/>
                </p:oleObj>
              </mc:Choice>
              <mc:Fallback>
                <p:oleObj name="think-cell Slide" r:id="rId16" imgW="270" imgH="270" progId="TCLayout.ActiveDocument.1">
                  <p:embed/>
                  <p:pic>
                    <p:nvPicPr>
                      <p:cNvPr id="6" name="Object 5" hidden="1"/>
                      <p:cNvPicPr/>
                      <p:nvPr/>
                    </p:nvPicPr>
                    <p:blipFill>
                      <a:blip r:embed="rId17"/>
                      <a:stretch>
                        <a:fillRect/>
                      </a:stretch>
                    </p:blipFill>
                    <p:spPr>
                      <a:xfrm>
                        <a:off x="1192" y="1589"/>
                        <a:ext cx="1190" cy="1587"/>
                      </a:xfrm>
                      <a:prstGeom prst="rect">
                        <a:avLst/>
                      </a:prstGeom>
                    </p:spPr>
                  </p:pic>
                </p:oleObj>
              </mc:Fallback>
            </mc:AlternateContent>
          </a:graphicData>
        </a:graphic>
      </p:graphicFrame>
      <p:grpSp>
        <p:nvGrpSpPr>
          <p:cNvPr id="2" name="Group 1"/>
          <p:cNvGrpSpPr/>
          <p:nvPr userDrawn="1"/>
        </p:nvGrpSpPr>
        <p:grpSpPr>
          <a:xfrm>
            <a:off x="-235267" y="-311099"/>
            <a:ext cx="9610963" cy="7477866"/>
            <a:chOff x="-313689" y="-311099"/>
            <a:chExt cx="12814617" cy="7477866"/>
          </a:xfrm>
        </p:grpSpPr>
        <p:grpSp>
          <p:nvGrpSpPr>
            <p:cNvPr id="5" name="Group 4"/>
            <p:cNvGrpSpPr/>
            <p:nvPr userDrawn="1"/>
          </p:nvGrpSpPr>
          <p:grpSpPr>
            <a:xfrm>
              <a:off x="-313689" y="1297123"/>
              <a:ext cx="182881" cy="4762033"/>
              <a:chOff x="-186689" y="1297123"/>
              <a:chExt cx="182881" cy="4762033"/>
            </a:xfrm>
          </p:grpSpPr>
          <p:cxnSp>
            <p:nvCxnSpPr>
              <p:cNvPr id="15" name="Straight Connector 14"/>
              <p:cNvCxnSpPr>
                <a:cxnSpLocks/>
              </p:cNvCxnSpPr>
              <p:nvPr userDrawn="1"/>
            </p:nvCxnSpPr>
            <p:spPr>
              <a:xfrm rot="16200000">
                <a:off x="-95248" y="5967716"/>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cxnSpLocks/>
              </p:cNvCxnSpPr>
              <p:nvPr userDrawn="1"/>
            </p:nvCxnSpPr>
            <p:spPr>
              <a:xfrm rot="16200000">
                <a:off x="-95249" y="1205683"/>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4" name="Group 3"/>
            <p:cNvGrpSpPr/>
            <p:nvPr userDrawn="1"/>
          </p:nvGrpSpPr>
          <p:grpSpPr>
            <a:xfrm>
              <a:off x="833437" y="-311099"/>
              <a:ext cx="10529888" cy="182880"/>
              <a:chOff x="833437" y="-184099"/>
              <a:chExt cx="10529888" cy="182880"/>
            </a:xfrm>
          </p:grpSpPr>
          <p:cxnSp>
            <p:nvCxnSpPr>
              <p:cNvPr id="13" name="Straight Connector 12"/>
              <p:cNvCxnSpPr/>
              <p:nvPr userDrawn="1"/>
            </p:nvCxnSpPr>
            <p:spPr>
              <a:xfrm>
                <a:off x="11363325" y="-184099"/>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833437" y="-184099"/>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userDrawn="1"/>
          </p:nvGrpSpPr>
          <p:grpSpPr>
            <a:xfrm>
              <a:off x="12318047" y="1297123"/>
              <a:ext cx="182881" cy="4762033"/>
              <a:chOff x="-186689" y="1297123"/>
              <a:chExt cx="182881" cy="4762033"/>
            </a:xfrm>
          </p:grpSpPr>
          <p:cxnSp>
            <p:nvCxnSpPr>
              <p:cNvPr id="19" name="Straight Connector 18"/>
              <p:cNvCxnSpPr>
                <a:cxnSpLocks/>
              </p:cNvCxnSpPr>
              <p:nvPr userDrawn="1"/>
            </p:nvCxnSpPr>
            <p:spPr>
              <a:xfrm rot="16200000">
                <a:off x="-95248" y="5967716"/>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a:cxnSpLocks/>
              </p:cNvCxnSpPr>
              <p:nvPr userDrawn="1"/>
            </p:nvCxnSpPr>
            <p:spPr>
              <a:xfrm rot="16200000">
                <a:off x="-95249" y="1205683"/>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21" name="Group 20"/>
            <p:cNvGrpSpPr/>
            <p:nvPr userDrawn="1"/>
          </p:nvGrpSpPr>
          <p:grpSpPr>
            <a:xfrm>
              <a:off x="833437" y="6983887"/>
              <a:ext cx="10529888" cy="182880"/>
              <a:chOff x="833437" y="-184099"/>
              <a:chExt cx="10529888" cy="182880"/>
            </a:xfrm>
          </p:grpSpPr>
          <p:cxnSp>
            <p:nvCxnSpPr>
              <p:cNvPr id="22" name="Straight Connector 21"/>
              <p:cNvCxnSpPr/>
              <p:nvPr userDrawn="1"/>
            </p:nvCxnSpPr>
            <p:spPr>
              <a:xfrm>
                <a:off x="11363325" y="-184099"/>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833437" y="-184099"/>
                <a:ext cx="0" cy="182880"/>
              </a:xfrm>
              <a:prstGeom prst="line">
                <a:avLst/>
              </a:prstGeom>
              <a:ln w="317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grpSp>
      <p:pic>
        <p:nvPicPr>
          <p:cNvPr id="3" name="Picture 2"/>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7786398" y="1"/>
            <a:ext cx="1357603" cy="1810137"/>
          </a:xfrm>
          <a:prstGeom prst="rect">
            <a:avLst/>
          </a:prstGeom>
        </p:spPr>
      </p:pic>
      <p:sp>
        <p:nvSpPr>
          <p:cNvPr id="3075" name="Title Placeholder 1"/>
          <p:cNvSpPr>
            <a:spLocks noGrp="1"/>
          </p:cNvSpPr>
          <p:nvPr>
            <p:ph type="title"/>
          </p:nvPr>
        </p:nvSpPr>
        <p:spPr bwMode="auto">
          <a:xfrm>
            <a:off x="534592" y="76200"/>
            <a:ext cx="7860506" cy="498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title style</a:t>
            </a:r>
          </a:p>
        </p:txBody>
      </p:sp>
      <p:sp>
        <p:nvSpPr>
          <p:cNvPr id="25" name="Line 2">
            <a:extLst>
              <a:ext uri="{FF2B5EF4-FFF2-40B4-BE49-F238E27FC236}">
                <a16:creationId xmlns:a16="http://schemas.microsoft.com/office/drawing/2014/main" id="{32BEF2FF-260D-4A9F-86CE-9B00E4A41CAE}"/>
              </a:ext>
            </a:extLst>
          </p:cNvPr>
          <p:cNvSpPr>
            <a:spLocks noChangeShapeType="1"/>
          </p:cNvSpPr>
          <p:nvPr userDrawn="1"/>
        </p:nvSpPr>
        <p:spPr bwMode="auto">
          <a:xfrm>
            <a:off x="152400" y="762000"/>
            <a:ext cx="8686800" cy="0"/>
          </a:xfrm>
          <a:prstGeom prst="line">
            <a:avLst/>
          </a:prstGeom>
          <a:noFill/>
          <a:ln w="25400">
            <a:solidFill>
              <a:schemeClr val="bg1">
                <a:lumMod val="75000"/>
              </a:schemeClr>
            </a:solidFill>
            <a:round/>
            <a:headEnd/>
            <a:tailEnd/>
          </a:ln>
        </p:spPr>
        <p:txBody>
          <a:bodyPr/>
          <a:lstStyle/>
          <a:p>
            <a:pPr>
              <a:defRPr/>
            </a:pPr>
            <a:endParaRPr lang="en-US"/>
          </a:p>
        </p:txBody>
      </p:sp>
      <p:sp>
        <p:nvSpPr>
          <p:cNvPr id="27" name="Rectangle 23">
            <a:extLst>
              <a:ext uri="{FF2B5EF4-FFF2-40B4-BE49-F238E27FC236}">
                <a16:creationId xmlns:a16="http://schemas.microsoft.com/office/drawing/2014/main" id="{0CBE57ED-5D64-48F6-9C8C-8683A154F064}"/>
              </a:ext>
            </a:extLst>
          </p:cNvPr>
          <p:cNvSpPr>
            <a:spLocks noChangeArrowheads="1"/>
          </p:cNvSpPr>
          <p:nvPr userDrawn="1"/>
        </p:nvSpPr>
        <p:spPr bwMode="auto">
          <a:xfrm>
            <a:off x="8802062" y="109993"/>
            <a:ext cx="309700" cy="215444"/>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fld id="{C05CE228-874B-4B88-8E7B-BE8A2097705B}" type="slidenum">
              <a:rPr lang="en-US" sz="800" smtClean="0">
                <a:solidFill>
                  <a:schemeClr val="bg1"/>
                </a:solidFill>
              </a:rPr>
              <a:pPr/>
              <a:t>‹#›</a:t>
            </a:fld>
            <a:endParaRPr lang="en-US" altLang="en-US" sz="525" dirty="0">
              <a:solidFill>
                <a:schemeClr val="bg1"/>
              </a:solidFill>
              <a:cs typeface="Arial" panose="020B0604020202020204" pitchFamily="34" charset="0"/>
            </a:endParaRPr>
          </a:p>
        </p:txBody>
      </p:sp>
    </p:spTree>
    <p:extLst>
      <p:ext uri="{BB962C8B-B14F-4D97-AF65-F5344CB8AC3E}">
        <p14:creationId xmlns:p14="http://schemas.microsoft.com/office/powerpoint/2010/main" val="3221592387"/>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717" r:id="rId3"/>
    <p:sldLayoutId id="2147483720" r:id="rId4"/>
    <p:sldLayoutId id="2147483718" r:id="rId5"/>
    <p:sldLayoutId id="2147483719" r:id="rId6"/>
    <p:sldLayoutId id="2147483681" r:id="rId7"/>
    <p:sldLayoutId id="2147483682" r:id="rId8"/>
    <p:sldLayoutId id="2147483684" r:id="rId9"/>
    <p:sldLayoutId id="2147483685" r:id="rId10"/>
    <p:sldLayoutId id="2147483706" r:id="rId11"/>
    <p:sldLayoutId id="2147483721" r:id="rId12"/>
  </p:sldLayoutIdLst>
  <p:hf hdr="0" ftr="0" dt="0"/>
  <p:txStyles>
    <p:titleStyle>
      <a:lvl1pPr algn="l" defTabSz="342900" rtl="0" eaLnBrk="0" fontAlgn="base" hangingPunct="0">
        <a:spcBef>
          <a:spcPct val="0"/>
        </a:spcBef>
        <a:spcAft>
          <a:spcPct val="0"/>
        </a:spcAft>
        <a:defRPr lang="en-US" sz="3200" b="1" kern="1200" dirty="0">
          <a:solidFill>
            <a:schemeClr val="bg2"/>
          </a:solidFill>
          <a:latin typeface="Arial" pitchFamily="34" charset="0"/>
          <a:ea typeface="Arial" charset="0"/>
          <a:cs typeface="Arial" pitchFamily="34" charset="0"/>
        </a:defRPr>
      </a:lvl1pPr>
      <a:lvl2pPr algn="l" defTabSz="342900" rtl="0" eaLnBrk="0" fontAlgn="base" hangingPunct="0">
        <a:spcBef>
          <a:spcPct val="0"/>
        </a:spcBef>
        <a:spcAft>
          <a:spcPct val="0"/>
        </a:spcAft>
        <a:defRPr sz="2100" b="1">
          <a:solidFill>
            <a:schemeClr val="tx1"/>
          </a:solidFill>
          <a:latin typeface="Arial" panose="020B0604020202020204" pitchFamily="34" charset="0"/>
          <a:ea typeface="Arial" charset="0"/>
          <a:cs typeface="Arial" panose="020B0604020202020204" pitchFamily="34" charset="0"/>
        </a:defRPr>
      </a:lvl2pPr>
      <a:lvl3pPr algn="l" defTabSz="342900" rtl="0" eaLnBrk="0" fontAlgn="base" hangingPunct="0">
        <a:spcBef>
          <a:spcPct val="0"/>
        </a:spcBef>
        <a:spcAft>
          <a:spcPct val="0"/>
        </a:spcAft>
        <a:defRPr sz="2100" b="1">
          <a:solidFill>
            <a:schemeClr val="tx1"/>
          </a:solidFill>
          <a:latin typeface="Arial" panose="020B0604020202020204" pitchFamily="34" charset="0"/>
          <a:ea typeface="Arial" charset="0"/>
          <a:cs typeface="Arial" panose="020B0604020202020204" pitchFamily="34" charset="0"/>
        </a:defRPr>
      </a:lvl3pPr>
      <a:lvl4pPr algn="l" defTabSz="342900" rtl="0" eaLnBrk="0" fontAlgn="base" hangingPunct="0">
        <a:spcBef>
          <a:spcPct val="0"/>
        </a:spcBef>
        <a:spcAft>
          <a:spcPct val="0"/>
        </a:spcAft>
        <a:defRPr sz="2100" b="1">
          <a:solidFill>
            <a:schemeClr val="tx1"/>
          </a:solidFill>
          <a:latin typeface="Arial" panose="020B0604020202020204" pitchFamily="34" charset="0"/>
          <a:ea typeface="Arial" charset="0"/>
          <a:cs typeface="Arial" panose="020B0604020202020204" pitchFamily="34" charset="0"/>
        </a:defRPr>
      </a:lvl4pPr>
      <a:lvl5pPr algn="l" defTabSz="342900" rtl="0" eaLnBrk="0" fontAlgn="base" hangingPunct="0">
        <a:spcBef>
          <a:spcPct val="0"/>
        </a:spcBef>
        <a:spcAft>
          <a:spcPct val="0"/>
        </a:spcAft>
        <a:defRPr sz="2100" b="1">
          <a:solidFill>
            <a:schemeClr val="tx1"/>
          </a:solidFill>
          <a:latin typeface="Arial" panose="020B0604020202020204" pitchFamily="34" charset="0"/>
          <a:ea typeface="Arial" charset="0"/>
          <a:cs typeface="Arial" panose="020B0604020202020204" pitchFamily="34" charset="0"/>
        </a:defRPr>
      </a:lvl5pPr>
      <a:lvl6pPr marL="342900" algn="l" defTabSz="342900" rtl="0" fontAlgn="base">
        <a:spcBef>
          <a:spcPct val="0"/>
        </a:spcBef>
        <a:spcAft>
          <a:spcPct val="0"/>
        </a:spcAft>
        <a:defRPr sz="1800" b="1">
          <a:solidFill>
            <a:schemeClr val="tx1"/>
          </a:solidFill>
          <a:latin typeface="Arial" panose="020B0604020202020204" pitchFamily="34" charset="0"/>
          <a:cs typeface="Arial" panose="020B0604020202020204" pitchFamily="34" charset="0"/>
        </a:defRPr>
      </a:lvl6pPr>
      <a:lvl7pPr marL="685800" algn="l" defTabSz="342900" rtl="0" fontAlgn="base">
        <a:spcBef>
          <a:spcPct val="0"/>
        </a:spcBef>
        <a:spcAft>
          <a:spcPct val="0"/>
        </a:spcAft>
        <a:defRPr sz="1800" b="1">
          <a:solidFill>
            <a:schemeClr val="tx1"/>
          </a:solidFill>
          <a:latin typeface="Arial" panose="020B0604020202020204" pitchFamily="34" charset="0"/>
          <a:cs typeface="Arial" panose="020B0604020202020204" pitchFamily="34" charset="0"/>
        </a:defRPr>
      </a:lvl7pPr>
      <a:lvl8pPr marL="1028700" algn="l" defTabSz="342900" rtl="0" fontAlgn="base">
        <a:spcBef>
          <a:spcPct val="0"/>
        </a:spcBef>
        <a:spcAft>
          <a:spcPct val="0"/>
        </a:spcAft>
        <a:defRPr sz="1800" b="1">
          <a:solidFill>
            <a:schemeClr val="tx1"/>
          </a:solidFill>
          <a:latin typeface="Arial" panose="020B0604020202020204" pitchFamily="34" charset="0"/>
          <a:cs typeface="Arial" panose="020B0604020202020204" pitchFamily="34" charset="0"/>
        </a:defRPr>
      </a:lvl8pPr>
      <a:lvl9pPr marL="1371600" algn="l" defTabSz="342900" rtl="0" fontAlgn="base">
        <a:spcBef>
          <a:spcPct val="0"/>
        </a:spcBef>
        <a:spcAft>
          <a:spcPct val="0"/>
        </a:spcAft>
        <a:defRPr sz="1800" b="1">
          <a:solidFill>
            <a:schemeClr val="tx1"/>
          </a:solidFill>
          <a:latin typeface="Arial" panose="020B0604020202020204" pitchFamily="34" charset="0"/>
          <a:cs typeface="Arial" panose="020B0604020202020204" pitchFamily="34" charset="0"/>
        </a:defRPr>
      </a:lvl9pPr>
    </p:titleStyle>
    <p:bodyStyle>
      <a:lvl1pPr marL="127397" indent="-127397" algn="l" defTabSz="342900" rtl="0" eaLnBrk="0" fontAlgn="base" hangingPunct="0">
        <a:spcBef>
          <a:spcPct val="20000"/>
        </a:spcBef>
        <a:spcAft>
          <a:spcPct val="0"/>
        </a:spcAft>
        <a:buClr>
          <a:srgbClr val="C00000"/>
        </a:buClr>
        <a:buFont typeface="Arial" panose="020B0604020202020204" pitchFamily="34" charset="0"/>
        <a:buChar char="•"/>
        <a:defRPr sz="1500" kern="1200">
          <a:solidFill>
            <a:schemeClr val="tx1"/>
          </a:solidFill>
          <a:latin typeface="Arial" pitchFamily="34" charset="0"/>
          <a:ea typeface="Arial" charset="0"/>
          <a:cs typeface="Arial" pitchFamily="34" charset="0"/>
        </a:defRPr>
      </a:lvl1pPr>
      <a:lvl2pPr marL="470297" indent="-127397"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813197" indent="-127397" algn="l" defTabSz="342900" rtl="0" eaLnBrk="0" fontAlgn="base" hangingPunct="0">
        <a:spcBef>
          <a:spcPct val="20000"/>
        </a:spcBef>
        <a:spcAft>
          <a:spcPct val="0"/>
        </a:spcAft>
        <a:buClr>
          <a:srgbClr val="7F7F7F"/>
        </a:buClr>
        <a:buSzPct val="90000"/>
        <a:buFont typeface="Wingdings" panose="05000000000000000000" pitchFamily="2" charset="2"/>
        <a:buChar char="§"/>
        <a:defRPr sz="1200" kern="1200">
          <a:solidFill>
            <a:schemeClr val="tx1"/>
          </a:solidFill>
          <a:latin typeface="Arial" pitchFamily="34" charset="0"/>
          <a:ea typeface="Arial" charset="0"/>
          <a:cs typeface="Arial" pitchFamily="34" charset="0"/>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Helvetica Neue"/>
          <a:ea typeface="Helvetica Neue"/>
          <a:cs typeface="Helvetica Neue"/>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Helvetica Neue"/>
          <a:ea typeface="Helvetica Neue"/>
          <a:cs typeface="Helvetica Neue"/>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cid:image005.jpg@01D614D1.AE266300" TargetMode="External"/><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1.png"/><Relationship Id="rId18" Type="http://schemas.openxmlformats.org/officeDocument/2006/relationships/image" Target="../media/image55.png"/><Relationship Id="rId3" Type="http://schemas.openxmlformats.org/officeDocument/2006/relationships/hyperlink" Target="https://www.google.ca/imgres?imgurl=http://www.iconexperience.com/_img/o_collection_png/green_dark_grey/512x512/plain/table.png&amp;imgrefurl=http://www.iconexperience.com/o_collection/icons/?icon=table&amp;docid=vYuOB5qTDmmmdM&amp;tbnid=XUSiqaeNjGrVCM&amp;w=512&amp;h=512&amp;ei=P38IVNC6IaGBiwKdtYGQBw&amp;ved=0CAcQxiAwBQ&amp;iact=c" TargetMode="External"/><Relationship Id="rId7" Type="http://schemas.openxmlformats.org/officeDocument/2006/relationships/hyperlink" Target="http://openclipart.org/detail/163711/database-server-by-lyte" TargetMode="External"/><Relationship Id="rId12" Type="http://schemas.openxmlformats.org/officeDocument/2006/relationships/image" Target="../media/image50.png"/><Relationship Id="rId17" Type="http://schemas.openxmlformats.org/officeDocument/2006/relationships/image" Target="../media/image54.png"/><Relationship Id="rId2" Type="http://schemas.openxmlformats.org/officeDocument/2006/relationships/notesSlide" Target="../notesSlides/notesSlide25.xml"/><Relationship Id="rId16"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hyperlink" Target="http://openclipart.org/people/Anonymous/Anonymous_thin_client.svg" TargetMode="External"/><Relationship Id="rId5" Type="http://schemas.openxmlformats.org/officeDocument/2006/relationships/hyperlink" Target="http://openclipart.org/detail/155101/server-by-saisyukusanagi" TargetMode="External"/><Relationship Id="rId15" Type="http://schemas.openxmlformats.org/officeDocument/2006/relationships/hyperlink" Target="http://www.google.ca/url?sa=i&amp;rct=j&amp;q=&amp;esrc=s&amp;frm=1&amp;source=images&amp;cd=&amp;cad=rja&amp;uact=8&amp;docid=T8rcZZqjO-Iz7M&amp;tbnid=k-W-Y7x5cKLgXM:&amp;ved=0CAUQjRw&amp;url=http://www.standard-icons.com/stock-icons/standard-toolbar/text_file.htm&amp;ei=-LsJVL-BEoa2ogTI1YCADQ&amp;bvm=bv.74649129,d.cGU&amp;psig=AFQjCNFISGWx_4pfdobIizg7XpxiIiAtiQ&amp;ust=1410010486469623" TargetMode="External"/><Relationship Id="rId10" Type="http://schemas.openxmlformats.org/officeDocument/2006/relationships/image" Target="../media/image49.png"/><Relationship Id="rId19" Type="http://schemas.openxmlformats.org/officeDocument/2006/relationships/image" Target="../media/image56.png"/><Relationship Id="rId4" Type="http://schemas.openxmlformats.org/officeDocument/2006/relationships/image" Target="../media/image46.jpeg"/><Relationship Id="rId9" Type="http://schemas.openxmlformats.org/officeDocument/2006/relationships/hyperlink" Target="http://openclipart.org/detail/163717/file-server-by-lyte" TargetMode="External"/><Relationship Id="rId14" Type="http://schemas.openxmlformats.org/officeDocument/2006/relationships/image" Target="../media/image52.png"/></Relationships>
</file>

<file path=ppt/slides/_rels/slide57.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1.png"/><Relationship Id="rId18" Type="http://schemas.openxmlformats.org/officeDocument/2006/relationships/image" Target="../media/image55.png"/><Relationship Id="rId3" Type="http://schemas.openxmlformats.org/officeDocument/2006/relationships/hyperlink" Target="https://www.google.ca/imgres?imgurl=http://www.iconexperience.com/_img/o_collection_png/green_dark_grey/512x512/plain/table.png&amp;imgrefurl=http://www.iconexperience.com/o_collection/icons/?icon=table&amp;docid=vYuOB5qTDmmmdM&amp;tbnid=XUSiqaeNjGrVCM&amp;w=512&amp;h=512&amp;ei=P38IVNC6IaGBiwKdtYGQBw&amp;ved=0CAcQxiAwBQ&amp;iact=c" TargetMode="External"/><Relationship Id="rId7" Type="http://schemas.openxmlformats.org/officeDocument/2006/relationships/hyperlink" Target="http://openclipart.org/detail/163711/database-server-by-lyte" TargetMode="External"/><Relationship Id="rId12" Type="http://schemas.openxmlformats.org/officeDocument/2006/relationships/image" Target="../media/image50.png"/><Relationship Id="rId17" Type="http://schemas.openxmlformats.org/officeDocument/2006/relationships/image" Target="../media/image54.png"/><Relationship Id="rId2" Type="http://schemas.openxmlformats.org/officeDocument/2006/relationships/notesSlide" Target="../notesSlides/notesSlide26.xml"/><Relationship Id="rId16" Type="http://schemas.openxmlformats.org/officeDocument/2006/relationships/image" Target="../media/image53.png"/><Relationship Id="rId20"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hyperlink" Target="http://openclipart.org/people/Anonymous/Anonymous_thin_client.svg" TargetMode="External"/><Relationship Id="rId5" Type="http://schemas.openxmlformats.org/officeDocument/2006/relationships/hyperlink" Target="http://openclipart.org/detail/155101/server-by-saisyukusanagi" TargetMode="External"/><Relationship Id="rId15" Type="http://schemas.openxmlformats.org/officeDocument/2006/relationships/hyperlink" Target="http://www.google.ca/url?sa=i&amp;rct=j&amp;q=&amp;esrc=s&amp;frm=1&amp;source=images&amp;cd=&amp;cad=rja&amp;uact=8&amp;docid=T8rcZZqjO-Iz7M&amp;tbnid=k-W-Y7x5cKLgXM:&amp;ved=0CAUQjRw&amp;url=http://www.standard-icons.com/stock-icons/standard-toolbar/text_file.htm&amp;ei=-LsJVL-BEoa2ogTI1YCADQ&amp;bvm=bv.74649129,d.cGU&amp;psig=AFQjCNFISGWx_4pfdobIizg7XpxiIiAtiQ&amp;ust=1410010486469623" TargetMode="External"/><Relationship Id="rId10" Type="http://schemas.openxmlformats.org/officeDocument/2006/relationships/image" Target="../media/image49.png"/><Relationship Id="rId19" Type="http://schemas.openxmlformats.org/officeDocument/2006/relationships/image" Target="../media/image56.png"/><Relationship Id="rId4" Type="http://schemas.openxmlformats.org/officeDocument/2006/relationships/image" Target="../media/image46.jpeg"/><Relationship Id="rId9" Type="http://schemas.openxmlformats.org/officeDocument/2006/relationships/hyperlink" Target="http://openclipart.org/detail/163717/file-server-by-lyte" TargetMode="External"/><Relationship Id="rId14" Type="http://schemas.openxmlformats.org/officeDocument/2006/relationships/image" Target="../media/image52.png"/></Relationships>
</file>

<file path=ppt/slides/_rels/slide5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35.jpeg"/></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35.jpe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6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0.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ChangeArrowheads="1"/>
          </p:cNvSpPr>
          <p:nvPr/>
        </p:nvSpPr>
        <p:spPr bwMode="auto">
          <a:xfrm>
            <a:off x="685800" y="1087438"/>
            <a:ext cx="7772400" cy="1905000"/>
          </a:xfrm>
          <a:prstGeom prst="rect">
            <a:avLst/>
          </a:prstGeom>
          <a:noFill/>
          <a:ln w="12700">
            <a:noFill/>
            <a:miter lim="800000"/>
            <a:headEnd/>
            <a:tailEnd/>
          </a:ln>
        </p:spPr>
        <p:txBody>
          <a:bodyPr lIns="90488" tIns="44450" rIns="90488" bIns="44450"/>
          <a:lstStyle/>
          <a:p>
            <a:pPr algn="ctr"/>
            <a:endParaRPr lang="en-US" sz="4400" dirty="0">
              <a:solidFill>
                <a:schemeClr val="tx2"/>
              </a:solidFill>
            </a:endParaRPr>
          </a:p>
        </p:txBody>
      </p:sp>
      <p:sp>
        <p:nvSpPr>
          <p:cNvPr id="4100" name="Rectangle 5"/>
          <p:cNvSpPr>
            <a:spLocks noChangeArrowheads="1"/>
          </p:cNvSpPr>
          <p:nvPr/>
        </p:nvSpPr>
        <p:spPr bwMode="auto">
          <a:xfrm>
            <a:off x="1866900" y="5799932"/>
            <a:ext cx="5410200" cy="1220787"/>
          </a:xfrm>
          <a:prstGeom prst="rect">
            <a:avLst/>
          </a:prstGeom>
          <a:noFill/>
          <a:ln w="12700">
            <a:noFill/>
            <a:miter lim="800000"/>
            <a:headEnd/>
            <a:tailEnd/>
          </a:ln>
        </p:spPr>
        <p:txBody>
          <a:bodyPr lIns="90488" tIns="44450" rIns="90488" bIns="44450"/>
          <a:lstStyle/>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By</a:t>
            </a:r>
          </a:p>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Barbara Schubert</a:t>
            </a:r>
          </a:p>
        </p:txBody>
      </p:sp>
      <p:sp>
        <p:nvSpPr>
          <p:cNvPr id="6" name="Rectangle 3"/>
          <p:cNvSpPr>
            <a:spLocks noChangeArrowheads="1"/>
          </p:cNvSpPr>
          <p:nvPr/>
        </p:nvSpPr>
        <p:spPr bwMode="auto">
          <a:xfrm>
            <a:off x="533400" y="762000"/>
            <a:ext cx="7997825" cy="1447800"/>
          </a:xfrm>
          <a:prstGeom prst="rect">
            <a:avLst/>
          </a:prstGeom>
          <a:noFill/>
          <a:ln w="12700">
            <a:noFill/>
            <a:miter lim="800000"/>
            <a:headEnd/>
            <a:tailEnd/>
          </a:ln>
        </p:spPr>
        <p:txBody>
          <a:bodyPr lIns="90488" tIns="44450" rIns="90488" bIns="44450"/>
          <a:lstStyle/>
          <a:p>
            <a:pPr algn="ctr"/>
            <a:endParaRPr lang="en-US" sz="4400" b="1" dirty="0">
              <a:solidFill>
                <a:schemeClr val="tx2"/>
              </a:solidFill>
              <a:latin typeface="Arial" panose="020B0604020202020204" pitchFamily="34" charset="0"/>
              <a:cs typeface="Arial" panose="020B0604020202020204" pitchFamily="34" charset="0"/>
            </a:endParaRPr>
          </a:p>
        </p:txBody>
      </p:sp>
      <p:sp>
        <p:nvSpPr>
          <p:cNvPr id="5" name="Title 4">
            <a:extLst>
              <a:ext uri="{FF2B5EF4-FFF2-40B4-BE49-F238E27FC236}">
                <a16:creationId xmlns:a16="http://schemas.microsoft.com/office/drawing/2014/main" id="{FF2364C8-423F-46FA-95D6-664C2353B7C5}"/>
              </a:ext>
            </a:extLst>
          </p:cNvPr>
          <p:cNvSpPr>
            <a:spLocks noGrp="1"/>
          </p:cNvSpPr>
          <p:nvPr>
            <p:ph type="title"/>
          </p:nvPr>
        </p:nvSpPr>
        <p:spPr>
          <a:xfrm>
            <a:off x="0" y="233264"/>
            <a:ext cx="9144000" cy="6548535"/>
          </a:xfrm>
        </p:spPr>
        <p:txBody>
          <a:bodyPr/>
          <a:lstStyle/>
          <a:p>
            <a:r>
              <a:rPr lang="en-US" sz="4400" dirty="0" err="1"/>
              <a:t>DynAMo</a:t>
            </a:r>
            <a:r>
              <a:rPr lang="en-US" sz="4400" dirty="0"/>
              <a:t> Standard Sync, </a:t>
            </a:r>
            <a:br>
              <a:rPr lang="en-US" sz="4400" dirty="0"/>
            </a:br>
            <a:r>
              <a:rPr lang="en-US" sz="4400" dirty="0"/>
              <a:t>Quality, Testing, Troubleshooting</a:t>
            </a:r>
            <a:br>
              <a:rPr lang="en-US" sz="4400" dirty="0"/>
            </a:br>
            <a:r>
              <a:rPr lang="en-US" sz="4400" dirty="0"/>
              <a:t>and…</a:t>
            </a:r>
            <a:br>
              <a:rPr lang="en-US" sz="4400" dirty="0"/>
            </a:br>
            <a:r>
              <a:rPr lang="en-US" sz="4400" dirty="0"/>
              <a:t>Alternative Active Sync</a:t>
            </a:r>
            <a:br>
              <a:rPr lang="en-US" sz="4400" dirty="0"/>
            </a:br>
            <a:br>
              <a:rPr lang="en-US" sz="4400" dirty="0"/>
            </a:br>
            <a:br>
              <a:rPr lang="en-US" sz="4400" dirty="0"/>
            </a:br>
            <a:br>
              <a:rPr lang="en-US" sz="4400" dirty="0"/>
            </a:br>
            <a:endParaRPr lang="en-US" sz="4400" dirty="0"/>
          </a:p>
        </p:txBody>
      </p:sp>
      <p:pic>
        <p:nvPicPr>
          <p:cNvPr id="3" name="Picture 2">
            <a:extLst>
              <a:ext uri="{FF2B5EF4-FFF2-40B4-BE49-F238E27FC236}">
                <a16:creationId xmlns:a16="http://schemas.microsoft.com/office/drawing/2014/main" id="{C79D4D3D-5814-4E7E-B8AA-78C702231C8D}"/>
              </a:ext>
            </a:extLst>
          </p:cNvPr>
          <p:cNvPicPr>
            <a:picLocks noChangeAspect="1"/>
          </p:cNvPicPr>
          <p:nvPr/>
        </p:nvPicPr>
        <p:blipFill>
          <a:blip r:embed="rId3"/>
          <a:stretch>
            <a:fillRect/>
          </a:stretch>
        </p:blipFill>
        <p:spPr>
          <a:xfrm>
            <a:off x="1982771" y="2938277"/>
            <a:ext cx="5002753" cy="2890935"/>
          </a:xfrm>
          <a:prstGeom prst="rect">
            <a:avLst/>
          </a:prstGeom>
        </p:spPr>
      </p:pic>
    </p:spTree>
    <p:extLst>
      <p:ext uri="{BB962C8B-B14F-4D97-AF65-F5344CB8AC3E}">
        <p14:creationId xmlns:p14="http://schemas.microsoft.com/office/powerpoint/2010/main" val="1983061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Topics</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040868"/>
          </a:xfrm>
        </p:spPr>
        <p:txBody>
          <a:bodyPr/>
          <a:lstStyle/>
          <a:p>
            <a:pPr marL="514350" indent="-514350">
              <a:buFont typeface="+mj-lt"/>
              <a:buAutoNum type="arabicPeriod"/>
            </a:pPr>
            <a:r>
              <a:rPr lang="en-US" dirty="0"/>
              <a:t>Introduction</a:t>
            </a:r>
          </a:p>
          <a:p>
            <a:pPr marL="365760" lvl="2" indent="0">
              <a:buNone/>
            </a:pPr>
            <a:r>
              <a:rPr lang="en-US" sz="1800" dirty="0"/>
              <a:t>General Issues with </a:t>
            </a:r>
            <a:r>
              <a:rPr lang="en-US" sz="1800" b="1" dirty="0"/>
              <a:t>Standard</a:t>
            </a:r>
            <a:r>
              <a:rPr lang="en-US" sz="1800" dirty="0"/>
              <a:t> sync and collection (known limitations…)</a:t>
            </a:r>
          </a:p>
          <a:p>
            <a:pPr marL="514350" indent="-514350">
              <a:buFont typeface="+mj-lt"/>
              <a:buAutoNum type="arabicPeriod" startAt="2"/>
            </a:pPr>
            <a:r>
              <a:rPr lang="en-US" dirty="0"/>
              <a:t>How to Implement </a:t>
            </a:r>
            <a:r>
              <a:rPr lang="en-US" b="1" dirty="0"/>
              <a:t>Standard</a:t>
            </a:r>
            <a:r>
              <a:rPr lang="en-US" dirty="0"/>
              <a:t> sync</a:t>
            </a:r>
          </a:p>
          <a:p>
            <a:pPr marL="182880" lvl="1" indent="0">
              <a:buNone/>
            </a:pPr>
            <a:r>
              <a:rPr lang="en-US" sz="2000" dirty="0"/>
              <a:t>	</a:t>
            </a:r>
            <a:r>
              <a:rPr lang="en-US" sz="1800" dirty="0"/>
              <a:t>Configuration challenges + unreliability (can stop working)</a:t>
            </a:r>
          </a:p>
          <a:p>
            <a:pPr marL="514350" indent="-514350">
              <a:buFont typeface="+mj-lt"/>
              <a:buAutoNum type="arabicPeriod" startAt="2"/>
            </a:pPr>
            <a:r>
              <a:rPr lang="en-US" dirty="0"/>
              <a:t>How to Test sync quality</a:t>
            </a:r>
          </a:p>
          <a:p>
            <a:pPr marL="365760" lvl="2" indent="0">
              <a:buNone/>
            </a:pPr>
            <a:r>
              <a:rPr lang="en-US" sz="1800" dirty="0"/>
              <a:t>Other quality issues and how to </a:t>
            </a:r>
            <a:r>
              <a:rPr lang="en-US" sz="1800" b="1" u="sng" dirty="0"/>
              <a:t>troubleshoot</a:t>
            </a:r>
            <a:r>
              <a:rPr lang="en-US" sz="1800" dirty="0"/>
              <a:t> and escalate…</a:t>
            </a:r>
          </a:p>
          <a:p>
            <a:pPr marL="365760" lvl="2" indent="0">
              <a:buNone/>
            </a:pPr>
            <a:r>
              <a:rPr lang="en-US" dirty="0"/>
              <a:t> </a:t>
            </a:r>
          </a:p>
          <a:p>
            <a:pPr marL="514350" indent="-514350">
              <a:buFont typeface="+mj-lt"/>
              <a:buAutoNum type="arabicPeriod" startAt="4"/>
            </a:pPr>
            <a:r>
              <a:rPr lang="en-US" b="1" dirty="0"/>
              <a:t>Alternative</a:t>
            </a:r>
            <a:r>
              <a:rPr lang="en-US" dirty="0"/>
              <a:t> Active Sync Instructions for ESVT</a:t>
            </a:r>
          </a:p>
          <a:p>
            <a:pPr marL="365760" lvl="2" indent="0">
              <a:buNone/>
            </a:pPr>
            <a:r>
              <a:rPr lang="en-US" dirty="0"/>
              <a:t>(will not cover Hybrid and TPS in this presentation)</a:t>
            </a:r>
          </a:p>
          <a:p>
            <a:pPr marL="365760" lvl="2" indent="0">
              <a:buNone/>
            </a:pPr>
            <a:r>
              <a:rPr lang="en-US" dirty="0">
                <a:solidFill>
                  <a:srgbClr val="FF0000"/>
                </a:solidFill>
              </a:rPr>
              <a:t>Will show\email practical Install Guide</a:t>
            </a:r>
          </a:p>
          <a:p>
            <a:pPr marL="365760" lvl="2" indent="0">
              <a:buNone/>
            </a:pPr>
            <a:endParaRPr lang="en-US" dirty="0"/>
          </a:p>
          <a:p>
            <a:pPr marL="365760" lvl="2" indent="0">
              <a:buNone/>
            </a:pPr>
            <a:endParaRPr lang="en-US" dirty="0"/>
          </a:p>
          <a:p>
            <a:pPr marL="365760" lvl="2" indent="0">
              <a:buNone/>
            </a:pPr>
            <a:endParaRPr lang="en-US" dirty="0"/>
          </a:p>
          <a:p>
            <a:pPr marL="0" indent="0">
              <a:buNone/>
            </a:pPr>
            <a:endParaRPr lang="en-US" dirty="0"/>
          </a:p>
          <a:p>
            <a:pPr marL="514350" indent="-514350">
              <a:buFont typeface="+mj-lt"/>
              <a:buAutoNum type="arabicPeriod"/>
            </a:pPr>
            <a:endParaRPr lang="en-US" dirty="0"/>
          </a:p>
          <a:p>
            <a:endParaRPr lang="en-US" dirty="0"/>
          </a:p>
          <a:p>
            <a:endParaRPr lang="en-US" dirty="0"/>
          </a:p>
          <a:p>
            <a:pPr marL="0" indent="0">
              <a:buNone/>
            </a:pPr>
            <a:endParaRPr lang="en-US" sz="1600" dirty="0"/>
          </a:p>
          <a:p>
            <a:endParaRPr lang="en-US" dirty="0"/>
          </a:p>
        </p:txBody>
      </p:sp>
      <p:sp>
        <p:nvSpPr>
          <p:cNvPr id="6" name="TextBox 5">
            <a:extLst>
              <a:ext uri="{FF2B5EF4-FFF2-40B4-BE49-F238E27FC236}">
                <a16:creationId xmlns:a16="http://schemas.microsoft.com/office/drawing/2014/main" id="{A2D775D9-25F2-4C10-8CE1-EF1CCC53390A}"/>
              </a:ext>
            </a:extLst>
          </p:cNvPr>
          <p:cNvSpPr txBox="1"/>
          <p:nvPr/>
        </p:nvSpPr>
        <p:spPr>
          <a:xfrm>
            <a:off x="4419600" y="3429000"/>
            <a:ext cx="1981200" cy="461665"/>
          </a:xfrm>
          <a:prstGeom prst="rect">
            <a:avLst/>
          </a:prstGeom>
          <a:noFill/>
        </p:spPr>
        <p:txBody>
          <a:bodyPr wrap="square">
            <a:spAutoFit/>
          </a:bodyPr>
          <a:lstStyle/>
          <a:p>
            <a:r>
              <a:rPr lang="en-US" dirty="0">
                <a:solidFill>
                  <a:srgbClr val="FF0000"/>
                </a:solidFill>
              </a:rPr>
              <a:t>Magic query</a:t>
            </a:r>
          </a:p>
        </p:txBody>
      </p:sp>
    </p:spTree>
    <p:extLst>
      <p:ext uri="{BB962C8B-B14F-4D97-AF65-F5344CB8AC3E}">
        <p14:creationId xmlns:p14="http://schemas.microsoft.com/office/powerpoint/2010/main" val="2900083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4820" name="Picture 4"/>
          <p:cNvPicPr>
            <a:picLocks noChangeAspect="1" noChangeArrowheads="1"/>
          </p:cNvPicPr>
          <p:nvPr/>
        </p:nvPicPr>
        <p:blipFill>
          <a:blip r:embed="rId3" cstate="print"/>
          <a:srcRect/>
          <a:stretch>
            <a:fillRect/>
          </a:stretch>
        </p:blipFill>
        <p:spPr bwMode="auto">
          <a:xfrm>
            <a:off x="7934325" y="2057400"/>
            <a:ext cx="1209675" cy="18764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Quiz</a:t>
            </a:r>
          </a:p>
        </p:txBody>
      </p:sp>
      <p:sp>
        <p:nvSpPr>
          <p:cNvPr id="3" name="Content Placeholder 2"/>
          <p:cNvSpPr>
            <a:spLocks noGrp="1"/>
          </p:cNvSpPr>
          <p:nvPr>
            <p:ph sz="quarter" idx="12"/>
          </p:nvPr>
        </p:nvSpPr>
        <p:spPr/>
        <p:txBody>
          <a:bodyPr/>
          <a:lstStyle/>
          <a:p>
            <a:pPr marL="0" indent="0">
              <a:buNone/>
            </a:pPr>
            <a:r>
              <a:rPr lang="en-US" dirty="0"/>
              <a:t>I have followed </a:t>
            </a:r>
            <a:r>
              <a:rPr lang="en-US" dirty="0" err="1"/>
              <a:t>DynAMo</a:t>
            </a:r>
            <a:r>
              <a:rPr lang="en-US" dirty="0"/>
              <a:t> Guides, scheduled </a:t>
            </a:r>
            <a:r>
              <a:rPr lang="en-US" dirty="0" err="1"/>
              <a:t>TagListGen</a:t>
            </a:r>
            <a:r>
              <a:rPr lang="en-US" dirty="0"/>
              <a:t>, and ActiveSync, files are created, upgraded with no issue, all channels are green, all is good</a:t>
            </a:r>
            <a:r>
              <a:rPr lang="en-US" sz="2800" dirty="0"/>
              <a:t>?</a:t>
            </a:r>
          </a:p>
        </p:txBody>
      </p:sp>
      <p:sp>
        <p:nvSpPr>
          <p:cNvPr id="11" name="TextBox 10"/>
          <p:cNvSpPr txBox="1"/>
          <p:nvPr/>
        </p:nvSpPr>
        <p:spPr>
          <a:xfrm>
            <a:off x="1752600" y="3657600"/>
            <a:ext cx="5562600" cy="646331"/>
          </a:xfrm>
          <a:prstGeom prst="rect">
            <a:avLst/>
          </a:prstGeom>
          <a:noFill/>
        </p:spPr>
        <p:txBody>
          <a:bodyPr wrap="square" rtlCol="0">
            <a:spAutoFit/>
          </a:bodyPr>
          <a:lstStyle/>
          <a:p>
            <a:pPr algn="l"/>
            <a:r>
              <a:rPr lang="en-US" sz="1800" b="1" dirty="0">
                <a:solidFill>
                  <a:schemeClr val="bg2"/>
                </a:solidFill>
              </a:rPr>
              <a:t>Maybe yes, maybe no. Definitely this is not the verification of properly configured sync!</a:t>
            </a:r>
            <a:endParaRPr lang="en-US" sz="1800" dirty="0"/>
          </a:p>
        </p:txBody>
      </p:sp>
      <p:sp>
        <p:nvSpPr>
          <p:cNvPr id="15" name="Rounded Rectangle 14"/>
          <p:cNvSpPr/>
          <p:nvPr/>
        </p:nvSpPr>
        <p:spPr bwMode="auto">
          <a:xfrm>
            <a:off x="457200" y="2514600"/>
            <a:ext cx="2743200" cy="457200"/>
          </a:xfrm>
          <a:prstGeom prst="roundRect">
            <a:avLst/>
          </a:prstGeom>
          <a:noFill/>
          <a:ln w="9525" cap="flat" cmpd="sng" algn="ctr">
            <a:solidFill>
              <a:srgbClr val="FF0000">
                <a:alpha val="0"/>
              </a:srgb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
        <p:nvSpPr>
          <p:cNvPr id="13" name="Flowchart: Process 12"/>
          <p:cNvSpPr/>
          <p:nvPr/>
        </p:nvSpPr>
        <p:spPr bwMode="auto">
          <a:xfrm>
            <a:off x="1217401" y="3045859"/>
            <a:ext cx="5828508" cy="3048000"/>
          </a:xfrm>
          <a:prstGeom prst="flowChartProcess">
            <a:avLst/>
          </a:prstGeom>
          <a:solidFill>
            <a:schemeClr val="bg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pic>
        <p:nvPicPr>
          <p:cNvPr id="7" name="Picture 6">
            <a:extLst>
              <a:ext uri="{FF2B5EF4-FFF2-40B4-BE49-F238E27FC236}">
                <a16:creationId xmlns:a16="http://schemas.microsoft.com/office/drawing/2014/main" id="{22657716-7944-44AC-BD43-EC67B0909AE5}"/>
              </a:ext>
            </a:extLst>
          </p:cNvPr>
          <p:cNvPicPr>
            <a:picLocks noChangeAspect="1"/>
          </p:cNvPicPr>
          <p:nvPr/>
        </p:nvPicPr>
        <p:blipFill>
          <a:blip r:embed="rId4"/>
          <a:stretch>
            <a:fillRect/>
          </a:stretch>
        </p:blipFill>
        <p:spPr>
          <a:xfrm>
            <a:off x="2855331" y="2786074"/>
            <a:ext cx="5033274" cy="646331"/>
          </a:xfrm>
          <a:prstGeom prst="rect">
            <a:avLst/>
          </a:prstGeom>
          <a:ln w="31750">
            <a:solidFill>
              <a:schemeClr val="accent1"/>
            </a:solidFill>
          </a:ln>
        </p:spPr>
      </p:pic>
    </p:spTree>
    <p:extLst>
      <p:ext uri="{BB962C8B-B14F-4D97-AF65-F5344CB8AC3E}">
        <p14:creationId xmlns:p14="http://schemas.microsoft.com/office/powerpoint/2010/main" val="127054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4820" name="Picture 4"/>
          <p:cNvPicPr>
            <a:picLocks noChangeAspect="1" noChangeArrowheads="1"/>
          </p:cNvPicPr>
          <p:nvPr/>
        </p:nvPicPr>
        <p:blipFill>
          <a:blip r:embed="rId3" cstate="print"/>
          <a:srcRect/>
          <a:stretch>
            <a:fillRect/>
          </a:stretch>
        </p:blipFill>
        <p:spPr bwMode="auto">
          <a:xfrm>
            <a:off x="7934325" y="2057400"/>
            <a:ext cx="1209675" cy="18764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Quiz</a:t>
            </a:r>
          </a:p>
        </p:txBody>
      </p:sp>
      <p:sp>
        <p:nvSpPr>
          <p:cNvPr id="3" name="Content Placeholder 2"/>
          <p:cNvSpPr>
            <a:spLocks noGrp="1"/>
          </p:cNvSpPr>
          <p:nvPr>
            <p:ph sz="quarter" idx="12"/>
          </p:nvPr>
        </p:nvSpPr>
        <p:spPr>
          <a:xfrm>
            <a:off x="228600" y="990600"/>
            <a:ext cx="8405601" cy="5227320"/>
          </a:xfrm>
        </p:spPr>
        <p:txBody>
          <a:bodyPr/>
          <a:lstStyle/>
          <a:p>
            <a:pPr marL="0" indent="0">
              <a:buNone/>
            </a:pPr>
            <a:r>
              <a:rPr lang="en-US" sz="2800" dirty="0"/>
              <a:t>Should we properly test Active Alarm, Suppressed, and Shelved reports and escalate if any issues?</a:t>
            </a:r>
          </a:p>
        </p:txBody>
      </p:sp>
      <p:sp>
        <p:nvSpPr>
          <p:cNvPr id="11" name="TextBox 10"/>
          <p:cNvSpPr txBox="1"/>
          <p:nvPr/>
        </p:nvSpPr>
        <p:spPr>
          <a:xfrm>
            <a:off x="1219200" y="3657600"/>
            <a:ext cx="6096000" cy="1754326"/>
          </a:xfrm>
          <a:prstGeom prst="rect">
            <a:avLst/>
          </a:prstGeom>
          <a:noFill/>
        </p:spPr>
        <p:txBody>
          <a:bodyPr wrap="square" rtlCol="0">
            <a:spAutoFit/>
          </a:bodyPr>
          <a:lstStyle/>
          <a:p>
            <a:pPr algn="l"/>
            <a:r>
              <a:rPr lang="en-US" sz="1800" b="1" dirty="0">
                <a:solidFill>
                  <a:schemeClr val="bg2"/>
                </a:solidFill>
              </a:rPr>
              <a:t>Who is “we”? What “properly” means?</a:t>
            </a:r>
          </a:p>
          <a:p>
            <a:pPr algn="l"/>
            <a:r>
              <a:rPr lang="en-US" sz="1800" b="1" dirty="0">
                <a:solidFill>
                  <a:schemeClr val="bg2"/>
                </a:solidFill>
              </a:rPr>
              <a:t>(Barbara opinion) during project implementation we do NOT have time…</a:t>
            </a:r>
          </a:p>
          <a:p>
            <a:pPr algn="l"/>
            <a:r>
              <a:rPr lang="en-US" sz="1800" b="1" dirty="0">
                <a:solidFill>
                  <a:schemeClr val="bg2"/>
                </a:solidFill>
              </a:rPr>
              <a:t>Just at least make sure Sync is </a:t>
            </a:r>
            <a:r>
              <a:rPr lang="en-US" sz="1800" b="1" dirty="0">
                <a:solidFill>
                  <a:schemeClr val="tx2"/>
                </a:solidFill>
              </a:rPr>
              <a:t>implemented “properly”…</a:t>
            </a:r>
          </a:p>
          <a:p>
            <a:pPr algn="l"/>
            <a:r>
              <a:rPr lang="en-US" sz="1800" b="1" dirty="0">
                <a:solidFill>
                  <a:schemeClr val="bg2"/>
                </a:solidFill>
              </a:rPr>
              <a:t>I will tell you about several quality issues I am aware of (to set expectations) …</a:t>
            </a:r>
            <a:endParaRPr lang="en-US" sz="1800" dirty="0"/>
          </a:p>
        </p:txBody>
      </p:sp>
      <p:sp>
        <p:nvSpPr>
          <p:cNvPr id="15" name="Rounded Rectangle 14"/>
          <p:cNvSpPr/>
          <p:nvPr/>
        </p:nvSpPr>
        <p:spPr bwMode="auto">
          <a:xfrm>
            <a:off x="457200" y="2514600"/>
            <a:ext cx="2743200" cy="457200"/>
          </a:xfrm>
          <a:prstGeom prst="roundRect">
            <a:avLst/>
          </a:prstGeom>
          <a:noFill/>
          <a:ln w="9525" cap="flat" cmpd="sng" algn="ctr">
            <a:solidFill>
              <a:srgbClr val="FF0000">
                <a:alpha val="0"/>
              </a:srgb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
        <p:nvSpPr>
          <p:cNvPr id="13" name="Flowchart: Process 12"/>
          <p:cNvSpPr/>
          <p:nvPr/>
        </p:nvSpPr>
        <p:spPr bwMode="auto">
          <a:xfrm>
            <a:off x="1013927" y="3029373"/>
            <a:ext cx="6433926" cy="3048000"/>
          </a:xfrm>
          <a:prstGeom prst="flowChartProcess">
            <a:avLst/>
          </a:prstGeom>
          <a:solidFill>
            <a:schemeClr val="bg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413385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Our goals (per Barbara)</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7" y="762000"/>
            <a:ext cx="8876783" cy="5879068"/>
          </a:xfrm>
        </p:spPr>
        <p:txBody>
          <a:bodyPr/>
          <a:lstStyle/>
          <a:p>
            <a:pPr marL="0" indent="0">
              <a:buNone/>
            </a:pPr>
            <a:r>
              <a:rPr lang="en-US" sz="2000" b="1" u="sng" dirty="0"/>
              <a:t>Immediate goal….</a:t>
            </a:r>
          </a:p>
          <a:p>
            <a:pPr marL="457200" indent="-457200">
              <a:buFont typeface="+mj-lt"/>
              <a:buAutoNum type="arabicPeriod"/>
            </a:pPr>
            <a:r>
              <a:rPr lang="en-US" sz="2000" dirty="0"/>
              <a:t>Close to Perfect Sync (</a:t>
            </a:r>
            <a:r>
              <a:rPr lang="en-US" sz="2000" dirty="0">
                <a:solidFill>
                  <a:srgbClr val="FF0000"/>
                </a:solidFill>
              </a:rPr>
              <a:t>add sync for shelving…</a:t>
            </a:r>
            <a:r>
              <a:rPr lang="en-US" sz="2000" dirty="0"/>
              <a:t>), No need for manual interventions (e.g. close open alarms, </a:t>
            </a:r>
            <a:r>
              <a:rPr lang="en-US" sz="2000" dirty="0" err="1"/>
              <a:t>unsuppress</a:t>
            </a:r>
            <a:r>
              <a:rPr lang="en-US" sz="2000" dirty="0"/>
              <a:t>, or </a:t>
            </a:r>
            <a:r>
              <a:rPr lang="en-US" sz="2000" dirty="0" err="1"/>
              <a:t>unshelve</a:t>
            </a:r>
            <a:r>
              <a:rPr lang="en-US" sz="2000" dirty="0"/>
              <a:t> from Web)</a:t>
            </a:r>
          </a:p>
          <a:p>
            <a:pPr marL="457200" indent="-457200">
              <a:buFont typeface="+mj-lt"/>
              <a:buAutoNum type="arabicPeriod"/>
            </a:pPr>
            <a:r>
              <a:rPr lang="en-US" sz="2000" dirty="0"/>
              <a:t>Eliminate “confusion periods”</a:t>
            </a:r>
          </a:p>
          <a:p>
            <a:pPr marL="457200" indent="-457200">
              <a:buFont typeface="+mj-lt"/>
              <a:buAutoNum type="arabicPeriod"/>
            </a:pPr>
            <a:r>
              <a:rPr lang="en-US" sz="2000" dirty="0"/>
              <a:t>Reduce “-useless” events</a:t>
            </a:r>
          </a:p>
          <a:p>
            <a:pPr marL="457200" indent="-457200">
              <a:buFont typeface="+mj-lt"/>
              <a:buAutoNum type="arabicPeriod"/>
            </a:pPr>
            <a:r>
              <a:rPr lang="en-US" sz="2000" dirty="0"/>
              <a:t>Reduce OPC dependency</a:t>
            </a:r>
          </a:p>
          <a:p>
            <a:pPr marL="0" indent="0">
              <a:buNone/>
            </a:pPr>
            <a:r>
              <a:rPr lang="en-US" sz="2000" b="1" u="sng"/>
              <a:t>Short/Long </a:t>
            </a:r>
            <a:r>
              <a:rPr lang="en-US" sz="2000" b="1" u="sng" dirty="0"/>
              <a:t>term goal…</a:t>
            </a:r>
          </a:p>
          <a:p>
            <a:pPr marL="457200" indent="-457200">
              <a:buFont typeface="+mj-lt"/>
              <a:buAutoNum type="arabicPeriod"/>
            </a:pPr>
            <a:r>
              <a:rPr lang="en-US" sz="2000" dirty="0"/>
              <a:t>Remove OPC dependency</a:t>
            </a:r>
          </a:p>
          <a:p>
            <a:pPr marL="457200" indent="-457200">
              <a:buFont typeface="+mj-lt"/>
              <a:buAutoNum type="arabicPeriod"/>
            </a:pPr>
            <a:r>
              <a:rPr lang="en-US" sz="2000" dirty="0" err="1"/>
              <a:t>DynAMo</a:t>
            </a:r>
            <a:r>
              <a:rPr lang="en-US" sz="2000" dirty="0"/>
              <a:t>-Generated events in M&amp;R </a:t>
            </a:r>
          </a:p>
          <a:p>
            <a:pPr marL="0" indent="0">
              <a:buNone/>
            </a:pPr>
            <a:r>
              <a:rPr lang="en-US" sz="2000" dirty="0"/>
              <a:t>only when needed</a:t>
            </a:r>
          </a:p>
          <a:p>
            <a:pPr marL="0" indent="0">
              <a:buNone/>
            </a:pPr>
            <a:r>
              <a:rPr lang="en-US" sz="2000" b="1" u="sng" dirty="0"/>
              <a:t>Very Long term goal…</a:t>
            </a:r>
          </a:p>
          <a:p>
            <a:pPr marL="457200" indent="-457200">
              <a:buFont typeface="+mj-lt"/>
              <a:buAutoNum type="arabicPeriod"/>
            </a:pPr>
            <a:r>
              <a:rPr lang="en-US" sz="2000" dirty="0"/>
              <a:t>Eliminate sync for Honeywell systems (needs </a:t>
            </a:r>
            <a:r>
              <a:rPr lang="en-US" sz="2000" dirty="0" err="1"/>
              <a:t>Experion+TPS</a:t>
            </a:r>
            <a:r>
              <a:rPr lang="en-US" sz="2000" dirty="0"/>
              <a:t> fixes… TPS fixes not likely)</a:t>
            </a:r>
          </a:p>
          <a:p>
            <a:pPr marL="0" indent="0">
              <a:buNone/>
            </a:pPr>
            <a:r>
              <a:rPr lang="en-US" sz="2000" dirty="0">
                <a:solidFill>
                  <a:srgbClr val="FF0000"/>
                </a:solidFill>
              </a:rPr>
              <a:t>Do not focus exclusively on long term goals, first fix what is achievable short term=sync!</a:t>
            </a:r>
          </a:p>
          <a:p>
            <a:pPr marL="0" indent="0">
              <a:buNone/>
            </a:pPr>
            <a:endParaRPr lang="en-US" sz="2400" dirty="0"/>
          </a:p>
          <a:p>
            <a:pPr marL="0" indent="0">
              <a:buNone/>
            </a:pPr>
            <a:endParaRPr lang="en-US" sz="2400" dirty="0"/>
          </a:p>
          <a:p>
            <a:pPr marL="0" indent="0">
              <a:buNone/>
            </a:pPr>
            <a:endParaRPr lang="en-US" sz="1600" dirty="0"/>
          </a:p>
          <a:p>
            <a:endParaRPr lang="en-US" dirty="0"/>
          </a:p>
        </p:txBody>
      </p:sp>
      <p:pic>
        <p:nvPicPr>
          <p:cNvPr id="3" name="Picture 2">
            <a:extLst>
              <a:ext uri="{FF2B5EF4-FFF2-40B4-BE49-F238E27FC236}">
                <a16:creationId xmlns:a16="http://schemas.microsoft.com/office/drawing/2014/main" id="{A35CBEB2-D9F0-4FEE-8271-3AD51BEA18BB}"/>
              </a:ext>
            </a:extLst>
          </p:cNvPr>
          <p:cNvPicPr>
            <a:picLocks noChangeAspect="1"/>
          </p:cNvPicPr>
          <p:nvPr/>
        </p:nvPicPr>
        <p:blipFill>
          <a:blip r:embed="rId2"/>
          <a:stretch>
            <a:fillRect/>
          </a:stretch>
        </p:blipFill>
        <p:spPr>
          <a:xfrm>
            <a:off x="5410200" y="1905000"/>
            <a:ext cx="3466584" cy="2894685"/>
          </a:xfrm>
          <a:prstGeom prst="rect">
            <a:avLst/>
          </a:prstGeom>
        </p:spPr>
      </p:pic>
      <p:pic>
        <p:nvPicPr>
          <p:cNvPr id="8" name="Picture 7">
            <a:extLst>
              <a:ext uri="{FF2B5EF4-FFF2-40B4-BE49-F238E27FC236}">
                <a16:creationId xmlns:a16="http://schemas.microsoft.com/office/drawing/2014/main" id="{33397036-D18D-49D3-81C0-14D3A79FDE87}"/>
              </a:ext>
            </a:extLst>
          </p:cNvPr>
          <p:cNvPicPr>
            <a:picLocks noChangeAspect="1"/>
          </p:cNvPicPr>
          <p:nvPr/>
        </p:nvPicPr>
        <p:blipFill>
          <a:blip r:embed="rId3"/>
          <a:stretch>
            <a:fillRect/>
          </a:stretch>
        </p:blipFill>
        <p:spPr>
          <a:xfrm>
            <a:off x="5867400" y="76200"/>
            <a:ext cx="1981200" cy="1144874"/>
          </a:xfrm>
          <a:prstGeom prst="rect">
            <a:avLst/>
          </a:prstGeom>
        </p:spPr>
      </p:pic>
    </p:spTree>
    <p:extLst>
      <p:ext uri="{BB962C8B-B14F-4D97-AF65-F5344CB8AC3E}">
        <p14:creationId xmlns:p14="http://schemas.microsoft.com/office/powerpoint/2010/main" val="1320700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True or …</a:t>
            </a:r>
            <a:r>
              <a:rPr lang="en-US" dirty="0">
                <a:solidFill>
                  <a:srgbClr val="FF0000"/>
                </a:solidFill>
              </a:rPr>
              <a:t>NOT</a:t>
            </a:r>
            <a:r>
              <a:rPr lang="en-US" dirty="0"/>
              <a:t>? </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955268"/>
          </a:xfrm>
        </p:spPr>
        <p:txBody>
          <a:bodyPr/>
          <a:lstStyle/>
          <a:p>
            <a:r>
              <a:rPr lang="en-US" sz="2400" dirty="0"/>
              <a:t>Active Sync for pure Experion is perfect</a:t>
            </a:r>
          </a:p>
          <a:p>
            <a:r>
              <a:rPr lang="en-US" sz="2400" dirty="0"/>
              <a:t>Suppression sync is perfect</a:t>
            </a:r>
          </a:p>
          <a:p>
            <a:r>
              <a:rPr lang="en-US" sz="2400" dirty="0"/>
              <a:t>ESVT Active Sync has only very few (documented) limitations</a:t>
            </a:r>
          </a:p>
          <a:p>
            <a:r>
              <a:rPr lang="en-US" sz="2400" dirty="0"/>
              <a:t>Just sync EST with ESVT and standard sync is perfect</a:t>
            </a:r>
          </a:p>
          <a:p>
            <a:r>
              <a:rPr lang="en-US" sz="2400" dirty="0"/>
              <a:t>Exxon does not complain about (ESVT\TPS) Active Sync (so this is a proof they are perfect)</a:t>
            </a:r>
          </a:p>
          <a:p>
            <a:r>
              <a:rPr lang="en-US" sz="2400" dirty="0"/>
              <a:t>Development is fully aware of the quality issues we have</a:t>
            </a:r>
          </a:p>
          <a:p>
            <a:r>
              <a:rPr lang="en-US" sz="2400" dirty="0"/>
              <a:t>If Customers do not complain we do not have issues</a:t>
            </a:r>
          </a:p>
          <a:p>
            <a:pPr marL="0" indent="0">
              <a:buNone/>
            </a:pPr>
            <a:r>
              <a:rPr lang="en-US" sz="2400" dirty="0"/>
              <a:t>   (</a:t>
            </a:r>
            <a:r>
              <a:rPr lang="en-US" sz="2400" dirty="0">
                <a:solidFill>
                  <a:srgbClr val="FF0000"/>
                </a:solidFill>
              </a:rPr>
              <a:t>are they happy or discouraged\frustrated? </a:t>
            </a:r>
            <a:r>
              <a:rPr lang="en-US" sz="2400" dirty="0"/>
              <a:t>)</a:t>
            </a:r>
          </a:p>
          <a:p>
            <a:endParaRPr lang="en-US" sz="2400" dirty="0"/>
          </a:p>
          <a:p>
            <a:r>
              <a:rPr lang="en-US" sz="2400" dirty="0"/>
              <a:t>We know how to implement and test Standard sync</a:t>
            </a:r>
          </a:p>
          <a:p>
            <a:r>
              <a:rPr lang="en-US" sz="2400" dirty="0"/>
              <a:t>We know how to troubleshoot Standard Sync</a:t>
            </a:r>
          </a:p>
          <a:p>
            <a:r>
              <a:rPr lang="en-US" sz="2400" dirty="0"/>
              <a:t>We cannot change the way we sync, new (Barbara’s) way is too complicated, we need developers to implement it</a:t>
            </a:r>
          </a:p>
          <a:p>
            <a:pPr marL="0" indent="0">
              <a:buNone/>
            </a:pPr>
            <a:endParaRPr lang="en-US" sz="1600" dirty="0"/>
          </a:p>
          <a:p>
            <a:endParaRPr lang="en-US" dirty="0"/>
          </a:p>
        </p:txBody>
      </p:sp>
    </p:spTree>
    <p:extLst>
      <p:ext uri="{BB962C8B-B14F-4D97-AF65-F5344CB8AC3E}">
        <p14:creationId xmlns:p14="http://schemas.microsoft.com/office/powerpoint/2010/main" val="4116216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Summary of quality issues? </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49855" y="762000"/>
            <a:ext cx="8876783" cy="5955268"/>
          </a:xfrm>
        </p:spPr>
        <p:txBody>
          <a:bodyPr/>
          <a:lstStyle/>
          <a:p>
            <a:r>
              <a:rPr lang="en-US" sz="2400" dirty="0"/>
              <a:t>Active Alarms report incorrect</a:t>
            </a:r>
          </a:p>
          <a:p>
            <a:r>
              <a:rPr lang="en-US" sz="2400" dirty="0"/>
              <a:t>Shelved report incorrect</a:t>
            </a:r>
          </a:p>
          <a:p>
            <a:r>
              <a:rPr lang="en-US" sz="2400" dirty="0"/>
              <a:t>Suppressed report incorrect</a:t>
            </a:r>
          </a:p>
          <a:p>
            <a:r>
              <a:rPr lang="en-US" sz="2400" dirty="0"/>
              <a:t>Overload of OPC</a:t>
            </a:r>
          </a:p>
          <a:p>
            <a:r>
              <a:rPr lang="en-US" sz="2400" dirty="0"/>
              <a:t>OPC failures or confusions (e.g. Advanced Security </a:t>
            </a:r>
            <a:r>
              <a:rPr lang="en-US" sz="2400" dirty="0" err="1"/>
              <a:t>etc</a:t>
            </a:r>
            <a:r>
              <a:rPr lang="en-US" sz="2400" dirty="0"/>
              <a:t>)</a:t>
            </a:r>
          </a:p>
          <a:p>
            <a:r>
              <a:rPr lang="en-US" sz="2400" dirty="0"/>
              <a:t>Confusing events generated in </a:t>
            </a:r>
            <a:r>
              <a:rPr lang="en-US" sz="2400" dirty="0" err="1"/>
              <a:t>DynAMo</a:t>
            </a:r>
            <a:endParaRPr lang="en-US" sz="2400" dirty="0"/>
          </a:p>
          <a:p>
            <a:r>
              <a:rPr lang="en-US" sz="2400" dirty="0"/>
              <a:t>Wrong events generated in </a:t>
            </a:r>
            <a:r>
              <a:rPr lang="en-US" sz="2400" dirty="0" err="1"/>
              <a:t>DynAMo</a:t>
            </a:r>
            <a:endParaRPr lang="en-US" sz="2400" dirty="0"/>
          </a:p>
          <a:p>
            <a:r>
              <a:rPr lang="en-US" sz="2400" dirty="0"/>
              <a:t>Confusing metrics… I think not what customer wants</a:t>
            </a:r>
          </a:p>
          <a:p>
            <a:pPr lvl="1"/>
            <a:r>
              <a:rPr lang="en-US" sz="2400" dirty="0"/>
              <a:t>DAS suppression</a:t>
            </a:r>
          </a:p>
          <a:p>
            <a:pPr lvl="1"/>
            <a:r>
              <a:rPr lang="en-US" sz="2400" dirty="0"/>
              <a:t>Priority suppression</a:t>
            </a:r>
          </a:p>
          <a:p>
            <a:pPr lvl="1"/>
            <a:r>
              <a:rPr lang="en-US" sz="2400" dirty="0"/>
              <a:t>….</a:t>
            </a:r>
          </a:p>
          <a:p>
            <a:r>
              <a:rPr lang="en-US" sz="2400" dirty="0"/>
              <a:t>Confusing columns with no meaningful info (Columns: shelved, suppressed, visible)</a:t>
            </a:r>
          </a:p>
          <a:p>
            <a:pPr marL="0" indent="0">
              <a:buNone/>
            </a:pPr>
            <a:r>
              <a:rPr lang="en-US" sz="2400" dirty="0" err="1"/>
              <a:t>etc</a:t>
            </a:r>
            <a:r>
              <a:rPr lang="en-US" sz="2400" dirty="0"/>
              <a:t> </a:t>
            </a:r>
            <a:r>
              <a:rPr lang="en-US" sz="2400" dirty="0" err="1"/>
              <a:t>etc</a:t>
            </a:r>
            <a:r>
              <a:rPr lang="en-US" sz="2400" dirty="0"/>
              <a:t> </a:t>
            </a:r>
            <a:r>
              <a:rPr lang="en-US" sz="2400" dirty="0" err="1"/>
              <a:t>etc</a:t>
            </a:r>
            <a:endParaRPr lang="en-US" sz="2400" dirty="0"/>
          </a:p>
          <a:p>
            <a:pPr marL="0" indent="0">
              <a:buNone/>
            </a:pPr>
            <a:endParaRPr lang="en-US" sz="1600" dirty="0"/>
          </a:p>
          <a:p>
            <a:endParaRPr lang="en-US" dirty="0"/>
          </a:p>
        </p:txBody>
      </p:sp>
      <p:grpSp>
        <p:nvGrpSpPr>
          <p:cNvPr id="20" name="Group 19">
            <a:extLst>
              <a:ext uri="{FF2B5EF4-FFF2-40B4-BE49-F238E27FC236}">
                <a16:creationId xmlns:a16="http://schemas.microsoft.com/office/drawing/2014/main" id="{A1E74B30-EEC6-4C9C-9E3E-6E34FBB219A0}"/>
              </a:ext>
            </a:extLst>
          </p:cNvPr>
          <p:cNvGrpSpPr/>
          <p:nvPr/>
        </p:nvGrpSpPr>
        <p:grpSpPr>
          <a:xfrm rot="630025">
            <a:off x="5776927" y="605753"/>
            <a:ext cx="3249146" cy="1889143"/>
            <a:chOff x="2453734" y="3914544"/>
            <a:chExt cx="2260970" cy="1466371"/>
          </a:xfrm>
        </p:grpSpPr>
        <p:grpSp>
          <p:nvGrpSpPr>
            <p:cNvPr id="21" name="Group 20">
              <a:extLst>
                <a:ext uri="{FF2B5EF4-FFF2-40B4-BE49-F238E27FC236}">
                  <a16:creationId xmlns:a16="http://schemas.microsoft.com/office/drawing/2014/main" id="{1713028B-E5AF-4EC3-AA5D-45BB9F5A0D5F}"/>
                </a:ext>
              </a:extLst>
            </p:cNvPr>
            <p:cNvGrpSpPr/>
            <p:nvPr/>
          </p:nvGrpSpPr>
          <p:grpSpPr>
            <a:xfrm rot="274214">
              <a:off x="2453734" y="3914544"/>
              <a:ext cx="2260970" cy="1466371"/>
              <a:chOff x="4636671" y="2286000"/>
              <a:chExt cx="2793894" cy="2895601"/>
            </a:xfrm>
          </p:grpSpPr>
          <p:grpSp>
            <p:nvGrpSpPr>
              <p:cNvPr id="23" name="Group 22">
                <a:extLst>
                  <a:ext uri="{FF2B5EF4-FFF2-40B4-BE49-F238E27FC236}">
                    <a16:creationId xmlns:a16="http://schemas.microsoft.com/office/drawing/2014/main" id="{A63936F6-6D5C-49EC-B521-1B2201F802C6}"/>
                  </a:ext>
                </a:extLst>
              </p:cNvPr>
              <p:cNvGrpSpPr/>
              <p:nvPr/>
            </p:nvGrpSpPr>
            <p:grpSpPr>
              <a:xfrm>
                <a:off x="4636671" y="2286000"/>
                <a:ext cx="2743201" cy="2895601"/>
                <a:chOff x="4636671" y="2286000"/>
                <a:chExt cx="2743201" cy="2895601"/>
              </a:xfrm>
            </p:grpSpPr>
            <p:pic>
              <p:nvPicPr>
                <p:cNvPr id="25" name="Picture 2">
                  <a:extLst>
                    <a:ext uri="{FF2B5EF4-FFF2-40B4-BE49-F238E27FC236}">
                      <a16:creationId xmlns:a16="http://schemas.microsoft.com/office/drawing/2014/main" id="{137EE122-458B-4CB2-8223-0DA619203475}"/>
                    </a:ext>
                  </a:extLst>
                </p:cNvPr>
                <p:cNvPicPr>
                  <a:picLocks noChangeAspect="1" noChangeArrowheads="1"/>
                </p:cNvPicPr>
                <p:nvPr/>
              </p:nvPicPr>
              <p:blipFill>
                <a:blip r:embed="rId2" cstate="print"/>
                <a:srcRect/>
                <a:stretch>
                  <a:fillRect/>
                </a:stretch>
              </p:blipFill>
              <p:spPr bwMode="auto">
                <a:xfrm>
                  <a:off x="4636671" y="2414589"/>
                  <a:ext cx="2743201" cy="2767012"/>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6" name="Oval 25">
                  <a:extLst>
                    <a:ext uri="{FF2B5EF4-FFF2-40B4-BE49-F238E27FC236}">
                      <a16:creationId xmlns:a16="http://schemas.microsoft.com/office/drawing/2014/main" id="{549BA409-340A-4340-AA82-9EE1729F6101}"/>
                    </a:ext>
                  </a:extLst>
                </p:cNvPr>
                <p:cNvSpPr/>
                <p:nvPr/>
              </p:nvSpPr>
              <p:spPr>
                <a:xfrm>
                  <a:off x="5627270" y="2286000"/>
                  <a:ext cx="228600" cy="228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 name="ZoneTexte 30">
                <a:extLst>
                  <a:ext uri="{FF2B5EF4-FFF2-40B4-BE49-F238E27FC236}">
                    <a16:creationId xmlns:a16="http://schemas.microsoft.com/office/drawing/2014/main" id="{3AA4CBF1-FF30-4CE3-A472-150384EC83AC}"/>
                  </a:ext>
                </a:extLst>
              </p:cNvPr>
              <p:cNvSpPr txBox="1"/>
              <p:nvPr/>
            </p:nvSpPr>
            <p:spPr>
              <a:xfrm rot="21177897">
                <a:off x="4642297" y="2878760"/>
                <a:ext cx="2788268" cy="1556767"/>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2000" b="1" dirty="0">
                    <a:solidFill>
                      <a:srgbClr val="2C2FD4"/>
                    </a:solidFill>
                    <a:latin typeface="Arial" panose="020B0604020202020204" pitchFamily="34" charset="0"/>
                    <a:cs typeface="Arial" panose="020B0604020202020204" pitchFamily="34" charset="0"/>
                  </a:rPr>
                  <a:t>We come to upgrade…</a:t>
                </a:r>
              </a:p>
              <a:p>
                <a:pPr algn="l"/>
                <a:r>
                  <a:rPr lang="en-US" sz="2000" b="1" dirty="0">
                    <a:solidFill>
                      <a:srgbClr val="2C2FD4"/>
                    </a:solidFill>
                    <a:latin typeface="Arial" panose="020B0604020202020204" pitchFamily="34" charset="0"/>
                    <a:cs typeface="Arial" panose="020B0604020202020204" pitchFamily="34" charset="0"/>
                  </a:rPr>
                  <a:t>Do not assume Sync is working</a:t>
                </a:r>
              </a:p>
            </p:txBody>
          </p:sp>
        </p:grpSp>
        <p:pic>
          <p:nvPicPr>
            <p:cNvPr id="22" name="Picture 4" descr="C:\Users\e154578\AppData\Local\Temp\SNAGHTML265367b.PNG">
              <a:extLst>
                <a:ext uri="{FF2B5EF4-FFF2-40B4-BE49-F238E27FC236}">
                  <a16:creationId xmlns:a16="http://schemas.microsoft.com/office/drawing/2014/main" id="{1A4E8C91-7F65-4B94-8669-3211F1C80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5465" y="4572492"/>
              <a:ext cx="288988" cy="28898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27997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Barbara’s terminology</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955268"/>
          </a:xfrm>
        </p:spPr>
        <p:txBody>
          <a:bodyPr/>
          <a:lstStyle/>
          <a:p>
            <a:pPr marL="0" indent="0">
              <a:buNone/>
            </a:pPr>
            <a:r>
              <a:rPr lang="en-US" dirty="0"/>
              <a:t>“</a:t>
            </a:r>
            <a:r>
              <a:rPr lang="en-US" dirty="0">
                <a:solidFill>
                  <a:srgbClr val="00B0F0"/>
                </a:solidFill>
              </a:rPr>
              <a:t>Alternative</a:t>
            </a:r>
            <a:r>
              <a:rPr lang="en-US" dirty="0"/>
              <a:t>” ESVT\EST Active Sync</a:t>
            </a:r>
          </a:p>
          <a:p>
            <a:pPr marL="0" indent="0">
              <a:buNone/>
            </a:pPr>
            <a:r>
              <a:rPr lang="en-US" dirty="0"/>
              <a:t>“</a:t>
            </a:r>
            <a:r>
              <a:rPr lang="en-US" dirty="0">
                <a:solidFill>
                  <a:srgbClr val="00B0F0"/>
                </a:solidFill>
              </a:rPr>
              <a:t>Confusion Period</a:t>
            </a:r>
            <a:r>
              <a:rPr lang="en-US" dirty="0"/>
              <a:t>”</a:t>
            </a:r>
          </a:p>
          <a:p>
            <a:pPr marL="0" indent="0">
              <a:buNone/>
            </a:pPr>
            <a:r>
              <a:rPr lang="en-US" dirty="0"/>
              <a:t>“</a:t>
            </a:r>
            <a:r>
              <a:rPr lang="en-US" dirty="0">
                <a:solidFill>
                  <a:srgbClr val="00B0F0"/>
                </a:solidFill>
              </a:rPr>
              <a:t>Waking up points</a:t>
            </a:r>
            <a:r>
              <a:rPr lang="en-US" dirty="0"/>
              <a:t>”</a:t>
            </a:r>
          </a:p>
          <a:p>
            <a:pPr marL="0" indent="0">
              <a:buNone/>
            </a:pPr>
            <a:r>
              <a:rPr lang="en-US" dirty="0"/>
              <a:t>“</a:t>
            </a:r>
            <a:r>
              <a:rPr lang="en-US" dirty="0" err="1">
                <a:solidFill>
                  <a:srgbClr val="00B0F0"/>
                </a:solidFill>
              </a:rPr>
              <a:t>DynAMo</a:t>
            </a:r>
            <a:r>
              <a:rPr lang="en-US" dirty="0">
                <a:solidFill>
                  <a:srgbClr val="00B0F0"/>
                </a:solidFill>
              </a:rPr>
              <a:t> generated events</a:t>
            </a:r>
            <a:r>
              <a:rPr lang="en-US" dirty="0"/>
              <a:t>” (unfortunately) include</a:t>
            </a:r>
          </a:p>
          <a:p>
            <a:pPr marL="0" indent="0">
              <a:buNone/>
            </a:pPr>
            <a:r>
              <a:rPr lang="en-US" dirty="0"/>
              <a:t>	“</a:t>
            </a:r>
            <a:r>
              <a:rPr lang="en-US" dirty="0">
                <a:solidFill>
                  <a:srgbClr val="00B0F0"/>
                </a:solidFill>
              </a:rPr>
              <a:t>…-useless</a:t>
            </a:r>
            <a:r>
              <a:rPr lang="en-US" dirty="0"/>
              <a:t>”</a:t>
            </a:r>
          </a:p>
          <a:p>
            <a:pPr marL="0" indent="0">
              <a:buNone/>
            </a:pPr>
            <a:r>
              <a:rPr lang="en-US" dirty="0"/>
              <a:t>	“</a:t>
            </a:r>
            <a:r>
              <a:rPr lang="en-US" dirty="0">
                <a:solidFill>
                  <a:srgbClr val="00B0F0"/>
                </a:solidFill>
              </a:rPr>
              <a:t>…-confusing</a:t>
            </a:r>
            <a:r>
              <a:rPr lang="en-US" dirty="0"/>
              <a:t>”</a:t>
            </a:r>
          </a:p>
          <a:p>
            <a:pPr marL="0" indent="0">
              <a:buNone/>
            </a:pPr>
            <a:r>
              <a:rPr lang="en-US" dirty="0"/>
              <a:t>	“</a:t>
            </a:r>
            <a:r>
              <a:rPr lang="en-US" dirty="0">
                <a:solidFill>
                  <a:srgbClr val="00B0F0"/>
                </a:solidFill>
              </a:rPr>
              <a:t>…-wrong</a:t>
            </a:r>
            <a:r>
              <a:rPr lang="en-US" dirty="0"/>
              <a:t>”</a:t>
            </a:r>
          </a:p>
          <a:p>
            <a:pPr marL="0" indent="0">
              <a:buNone/>
            </a:pPr>
            <a:r>
              <a:rPr lang="en-US" dirty="0"/>
              <a:t>	=“</a:t>
            </a:r>
            <a:r>
              <a:rPr lang="en-US" dirty="0">
                <a:solidFill>
                  <a:srgbClr val="00B0F0"/>
                </a:solidFill>
              </a:rPr>
              <a:t>…-excessive</a:t>
            </a:r>
            <a:r>
              <a:rPr lang="en-US" dirty="0"/>
              <a:t>” (~95%)</a:t>
            </a:r>
          </a:p>
          <a:p>
            <a:pPr marL="0" indent="0">
              <a:buNone/>
            </a:pPr>
            <a:endParaRPr lang="en-US" dirty="0"/>
          </a:p>
          <a:p>
            <a:pPr marL="0" indent="0">
              <a:buNone/>
            </a:pPr>
            <a:r>
              <a:rPr lang="en-US" dirty="0"/>
              <a:t>Can we prevent them? Answer: only some right now, in future hope many </a:t>
            </a:r>
            <a:r>
              <a:rPr lang="en-US" dirty="0" err="1"/>
              <a:t>many</a:t>
            </a:r>
            <a:r>
              <a:rPr lang="en-US" dirty="0"/>
              <a:t> more… so finally </a:t>
            </a:r>
            <a:r>
              <a:rPr lang="en-US" dirty="0" err="1"/>
              <a:t>DynAMo</a:t>
            </a:r>
            <a:r>
              <a:rPr lang="en-US" dirty="0"/>
              <a:t> will auto-generate events only when needed</a:t>
            </a:r>
          </a:p>
          <a:p>
            <a:pPr marL="0" indent="0">
              <a:buNone/>
            </a:pPr>
            <a:endParaRPr lang="en-US" dirty="0"/>
          </a:p>
          <a:p>
            <a:endParaRPr lang="en-US" dirty="0"/>
          </a:p>
          <a:p>
            <a:endParaRPr lang="en-US" dirty="0"/>
          </a:p>
          <a:p>
            <a:pPr marL="0" indent="0">
              <a:buNone/>
            </a:pPr>
            <a:endParaRPr lang="en-US" sz="1600" dirty="0"/>
          </a:p>
          <a:p>
            <a:endParaRPr lang="en-US" dirty="0"/>
          </a:p>
        </p:txBody>
      </p:sp>
    </p:spTree>
    <p:extLst>
      <p:ext uri="{BB962C8B-B14F-4D97-AF65-F5344CB8AC3E}">
        <p14:creationId xmlns:p14="http://schemas.microsoft.com/office/powerpoint/2010/main" val="2410728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8456676" cy="498610"/>
          </a:xfrm>
        </p:spPr>
        <p:txBody>
          <a:bodyPr/>
          <a:lstStyle/>
          <a:p>
            <a:r>
              <a:rPr lang="en-US" dirty="0"/>
              <a:t>ESVT “Unknown Timestamp” and quality</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114783" cy="5574268"/>
          </a:xfrm>
        </p:spPr>
        <p:txBody>
          <a:bodyPr/>
          <a:lstStyle/>
          <a:p>
            <a:pPr marL="0" indent="0">
              <a:buNone/>
            </a:pPr>
            <a:r>
              <a:rPr lang="en-US" dirty="0"/>
              <a:t>Only HF6 has the fix.</a:t>
            </a:r>
          </a:p>
          <a:p>
            <a:pPr marL="0" indent="0">
              <a:buNone/>
            </a:pPr>
            <a:r>
              <a:rPr lang="en-US" dirty="0"/>
              <a:t>This is critical fix we need to deploy to all with ESVT system…. Later we all will need to remove this fix (but not critical if you forget).</a:t>
            </a:r>
          </a:p>
          <a:p>
            <a:pPr marL="0" indent="0">
              <a:buNone/>
            </a:pPr>
            <a:endParaRPr lang="en-US" dirty="0"/>
          </a:p>
          <a:p>
            <a:pPr marL="0" indent="0">
              <a:buNone/>
            </a:pPr>
            <a:r>
              <a:rPr lang="en-US" dirty="0"/>
              <a:t>V9 of the rules go back to initial implementation (means without HF6… it is bad performance as cache will be built since 1979)</a:t>
            </a:r>
          </a:p>
          <a:p>
            <a:pPr marL="0" indent="0">
              <a:buNone/>
            </a:pPr>
            <a:endParaRPr lang="en-US" dirty="0"/>
          </a:p>
          <a:p>
            <a:pPr marL="0" indent="0">
              <a:buNone/>
            </a:pPr>
            <a:r>
              <a:rPr lang="en-US" dirty="0"/>
              <a:t>Additional (unrelated) benefit of the trigger:</a:t>
            </a:r>
          </a:p>
          <a:p>
            <a:pPr marL="0" indent="0">
              <a:buNone/>
            </a:pPr>
            <a:r>
              <a:rPr lang="en-US" dirty="0"/>
              <a:t>It may be used to prevent the creation of new paths…</a:t>
            </a:r>
          </a:p>
          <a:p>
            <a:endParaRPr lang="en-US" dirty="0"/>
          </a:p>
          <a:p>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9D0E8D6C-0CE0-41C7-8A42-2B52BC69CF98}"/>
              </a:ext>
            </a:extLst>
          </p:cNvPr>
          <p:cNvPicPr>
            <a:picLocks noChangeAspect="1"/>
          </p:cNvPicPr>
          <p:nvPr/>
        </p:nvPicPr>
        <p:blipFill>
          <a:blip r:embed="rId3"/>
          <a:stretch>
            <a:fillRect/>
          </a:stretch>
        </p:blipFill>
        <p:spPr>
          <a:xfrm>
            <a:off x="7620000" y="1916841"/>
            <a:ext cx="1219200" cy="3393649"/>
          </a:xfrm>
          <a:prstGeom prst="rect">
            <a:avLst/>
          </a:prstGeom>
        </p:spPr>
      </p:pic>
    </p:spTree>
    <p:extLst>
      <p:ext uri="{BB962C8B-B14F-4D97-AF65-F5344CB8AC3E}">
        <p14:creationId xmlns:p14="http://schemas.microsoft.com/office/powerpoint/2010/main" val="408351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0" y="76200"/>
            <a:ext cx="8521492" cy="498610"/>
          </a:xfrm>
        </p:spPr>
        <p:txBody>
          <a:bodyPr/>
          <a:lstStyle/>
          <a:p>
            <a:r>
              <a:rPr lang="en-US" dirty="0"/>
              <a:t>Active Alarms Quality (per Barbara)…</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57057" y="756166"/>
            <a:ext cx="8876783" cy="6025634"/>
          </a:xfrm>
        </p:spPr>
        <p:txBody>
          <a:bodyPr/>
          <a:lstStyle/>
          <a:p>
            <a:pPr marL="0" indent="0">
              <a:buNone/>
            </a:pPr>
            <a:r>
              <a:rPr lang="en-US" dirty="0"/>
              <a:t>Assuming Active Sync is configured right…</a:t>
            </a:r>
          </a:p>
          <a:p>
            <a:pPr marL="0" indent="0">
              <a:buNone/>
            </a:pPr>
            <a:r>
              <a:rPr lang="en-US" dirty="0"/>
              <a:t>(and unknown timestamp hotfix is implemented)…</a:t>
            </a:r>
          </a:p>
          <a:p>
            <a:pPr marL="0" indent="0">
              <a:buNone/>
            </a:pPr>
            <a:r>
              <a:rPr lang="en-US" dirty="0">
                <a:solidFill>
                  <a:srgbClr val="FF0000"/>
                </a:solidFill>
              </a:rPr>
              <a:t>“accurate” means DAS + shelved is accurate also</a:t>
            </a:r>
          </a:p>
          <a:p>
            <a:pPr marL="0" indent="0">
              <a:buNone/>
            </a:pPr>
            <a:r>
              <a:rPr lang="en-US" u="sng" dirty="0">
                <a:solidFill>
                  <a:srgbClr val="0070C0"/>
                </a:solidFill>
              </a:rPr>
              <a:t>PROCESS ALARMS ()</a:t>
            </a:r>
            <a:r>
              <a:rPr lang="en-US" dirty="0"/>
              <a:t>:</a:t>
            </a:r>
          </a:p>
          <a:p>
            <a:r>
              <a:rPr lang="en-US" dirty="0"/>
              <a:t>Hybrid system: 60% </a:t>
            </a:r>
            <a:r>
              <a:rPr lang="en-US" u="sng" dirty="0">
                <a:solidFill>
                  <a:srgbClr val="FF0000"/>
                </a:solidFill>
              </a:rPr>
              <a:t>quality degrades over time</a:t>
            </a:r>
            <a:endParaRPr lang="en-US" dirty="0"/>
          </a:p>
          <a:p>
            <a:pPr marL="365760" lvl="2" indent="0">
              <a:buNone/>
            </a:pPr>
            <a:r>
              <a:rPr lang="en-US" dirty="0"/>
              <a:t>better disable Active Sync</a:t>
            </a:r>
          </a:p>
          <a:p>
            <a:r>
              <a:rPr lang="en-US" dirty="0"/>
              <a:t>TPS system: 50% quality degrades over time</a:t>
            </a:r>
          </a:p>
          <a:p>
            <a:r>
              <a:rPr lang="en-US" dirty="0"/>
              <a:t>TPS (EJC): 93% quality degrades over time</a:t>
            </a:r>
          </a:p>
          <a:p>
            <a:r>
              <a:rPr lang="en-US" dirty="0"/>
              <a:t>ESVT:  90%.... if (1) unknown timestamp fix implemented and (2) consoles synced</a:t>
            </a:r>
          </a:p>
          <a:p>
            <a:pPr marL="365760" lvl="2" indent="0">
              <a:buNone/>
            </a:pPr>
            <a:r>
              <a:rPr lang="en-US" dirty="0"/>
              <a:t>In some cases… maybe better disable Active Sync </a:t>
            </a:r>
            <a:r>
              <a:rPr lang="en-US" u="sng" dirty="0"/>
              <a:t>without</a:t>
            </a:r>
            <a:r>
              <a:rPr lang="en-US" dirty="0"/>
              <a:t> </a:t>
            </a:r>
            <a:r>
              <a:rPr lang="en-US" dirty="0">
                <a:solidFill>
                  <a:srgbClr val="FF0000"/>
                </a:solidFill>
              </a:rPr>
              <a:t>unknown timestamp hotfix</a:t>
            </a:r>
          </a:p>
          <a:p>
            <a:r>
              <a:rPr lang="en-US" dirty="0"/>
              <a:t>ESV: 95% (</a:t>
            </a:r>
            <a:r>
              <a:rPr lang="en-US" u="sng" dirty="0">
                <a:solidFill>
                  <a:srgbClr val="0070C0"/>
                </a:solidFill>
              </a:rPr>
              <a:t>SYSTEM ALARMS</a:t>
            </a:r>
            <a:r>
              <a:rPr lang="en-US" dirty="0"/>
              <a:t>: 70%)</a:t>
            </a:r>
          </a:p>
          <a:p>
            <a:endParaRPr lang="en-US" dirty="0"/>
          </a:p>
          <a:p>
            <a:pPr marL="0" indent="0">
              <a:buNone/>
            </a:pPr>
            <a:endParaRPr lang="en-US" sz="1600" dirty="0"/>
          </a:p>
          <a:p>
            <a:endParaRPr lang="en-US" dirty="0"/>
          </a:p>
        </p:txBody>
      </p:sp>
    </p:spTree>
    <p:extLst>
      <p:ext uri="{BB962C8B-B14F-4D97-AF65-F5344CB8AC3E}">
        <p14:creationId xmlns:p14="http://schemas.microsoft.com/office/powerpoint/2010/main" val="1841359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0" y="76200"/>
            <a:ext cx="9144000" cy="498610"/>
          </a:xfrm>
        </p:spPr>
        <p:txBody>
          <a:bodyPr/>
          <a:lstStyle/>
          <a:p>
            <a:r>
              <a:rPr lang="en-US" dirty="0"/>
              <a:t>Suppressed Sync Quality (per Barbara)</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76200" y="826532"/>
            <a:ext cx="9067799" cy="5345668"/>
          </a:xfrm>
        </p:spPr>
        <p:txBody>
          <a:bodyPr/>
          <a:lstStyle/>
          <a:p>
            <a:pPr marL="0" indent="0">
              <a:buNone/>
            </a:pPr>
            <a:r>
              <a:rPr lang="en-US" dirty="0"/>
              <a:t>Assuming Suppressed Sync is configured right…</a:t>
            </a:r>
          </a:p>
          <a:p>
            <a:pPr marL="0" indent="0">
              <a:buNone/>
            </a:pPr>
            <a:r>
              <a:rPr lang="en-US" u="sng" dirty="0">
                <a:solidFill>
                  <a:srgbClr val="0070C0"/>
                </a:solidFill>
              </a:rPr>
              <a:t>DISABLE-ENABLE-INHIBIT</a:t>
            </a:r>
            <a:r>
              <a:rPr lang="en-US" dirty="0"/>
              <a:t>:</a:t>
            </a:r>
          </a:p>
          <a:p>
            <a:r>
              <a:rPr lang="en-US" dirty="0"/>
              <a:t>70-99%, degrades over time</a:t>
            </a:r>
          </a:p>
          <a:p>
            <a:r>
              <a:rPr lang="en-US" dirty="0">
                <a:solidFill>
                  <a:srgbClr val="FF0000"/>
                </a:solidFill>
              </a:rPr>
              <a:t>Causes DRASTIC load to the system. </a:t>
            </a:r>
          </a:p>
          <a:p>
            <a:r>
              <a:rPr lang="en-US" dirty="0">
                <a:solidFill>
                  <a:srgbClr val="FF0000"/>
                </a:solidFill>
              </a:rPr>
              <a:t>OPC other issues</a:t>
            </a:r>
          </a:p>
          <a:p>
            <a:pPr marL="0" indent="0">
              <a:buNone/>
            </a:pPr>
            <a:r>
              <a:rPr lang="en-US" u="sng" dirty="0">
                <a:solidFill>
                  <a:srgbClr val="0070C0"/>
                </a:solidFill>
              </a:rPr>
              <a:t>DAS (partial sync with Active Sync)</a:t>
            </a:r>
          </a:p>
          <a:p>
            <a:pPr marL="0" indent="0">
              <a:buNone/>
            </a:pPr>
            <a:r>
              <a:rPr lang="en-US" dirty="0"/>
              <a:t>90% process active alarms but…System tags are mostly wrong, alarms not in-alarm are often wrong</a:t>
            </a:r>
          </a:p>
          <a:p>
            <a:pPr marL="0" indent="0">
              <a:buNone/>
            </a:pPr>
            <a:r>
              <a:rPr lang="en-US" dirty="0"/>
              <a:t>Overall - 50% as... Our reporting is NOT what customer wants</a:t>
            </a:r>
          </a:p>
          <a:p>
            <a:pPr marL="0" indent="0">
              <a:buNone/>
            </a:pPr>
            <a:r>
              <a:rPr lang="en-US" u="sng" dirty="0">
                <a:solidFill>
                  <a:srgbClr val="0070C0"/>
                </a:solidFill>
              </a:rPr>
              <a:t>Priority (no sync)</a:t>
            </a:r>
          </a:p>
          <a:p>
            <a:r>
              <a:rPr lang="en-US" dirty="0"/>
              <a:t>This should by default disabled in our standard rules! </a:t>
            </a:r>
          </a:p>
          <a:p>
            <a:pPr marL="0" indent="0">
              <a:buNone/>
            </a:pPr>
            <a:endParaRPr lang="en-US" sz="1600" dirty="0"/>
          </a:p>
          <a:p>
            <a:endParaRPr lang="en-US" dirty="0"/>
          </a:p>
        </p:txBody>
      </p:sp>
    </p:spTree>
    <p:extLst>
      <p:ext uri="{BB962C8B-B14F-4D97-AF65-F5344CB8AC3E}">
        <p14:creationId xmlns:p14="http://schemas.microsoft.com/office/powerpoint/2010/main" val="3979475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0" y="76200"/>
            <a:ext cx="9144000" cy="498610"/>
          </a:xfrm>
        </p:spPr>
        <p:txBody>
          <a:bodyPr/>
          <a:lstStyle/>
          <a:p>
            <a:r>
              <a:rPr lang="en-US" dirty="0"/>
              <a:t>Shelved Quality (per Barbara)</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345668"/>
          </a:xfrm>
        </p:spPr>
        <p:txBody>
          <a:bodyPr/>
          <a:lstStyle/>
          <a:p>
            <a:pPr marL="0" indent="0">
              <a:buNone/>
            </a:pPr>
            <a:r>
              <a:rPr lang="en-US" dirty="0"/>
              <a:t>70% accurate but the cost of that is high:</a:t>
            </a:r>
          </a:p>
          <a:p>
            <a:pPr>
              <a:buFontTx/>
              <a:buChar char="-"/>
            </a:pPr>
            <a:r>
              <a:rPr lang="en-US" dirty="0"/>
              <a:t>Large number of “…-confusing” events</a:t>
            </a:r>
          </a:p>
          <a:p>
            <a:pPr>
              <a:buFontTx/>
              <a:buChar char="-"/>
            </a:pPr>
            <a:r>
              <a:rPr lang="en-US" dirty="0"/>
              <a:t>(+”…-useless” events)</a:t>
            </a:r>
          </a:p>
          <a:p>
            <a:pPr marL="0" indent="0">
              <a:buNone/>
            </a:pPr>
            <a:r>
              <a:rPr lang="en-US" dirty="0"/>
              <a:t>For active process alarms quality &gt;90% </a:t>
            </a:r>
          </a:p>
          <a:p>
            <a:pPr marL="0" indent="0">
              <a:buNone/>
            </a:pPr>
            <a:r>
              <a:rPr lang="en-US" dirty="0"/>
              <a:t>For active system alarms quality 60%</a:t>
            </a:r>
          </a:p>
          <a:p>
            <a:pPr>
              <a:buFontTx/>
              <a:buChar char="-"/>
            </a:pPr>
            <a:endParaRPr lang="en-US" dirty="0"/>
          </a:p>
          <a:p>
            <a:pPr marL="0" indent="0">
              <a:buNone/>
            </a:pPr>
            <a:endParaRPr lang="en-US" sz="1600" dirty="0"/>
          </a:p>
          <a:p>
            <a:endParaRPr lang="en-US" dirty="0"/>
          </a:p>
        </p:txBody>
      </p:sp>
    </p:spTree>
    <p:extLst>
      <p:ext uri="{BB962C8B-B14F-4D97-AF65-F5344CB8AC3E}">
        <p14:creationId xmlns:p14="http://schemas.microsoft.com/office/powerpoint/2010/main" val="3118582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ChangeArrowheads="1"/>
          </p:cNvSpPr>
          <p:nvPr/>
        </p:nvSpPr>
        <p:spPr bwMode="auto">
          <a:xfrm>
            <a:off x="685800" y="1087438"/>
            <a:ext cx="7772400" cy="1905000"/>
          </a:xfrm>
          <a:prstGeom prst="rect">
            <a:avLst/>
          </a:prstGeom>
          <a:noFill/>
          <a:ln w="12700">
            <a:noFill/>
            <a:miter lim="800000"/>
            <a:headEnd/>
            <a:tailEnd/>
          </a:ln>
        </p:spPr>
        <p:txBody>
          <a:bodyPr lIns="90488" tIns="44450" rIns="90488" bIns="44450"/>
          <a:lstStyle/>
          <a:p>
            <a:pPr algn="ctr"/>
            <a:endParaRPr lang="en-US" sz="4400" dirty="0">
              <a:solidFill>
                <a:schemeClr val="tx2"/>
              </a:solidFill>
            </a:endParaRPr>
          </a:p>
        </p:txBody>
      </p:sp>
      <p:sp>
        <p:nvSpPr>
          <p:cNvPr id="4100" name="Rectangle 5"/>
          <p:cNvSpPr>
            <a:spLocks noChangeArrowheads="1"/>
          </p:cNvSpPr>
          <p:nvPr/>
        </p:nvSpPr>
        <p:spPr bwMode="auto">
          <a:xfrm>
            <a:off x="1905683" y="5181600"/>
            <a:ext cx="5410200" cy="1220787"/>
          </a:xfrm>
          <a:prstGeom prst="rect">
            <a:avLst/>
          </a:prstGeom>
          <a:noFill/>
          <a:ln w="12700">
            <a:noFill/>
            <a:miter lim="800000"/>
            <a:headEnd/>
            <a:tailEnd/>
          </a:ln>
        </p:spPr>
        <p:txBody>
          <a:bodyPr lIns="90488" tIns="44450" rIns="90488" bIns="44450"/>
          <a:lstStyle/>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By</a:t>
            </a:r>
          </a:p>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Barbara Schubert</a:t>
            </a:r>
          </a:p>
        </p:txBody>
      </p:sp>
      <p:sp>
        <p:nvSpPr>
          <p:cNvPr id="6" name="Rectangle 3"/>
          <p:cNvSpPr>
            <a:spLocks noChangeArrowheads="1"/>
          </p:cNvSpPr>
          <p:nvPr/>
        </p:nvSpPr>
        <p:spPr bwMode="auto">
          <a:xfrm>
            <a:off x="533400" y="762000"/>
            <a:ext cx="7997825" cy="1447800"/>
          </a:xfrm>
          <a:prstGeom prst="rect">
            <a:avLst/>
          </a:prstGeom>
          <a:noFill/>
          <a:ln w="12700">
            <a:noFill/>
            <a:miter lim="800000"/>
            <a:headEnd/>
            <a:tailEnd/>
          </a:ln>
        </p:spPr>
        <p:txBody>
          <a:bodyPr lIns="90488" tIns="44450" rIns="90488" bIns="44450"/>
          <a:lstStyle/>
          <a:p>
            <a:pPr algn="ctr"/>
            <a:endParaRPr lang="en-US" sz="4400" b="1" dirty="0">
              <a:solidFill>
                <a:schemeClr val="tx2"/>
              </a:solidFill>
              <a:latin typeface="Arial" panose="020B0604020202020204" pitchFamily="34" charset="0"/>
              <a:cs typeface="Arial" panose="020B0604020202020204" pitchFamily="34" charset="0"/>
            </a:endParaRPr>
          </a:p>
        </p:txBody>
      </p:sp>
      <p:sp>
        <p:nvSpPr>
          <p:cNvPr id="5" name="Title 4">
            <a:extLst>
              <a:ext uri="{FF2B5EF4-FFF2-40B4-BE49-F238E27FC236}">
                <a16:creationId xmlns:a16="http://schemas.microsoft.com/office/drawing/2014/main" id="{FF2364C8-423F-46FA-95D6-664C2353B7C5}"/>
              </a:ext>
            </a:extLst>
          </p:cNvPr>
          <p:cNvSpPr>
            <a:spLocks noGrp="1"/>
          </p:cNvSpPr>
          <p:nvPr>
            <p:ph type="title"/>
          </p:nvPr>
        </p:nvSpPr>
        <p:spPr>
          <a:xfrm>
            <a:off x="0" y="1262750"/>
            <a:ext cx="9144000" cy="3233050"/>
          </a:xfrm>
        </p:spPr>
        <p:txBody>
          <a:bodyPr/>
          <a:lstStyle/>
          <a:p>
            <a:br>
              <a:rPr lang="en-US" sz="4400" dirty="0"/>
            </a:br>
            <a:r>
              <a:rPr lang="en-US" sz="4400" dirty="0" err="1"/>
              <a:t>DynAMo</a:t>
            </a:r>
            <a:r>
              <a:rPr lang="en-US" sz="4400" dirty="0"/>
              <a:t> Standard Sync</a:t>
            </a:r>
            <a:br>
              <a:rPr lang="en-US" sz="4400" dirty="0"/>
            </a:br>
            <a:r>
              <a:rPr lang="en-US" sz="4400" dirty="0"/>
              <a:t>- how to implement</a:t>
            </a:r>
            <a:br>
              <a:rPr lang="en-US" sz="4400" dirty="0"/>
            </a:br>
            <a:br>
              <a:rPr lang="en-US" sz="4400" dirty="0"/>
            </a:br>
            <a:br>
              <a:rPr lang="en-US" sz="4400" dirty="0"/>
            </a:br>
            <a:br>
              <a:rPr lang="en-US" sz="4400" dirty="0"/>
            </a:br>
            <a:endParaRPr lang="en-US" sz="4400" dirty="0"/>
          </a:p>
        </p:txBody>
      </p:sp>
    </p:spTree>
    <p:extLst>
      <p:ext uri="{BB962C8B-B14F-4D97-AF65-F5344CB8AC3E}">
        <p14:creationId xmlns:p14="http://schemas.microsoft.com/office/powerpoint/2010/main" val="1151945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924" y="76200"/>
            <a:ext cx="7986568" cy="498610"/>
          </a:xfrm>
        </p:spPr>
        <p:txBody>
          <a:bodyPr/>
          <a:lstStyle/>
          <a:p>
            <a:r>
              <a:rPr lang="en-US" dirty="0"/>
              <a:t>M&amp;R </a:t>
            </a:r>
            <a:r>
              <a:rPr lang="en-US" dirty="0">
                <a:latin typeface="Times New Roman" pitchFamily="18" charset="0"/>
              </a:rPr>
              <a:t>– </a:t>
            </a:r>
            <a:r>
              <a:rPr lang="en-US" dirty="0"/>
              <a:t>Simplified Data Flow</a:t>
            </a:r>
          </a:p>
        </p:txBody>
      </p:sp>
      <p:sp>
        <p:nvSpPr>
          <p:cNvPr id="4" name="Rectangle 3"/>
          <p:cNvSpPr/>
          <p:nvPr/>
        </p:nvSpPr>
        <p:spPr>
          <a:xfrm>
            <a:off x="3733800" y="954105"/>
            <a:ext cx="1828800" cy="922410"/>
          </a:xfrm>
          <a:prstGeom prst="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bg2"/>
                </a:solidFill>
              </a:rPr>
              <a:t>Collector</a:t>
            </a:r>
          </a:p>
          <a:p>
            <a:pPr algn="ctr"/>
            <a:r>
              <a:rPr lang="en-US" dirty="0">
                <a:solidFill>
                  <a:schemeClr val="bg2"/>
                </a:solidFill>
              </a:rPr>
              <a:t>(service)</a:t>
            </a:r>
          </a:p>
        </p:txBody>
      </p:sp>
      <p:sp>
        <p:nvSpPr>
          <p:cNvPr id="5" name="Rectangle 4"/>
          <p:cNvSpPr/>
          <p:nvPr/>
        </p:nvSpPr>
        <p:spPr>
          <a:xfrm>
            <a:off x="304800" y="871540"/>
            <a:ext cx="2590800" cy="2590800"/>
          </a:xfrm>
          <a:prstGeom prst="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2"/>
              </a:solidFill>
            </a:endParaRPr>
          </a:p>
          <a:p>
            <a:pPr algn="ctr"/>
            <a:endParaRPr lang="en-US" dirty="0">
              <a:solidFill>
                <a:schemeClr val="bg2"/>
              </a:solidFill>
            </a:endParaRPr>
          </a:p>
          <a:p>
            <a:pPr algn="ctr"/>
            <a:r>
              <a:rPr lang="en-US" dirty="0">
                <a:solidFill>
                  <a:schemeClr val="bg2"/>
                </a:solidFill>
              </a:rPr>
              <a:t>Archiver</a:t>
            </a:r>
          </a:p>
          <a:p>
            <a:pPr algn="ctr"/>
            <a:endParaRPr lang="en-US" dirty="0">
              <a:solidFill>
                <a:schemeClr val="bg2"/>
              </a:solidFill>
            </a:endParaRPr>
          </a:p>
          <a:p>
            <a:pPr algn="ctr"/>
            <a:endParaRPr lang="en-US" dirty="0">
              <a:solidFill>
                <a:schemeClr val="bg2"/>
              </a:solidFill>
            </a:endParaRPr>
          </a:p>
          <a:p>
            <a:pPr algn="ctr"/>
            <a:endParaRPr lang="en-US" dirty="0">
              <a:solidFill>
                <a:schemeClr val="bg2"/>
              </a:solidFill>
            </a:endParaRPr>
          </a:p>
          <a:p>
            <a:pPr algn="ctr"/>
            <a:endParaRPr lang="en-US" dirty="0">
              <a:solidFill>
                <a:schemeClr val="bg2"/>
              </a:solidFill>
            </a:endParaRPr>
          </a:p>
          <a:p>
            <a:pPr algn="ctr"/>
            <a:endParaRPr lang="en-US" dirty="0">
              <a:solidFill>
                <a:schemeClr val="bg2"/>
              </a:solidFill>
            </a:endParaRPr>
          </a:p>
          <a:p>
            <a:r>
              <a:rPr lang="en-US" dirty="0">
                <a:solidFill>
                  <a:schemeClr val="bg2"/>
                </a:solidFill>
              </a:rPr>
              <a:t>(service)</a:t>
            </a:r>
          </a:p>
          <a:p>
            <a:pPr algn="ctr"/>
            <a:endParaRPr lang="en-US" dirty="0">
              <a:solidFill>
                <a:schemeClr val="bg2"/>
              </a:solidFill>
            </a:endParaRPr>
          </a:p>
          <a:p>
            <a:pPr algn="ctr"/>
            <a:endParaRPr lang="en-US" dirty="0">
              <a:solidFill>
                <a:schemeClr val="bg2"/>
              </a:solidFill>
            </a:endParaRPr>
          </a:p>
        </p:txBody>
      </p:sp>
      <p:sp>
        <p:nvSpPr>
          <p:cNvPr id="6" name="Rectangle 5"/>
          <p:cNvSpPr/>
          <p:nvPr/>
        </p:nvSpPr>
        <p:spPr>
          <a:xfrm>
            <a:off x="609600" y="1371600"/>
            <a:ext cx="1962150" cy="598846"/>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800" dirty="0">
                <a:solidFill>
                  <a:schemeClr val="bg2"/>
                </a:solidFill>
              </a:rPr>
              <a:t>Message Parsing</a:t>
            </a:r>
          </a:p>
          <a:p>
            <a:pPr algn="ctr"/>
            <a:r>
              <a:rPr lang="en-US" sz="1800" dirty="0">
                <a:solidFill>
                  <a:schemeClr val="bg2"/>
                </a:solidFill>
              </a:rPr>
              <a:t>(Rules)</a:t>
            </a:r>
          </a:p>
        </p:txBody>
      </p:sp>
      <p:sp>
        <p:nvSpPr>
          <p:cNvPr id="7" name="Rectangle 6"/>
          <p:cNvSpPr/>
          <p:nvPr/>
        </p:nvSpPr>
        <p:spPr>
          <a:xfrm>
            <a:off x="609600" y="2286000"/>
            <a:ext cx="1962150" cy="587022"/>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800" dirty="0">
                <a:solidFill>
                  <a:schemeClr val="bg2"/>
                </a:solidFill>
              </a:rPr>
              <a:t>Post Processing</a:t>
            </a:r>
          </a:p>
          <a:p>
            <a:pPr algn="ctr"/>
            <a:r>
              <a:rPr lang="en-US" sz="1800" dirty="0">
                <a:solidFill>
                  <a:schemeClr val="bg2"/>
                </a:solidFill>
              </a:rPr>
              <a:t>(VB Script)</a:t>
            </a:r>
          </a:p>
        </p:txBody>
      </p:sp>
      <p:sp>
        <p:nvSpPr>
          <p:cNvPr id="11" name="Rectangle 10"/>
          <p:cNvSpPr/>
          <p:nvPr/>
        </p:nvSpPr>
        <p:spPr>
          <a:xfrm>
            <a:off x="6573520" y="6133071"/>
            <a:ext cx="1219201" cy="5116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800" dirty="0">
                <a:solidFill>
                  <a:schemeClr val="bg2"/>
                </a:solidFill>
              </a:rPr>
              <a:t>Cache</a:t>
            </a:r>
          </a:p>
        </p:txBody>
      </p:sp>
      <p:cxnSp>
        <p:nvCxnSpPr>
          <p:cNvPr id="15" name="Straight Arrow Connector 14"/>
          <p:cNvCxnSpPr>
            <a:cxnSpLocks/>
            <a:stCxn id="4" idx="1"/>
          </p:cNvCxnSpPr>
          <p:nvPr/>
        </p:nvCxnSpPr>
        <p:spPr>
          <a:xfrm flipH="1">
            <a:off x="2495550" y="1415310"/>
            <a:ext cx="1238250" cy="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724400" y="2362200"/>
            <a:ext cx="0" cy="25142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6019800" y="4038600"/>
            <a:ext cx="1828800" cy="914400"/>
          </a:xfrm>
          <a:prstGeom prst="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bg2"/>
                </a:solidFill>
              </a:rPr>
              <a:t>Analyzer</a:t>
            </a:r>
          </a:p>
          <a:p>
            <a:pPr algn="ctr"/>
            <a:r>
              <a:rPr lang="en-US" dirty="0">
                <a:solidFill>
                  <a:schemeClr val="bg2"/>
                </a:solidFill>
              </a:rPr>
              <a:t>(service)</a:t>
            </a:r>
          </a:p>
        </p:txBody>
      </p:sp>
      <p:cxnSp>
        <p:nvCxnSpPr>
          <p:cNvPr id="30" name="Straight Arrow Connector 29"/>
          <p:cNvCxnSpPr>
            <a:cxnSpLocks/>
            <a:stCxn id="11" idx="0"/>
            <a:endCxn id="26" idx="2"/>
          </p:cNvCxnSpPr>
          <p:nvPr/>
        </p:nvCxnSpPr>
        <p:spPr>
          <a:xfrm flipH="1" flipV="1">
            <a:off x="6934200" y="4953000"/>
            <a:ext cx="248921" cy="1180071"/>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cxnSpLocks/>
          </p:cNvCxnSpPr>
          <p:nvPr/>
        </p:nvCxnSpPr>
        <p:spPr>
          <a:xfrm>
            <a:off x="1752600" y="1970446"/>
            <a:ext cx="0" cy="315554"/>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36812" y="3733800"/>
            <a:ext cx="1863011" cy="461665"/>
          </a:xfrm>
          <a:prstGeom prst="rect">
            <a:avLst/>
          </a:prstGeom>
        </p:spPr>
        <p:txBody>
          <a:bodyPr wrap="none">
            <a:spAutoFit/>
          </a:bodyPr>
          <a:lstStyle/>
          <a:p>
            <a:pPr algn="ctr"/>
            <a:r>
              <a:rPr lang="en-US" dirty="0">
                <a:solidFill>
                  <a:schemeClr val="bg2"/>
                </a:solidFill>
                <a:latin typeface="+mn-lt"/>
              </a:rPr>
              <a:t>Database(s</a:t>
            </a:r>
            <a:r>
              <a:rPr lang="en-US" dirty="0">
                <a:solidFill>
                  <a:schemeClr val="bg2"/>
                </a:solidFill>
              </a:rPr>
              <a:t>)</a:t>
            </a:r>
          </a:p>
        </p:txBody>
      </p:sp>
      <p:grpSp>
        <p:nvGrpSpPr>
          <p:cNvPr id="3" name="Group 78"/>
          <p:cNvGrpSpPr/>
          <p:nvPr/>
        </p:nvGrpSpPr>
        <p:grpSpPr>
          <a:xfrm>
            <a:off x="609600" y="4114800"/>
            <a:ext cx="2133600" cy="2590800"/>
            <a:chOff x="762000" y="4114800"/>
            <a:chExt cx="2133600" cy="2286000"/>
          </a:xfr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grpSpPr>
        <p:sp>
          <p:nvSpPr>
            <p:cNvPr id="75" name="Oval 74"/>
            <p:cNvSpPr/>
            <p:nvPr/>
          </p:nvSpPr>
          <p:spPr>
            <a:xfrm>
              <a:off x="762000" y="6096000"/>
              <a:ext cx="2133600" cy="3048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4" name="Rectangle 73"/>
            <p:cNvSpPr/>
            <p:nvPr/>
          </p:nvSpPr>
          <p:spPr>
            <a:xfrm>
              <a:off x="762000" y="4267200"/>
              <a:ext cx="2133600" cy="19812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3" name="Oval 72"/>
            <p:cNvSpPr/>
            <p:nvPr/>
          </p:nvSpPr>
          <p:spPr>
            <a:xfrm>
              <a:off x="762000" y="4114800"/>
              <a:ext cx="2133600" cy="3048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8" name="Oval 77"/>
            <p:cNvSpPr/>
            <p:nvPr/>
          </p:nvSpPr>
          <p:spPr>
            <a:xfrm>
              <a:off x="762000" y="6096000"/>
              <a:ext cx="2133600" cy="3048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sp>
        <p:nvSpPr>
          <p:cNvPr id="54" name="Rectangle 53"/>
          <p:cNvSpPr/>
          <p:nvPr/>
        </p:nvSpPr>
        <p:spPr>
          <a:xfrm>
            <a:off x="914400" y="4495800"/>
            <a:ext cx="1600200" cy="304800"/>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800" dirty="0">
                <a:solidFill>
                  <a:schemeClr val="bg2"/>
                </a:solidFill>
              </a:rPr>
              <a:t>Queue</a:t>
            </a:r>
          </a:p>
        </p:txBody>
      </p:sp>
      <p:cxnSp>
        <p:nvCxnSpPr>
          <p:cNvPr id="18" name="Straight Arrow Connector 17"/>
          <p:cNvCxnSpPr>
            <a:cxnSpLocks/>
            <a:endCxn id="54" idx="0"/>
          </p:cNvCxnSpPr>
          <p:nvPr/>
        </p:nvCxnSpPr>
        <p:spPr>
          <a:xfrm flipH="1">
            <a:off x="1714500" y="2895600"/>
            <a:ext cx="38100" cy="16002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2810848" y="5105400"/>
            <a:ext cx="2667000" cy="685800"/>
          </a:xfrm>
          <a:prstGeom prst="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err="1">
                <a:solidFill>
                  <a:schemeClr val="bg2"/>
                </a:solidFill>
              </a:rPr>
              <a:t>Archiver</a:t>
            </a:r>
            <a:r>
              <a:rPr lang="en-US" dirty="0">
                <a:solidFill>
                  <a:schemeClr val="bg2"/>
                </a:solidFill>
              </a:rPr>
              <a:t> Interface (service)</a:t>
            </a:r>
          </a:p>
        </p:txBody>
      </p:sp>
      <p:cxnSp>
        <p:nvCxnSpPr>
          <p:cNvPr id="84" name="Straight Arrow Connector 83"/>
          <p:cNvCxnSpPr>
            <a:cxnSpLocks/>
            <a:stCxn id="54" idx="2"/>
          </p:cNvCxnSpPr>
          <p:nvPr/>
        </p:nvCxnSpPr>
        <p:spPr>
          <a:xfrm>
            <a:off x="1714500" y="4800600"/>
            <a:ext cx="2228850" cy="3048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685800" y="6172200"/>
            <a:ext cx="1981200" cy="304800"/>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800" dirty="0">
                <a:solidFill>
                  <a:schemeClr val="bg2"/>
                </a:solidFill>
              </a:rPr>
              <a:t>Assets, Events</a:t>
            </a:r>
          </a:p>
        </p:txBody>
      </p:sp>
      <p:cxnSp>
        <p:nvCxnSpPr>
          <p:cNvPr id="90" name="Straight Arrow Connector 89"/>
          <p:cNvCxnSpPr>
            <a:cxnSpLocks/>
          </p:cNvCxnSpPr>
          <p:nvPr/>
        </p:nvCxnSpPr>
        <p:spPr>
          <a:xfrm flipH="1">
            <a:off x="1699260" y="5805036"/>
            <a:ext cx="1782148" cy="3810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2" name="Rectangle 91"/>
          <p:cNvSpPr/>
          <p:nvPr/>
        </p:nvSpPr>
        <p:spPr>
          <a:xfrm>
            <a:off x="2781300" y="1277011"/>
            <a:ext cx="1257300" cy="304800"/>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800" dirty="0">
                <a:solidFill>
                  <a:schemeClr val="bg2"/>
                </a:solidFill>
              </a:rPr>
              <a:t>Messages</a:t>
            </a:r>
          </a:p>
        </p:txBody>
      </p:sp>
      <p:sp>
        <p:nvSpPr>
          <p:cNvPr id="118" name="Oval 117"/>
          <p:cNvSpPr/>
          <p:nvPr/>
        </p:nvSpPr>
        <p:spPr>
          <a:xfrm>
            <a:off x="3720932" y="2209800"/>
            <a:ext cx="1600200" cy="6858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1">
            <a:schemeClr val="accent2"/>
          </a:lnRef>
          <a:fillRef idx="1002">
            <a:schemeClr val="lt2"/>
          </a:fillRef>
          <a:effectRef idx="1">
            <a:schemeClr val="accent2"/>
          </a:effectRef>
          <a:fontRef idx="minor">
            <a:schemeClr val="dk1"/>
          </a:fontRef>
        </p:style>
        <p:txBody>
          <a:bodyPr rtlCol="0" anchor="ctr"/>
          <a:lstStyle/>
          <a:p>
            <a:pPr algn="ctr"/>
            <a:r>
              <a:rPr lang="en-US" sz="1800" dirty="0">
                <a:solidFill>
                  <a:schemeClr val="bg2"/>
                </a:solidFill>
              </a:rPr>
              <a:t>Viewer</a:t>
            </a:r>
          </a:p>
        </p:txBody>
      </p:sp>
      <p:cxnSp>
        <p:nvCxnSpPr>
          <p:cNvPr id="16" name="Straight Arrow Connector 15"/>
          <p:cNvCxnSpPr>
            <a:cxnSpLocks/>
            <a:stCxn id="7" idx="3"/>
            <a:endCxn id="118" idx="2"/>
          </p:cNvCxnSpPr>
          <p:nvPr/>
        </p:nvCxnSpPr>
        <p:spPr>
          <a:xfrm flipV="1">
            <a:off x="2571750" y="2552700"/>
            <a:ext cx="1149182" cy="26811"/>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3" name="Oval 122"/>
          <p:cNvSpPr/>
          <p:nvPr/>
        </p:nvSpPr>
        <p:spPr>
          <a:xfrm>
            <a:off x="3646714" y="4164790"/>
            <a:ext cx="1600200" cy="6858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1">
            <a:schemeClr val="accent2"/>
          </a:lnRef>
          <a:fillRef idx="1002">
            <a:schemeClr val="lt2"/>
          </a:fillRef>
          <a:effectRef idx="1">
            <a:schemeClr val="accent2"/>
          </a:effectRef>
          <a:fontRef idx="minor">
            <a:schemeClr val="dk1"/>
          </a:fontRef>
        </p:style>
        <p:txBody>
          <a:bodyPr rtlCol="0" anchor="ctr"/>
          <a:lstStyle/>
          <a:p>
            <a:pPr algn="ctr"/>
            <a:r>
              <a:rPr lang="en-US" sz="1800" dirty="0">
                <a:solidFill>
                  <a:schemeClr val="bg2"/>
                </a:solidFill>
              </a:rPr>
              <a:t>Web Reports</a:t>
            </a:r>
          </a:p>
        </p:txBody>
      </p:sp>
      <p:cxnSp>
        <p:nvCxnSpPr>
          <p:cNvPr id="124" name="Straight Arrow Connector 123"/>
          <p:cNvCxnSpPr>
            <a:stCxn id="26" idx="1"/>
            <a:endCxn id="123" idx="6"/>
          </p:cNvCxnSpPr>
          <p:nvPr/>
        </p:nvCxnSpPr>
        <p:spPr>
          <a:xfrm flipH="1">
            <a:off x="5246914" y="4495800"/>
            <a:ext cx="772886" cy="1189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5943600" y="2895600"/>
            <a:ext cx="1828800" cy="914400"/>
          </a:xfrm>
          <a:prstGeom prst="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bg2"/>
                </a:solidFill>
              </a:rPr>
              <a:t>Scheduler</a:t>
            </a:r>
          </a:p>
          <a:p>
            <a:pPr algn="ctr"/>
            <a:r>
              <a:rPr lang="en-US" dirty="0">
                <a:solidFill>
                  <a:schemeClr val="bg2"/>
                </a:solidFill>
              </a:rPr>
              <a:t>(service)</a:t>
            </a:r>
          </a:p>
        </p:txBody>
      </p:sp>
      <p:cxnSp>
        <p:nvCxnSpPr>
          <p:cNvPr id="133" name="Straight Arrow Connector 132"/>
          <p:cNvCxnSpPr>
            <a:cxnSpLocks/>
            <a:endCxn id="128" idx="2"/>
          </p:cNvCxnSpPr>
          <p:nvPr/>
        </p:nvCxnSpPr>
        <p:spPr>
          <a:xfrm flipH="1" flipV="1">
            <a:off x="6858000" y="3810000"/>
            <a:ext cx="2" cy="28575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4" name="Oval 133"/>
          <p:cNvSpPr/>
          <p:nvPr/>
        </p:nvSpPr>
        <p:spPr>
          <a:xfrm>
            <a:off x="3657600" y="2990850"/>
            <a:ext cx="1600200" cy="685800"/>
          </a:xfrm>
          <a:prstGeom prst="ellipse">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style>
          <a:lnRef idx="1">
            <a:schemeClr val="accent2"/>
          </a:lnRef>
          <a:fillRef idx="1002">
            <a:schemeClr val="lt2"/>
          </a:fillRef>
          <a:effectRef idx="1">
            <a:schemeClr val="accent2"/>
          </a:effectRef>
          <a:fontRef idx="minor">
            <a:schemeClr val="dk1"/>
          </a:fontRef>
        </p:style>
        <p:txBody>
          <a:bodyPr rtlCol="0" anchor="ctr"/>
          <a:lstStyle/>
          <a:p>
            <a:pPr algn="ctr"/>
            <a:r>
              <a:rPr lang="en-US" sz="1800" dirty="0">
                <a:solidFill>
                  <a:schemeClr val="bg2"/>
                </a:solidFill>
              </a:rPr>
              <a:t>Email</a:t>
            </a:r>
          </a:p>
        </p:txBody>
      </p:sp>
      <p:cxnSp>
        <p:nvCxnSpPr>
          <p:cNvPr id="135" name="Straight Arrow Connector 134"/>
          <p:cNvCxnSpPr>
            <a:stCxn id="128" idx="1"/>
            <a:endCxn id="134" idx="6"/>
          </p:cNvCxnSpPr>
          <p:nvPr/>
        </p:nvCxnSpPr>
        <p:spPr>
          <a:xfrm flipH="1" flipV="1">
            <a:off x="5257800" y="3333750"/>
            <a:ext cx="685800" cy="1905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cxnSpLocks/>
          </p:cNvCxnSpPr>
          <p:nvPr/>
        </p:nvCxnSpPr>
        <p:spPr>
          <a:xfrm flipV="1">
            <a:off x="2231941" y="5798118"/>
            <a:ext cx="1828800" cy="3810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53C6B412-4950-41A1-9DE3-43D8990FD6F9}"/>
              </a:ext>
            </a:extLst>
          </p:cNvPr>
          <p:cNvPicPr>
            <a:picLocks noChangeAspect="1"/>
          </p:cNvPicPr>
          <p:nvPr/>
        </p:nvPicPr>
        <p:blipFill>
          <a:blip r:embed="rId2"/>
          <a:stretch>
            <a:fillRect/>
          </a:stretch>
        </p:blipFill>
        <p:spPr>
          <a:xfrm>
            <a:off x="5819481" y="774112"/>
            <a:ext cx="3143838" cy="1939815"/>
          </a:xfrm>
          <a:prstGeom prst="rect">
            <a:avLst/>
          </a:prstGeom>
        </p:spPr>
      </p:pic>
      <p:sp>
        <p:nvSpPr>
          <p:cNvPr id="8" name="Oval 7">
            <a:extLst>
              <a:ext uri="{FF2B5EF4-FFF2-40B4-BE49-F238E27FC236}">
                <a16:creationId xmlns:a16="http://schemas.microsoft.com/office/drawing/2014/main" id="{42D8FB31-E743-4AD3-902F-4A20FCEF2C8B}"/>
              </a:ext>
            </a:extLst>
          </p:cNvPr>
          <p:cNvSpPr/>
          <p:nvPr/>
        </p:nvSpPr>
        <p:spPr>
          <a:xfrm>
            <a:off x="3505200" y="1066800"/>
            <a:ext cx="2286000" cy="739624"/>
          </a:xfrm>
          <a:prstGeom prst="ellipse">
            <a:avLst/>
          </a:prstGeom>
          <a:noFill/>
          <a:ln w="38100">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cxnSp>
        <p:nvCxnSpPr>
          <p:cNvPr id="50" name="Straight Arrow Connector 49">
            <a:extLst>
              <a:ext uri="{FF2B5EF4-FFF2-40B4-BE49-F238E27FC236}">
                <a16:creationId xmlns:a16="http://schemas.microsoft.com/office/drawing/2014/main" id="{AE2134BE-5C37-4811-8C15-3F974044206A}"/>
              </a:ext>
            </a:extLst>
          </p:cNvPr>
          <p:cNvCxnSpPr>
            <a:cxnSpLocks/>
            <a:endCxn id="11" idx="1"/>
          </p:cNvCxnSpPr>
          <p:nvPr/>
        </p:nvCxnSpPr>
        <p:spPr>
          <a:xfrm>
            <a:off x="4309661" y="5820384"/>
            <a:ext cx="2263859" cy="568526"/>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9A27F24-2F18-4176-AFF5-B526DC75BD00}"/>
              </a:ext>
            </a:extLst>
          </p:cNvPr>
          <p:cNvCxnSpPr>
            <a:cxnSpLocks/>
            <a:endCxn id="54" idx="1"/>
          </p:cNvCxnSpPr>
          <p:nvPr/>
        </p:nvCxnSpPr>
        <p:spPr>
          <a:xfrm>
            <a:off x="76200" y="4460240"/>
            <a:ext cx="838200" cy="187960"/>
          </a:xfrm>
          <a:prstGeom prst="straightConnector1">
            <a:avLst/>
          </a:prstGeom>
          <a:ln w="762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946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1" nodeType="clickEffect">
                                  <p:stCondLst>
                                    <p:cond delay="0"/>
                                  </p:stCondLst>
                                  <p:childTnLst>
                                    <p:animMotion origin="layout" path="M -3.33333E-6 -7.40741E-7 L -0.32083 0.0287 " pathEditMode="relative" rAng="0" ptsTypes="AA">
                                      <p:cBhvr>
                                        <p:cTn id="15" dur="2000" fill="hold"/>
                                        <p:tgtEl>
                                          <p:spTgt spid="8"/>
                                        </p:tgtEl>
                                        <p:attrNameLst>
                                          <p:attrName>ppt_x</p:attrName>
                                          <p:attrName>ppt_y</p:attrName>
                                        </p:attrNameLst>
                                      </p:cBhvr>
                                      <p:rCtr x="-16042" y="1435"/>
                                    </p:animMotion>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grpId="2" nodeType="clickEffect">
                                  <p:stCondLst>
                                    <p:cond delay="0"/>
                                  </p:stCondLst>
                                  <p:childTnLst>
                                    <p:animMotion origin="layout" path="M -0.32083 0.0287 L -0.3368 0.17153 " pathEditMode="relative" rAng="0" ptsTypes="AA">
                                      <p:cBhvr>
                                        <p:cTn id="19" dur="2000" fill="hold"/>
                                        <p:tgtEl>
                                          <p:spTgt spid="8"/>
                                        </p:tgtEl>
                                        <p:attrNameLst>
                                          <p:attrName>ppt_x</p:attrName>
                                          <p:attrName>ppt_y</p:attrName>
                                        </p:attrNameLst>
                                      </p:cBhvr>
                                      <p:rCtr x="0" y="6829"/>
                                    </p:animMotion>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grpId="3" nodeType="clickEffect">
                                  <p:stCondLst>
                                    <p:cond delay="0"/>
                                  </p:stCondLst>
                                  <p:childTnLst>
                                    <p:animMotion origin="layout" path="M -0.3368 0.16829 L -0.32673 0.45718 " pathEditMode="relative" rAng="0" ptsTypes="AA">
                                      <p:cBhvr>
                                        <p:cTn id="23" dur="2000" fill="hold"/>
                                        <p:tgtEl>
                                          <p:spTgt spid="8"/>
                                        </p:tgtEl>
                                        <p:attrNameLst>
                                          <p:attrName>ppt_x</p:attrName>
                                          <p:attrName>ppt_y</p:attrName>
                                        </p:attrNameLst>
                                      </p:cBhvr>
                                      <p:rCtr x="503" y="14444"/>
                                    </p:animMotion>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4" nodeType="clickEffect">
                                  <p:stCondLst>
                                    <p:cond delay="0"/>
                                  </p:stCondLst>
                                  <p:childTnLst>
                                    <p:animMotion origin="layout" path="M -0.32673 0.45718 L -0.32673 0.69607 " pathEditMode="relative" rAng="0" ptsTypes="AA">
                                      <p:cBhvr>
                                        <p:cTn id="27" dur="2000" fill="hold"/>
                                        <p:tgtEl>
                                          <p:spTgt spid="8"/>
                                        </p:tgtEl>
                                        <p:attrNameLst>
                                          <p:attrName>ppt_x</p:attrName>
                                          <p:attrName>ppt_y</p:attrName>
                                        </p:attrNameLst>
                                      </p:cBhvr>
                                      <p:rCtr x="122" y="11389"/>
                                    </p:animMotion>
                                  </p:childTnLst>
                                </p:cTn>
                              </p:par>
                            </p:childTnLst>
                          </p:cTn>
                        </p:par>
                      </p:childTnLst>
                    </p:cTn>
                  </p:par>
                  <p:par>
                    <p:cTn id="28" fill="hold">
                      <p:stCondLst>
                        <p:cond delay="indefinite"/>
                      </p:stCondLst>
                      <p:childTnLst>
                        <p:par>
                          <p:cTn id="29" fill="hold">
                            <p:stCondLst>
                              <p:cond delay="0"/>
                            </p:stCondLst>
                            <p:childTnLst>
                              <p:par>
                                <p:cTn id="30" presetID="42" presetClass="path" presetSubtype="0" accel="50000" decel="50000" fill="hold" grpId="5" nodeType="clickEffect">
                                  <p:stCondLst>
                                    <p:cond delay="0"/>
                                  </p:stCondLst>
                                  <p:childTnLst>
                                    <p:animMotion origin="layout" path="M -0.32674 0.69607 L 0.27726 0.72199 " pathEditMode="relative" rAng="0" ptsTypes="AA">
                                      <p:cBhvr>
                                        <p:cTn id="31" dur="2000" fill="hold"/>
                                        <p:tgtEl>
                                          <p:spTgt spid="8"/>
                                        </p:tgtEl>
                                        <p:attrNameLst>
                                          <p:attrName>ppt_x</p:attrName>
                                          <p:attrName>ppt_y</p:attrName>
                                        </p:attrNameLst>
                                      </p:cBhvr>
                                      <p:rCtr x="29983" y="8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8" grpId="3" animBg="1"/>
      <p:bldP spid="8" grpId="4" animBg="1"/>
      <p:bldP spid="8" grpId="5"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D4ACD64-EB0F-419D-B712-51F8FC07127E}"/>
              </a:ext>
            </a:extLst>
          </p:cNvPr>
          <p:cNvPicPr>
            <a:picLocks noChangeAspect="1"/>
          </p:cNvPicPr>
          <p:nvPr/>
        </p:nvPicPr>
        <p:blipFill>
          <a:blip r:embed="rId2"/>
          <a:stretch>
            <a:fillRect/>
          </a:stretch>
        </p:blipFill>
        <p:spPr>
          <a:xfrm>
            <a:off x="685800" y="2286000"/>
            <a:ext cx="5993812" cy="3200399"/>
          </a:xfrm>
          <a:prstGeom prst="rect">
            <a:avLst/>
          </a:prstGeom>
          <a:ln w="31750">
            <a:solidFill>
              <a:schemeClr val="tx1"/>
            </a:solidFill>
          </a:ln>
        </p:spPr>
      </p:pic>
      <p:sp>
        <p:nvSpPr>
          <p:cNvPr id="2" name="Title 1">
            <a:extLst>
              <a:ext uri="{FF2B5EF4-FFF2-40B4-BE49-F238E27FC236}">
                <a16:creationId xmlns:a16="http://schemas.microsoft.com/office/drawing/2014/main" id="{0C39EB4A-B99B-4061-A859-39BA028CAAEF}"/>
              </a:ext>
            </a:extLst>
          </p:cNvPr>
          <p:cNvSpPr>
            <a:spLocks noGrp="1"/>
          </p:cNvSpPr>
          <p:nvPr>
            <p:ph type="title"/>
          </p:nvPr>
        </p:nvSpPr>
        <p:spPr>
          <a:xfrm>
            <a:off x="534924" y="76200"/>
            <a:ext cx="7986568" cy="498610"/>
          </a:xfrm>
        </p:spPr>
        <p:txBody>
          <a:bodyPr/>
          <a:lstStyle/>
          <a:p>
            <a:r>
              <a:rPr lang="en-US" dirty="0"/>
              <a:t>Active Alarm Sync – OPTIONS</a:t>
            </a:r>
          </a:p>
        </p:txBody>
      </p:sp>
      <p:sp>
        <p:nvSpPr>
          <p:cNvPr id="3" name="Content Placeholder 2">
            <a:extLst>
              <a:ext uri="{FF2B5EF4-FFF2-40B4-BE49-F238E27FC236}">
                <a16:creationId xmlns:a16="http://schemas.microsoft.com/office/drawing/2014/main" id="{1C000093-3665-43F8-95FB-E4BF01C1C4DD}"/>
              </a:ext>
            </a:extLst>
          </p:cNvPr>
          <p:cNvSpPr>
            <a:spLocks noGrp="1"/>
          </p:cNvSpPr>
          <p:nvPr>
            <p:ph sz="quarter" idx="12"/>
          </p:nvPr>
        </p:nvSpPr>
        <p:spPr>
          <a:xfrm>
            <a:off x="548641" y="990600"/>
            <a:ext cx="8085560" cy="1371600"/>
          </a:xfrm>
        </p:spPr>
        <p:txBody>
          <a:bodyPr/>
          <a:lstStyle/>
          <a:p>
            <a:pPr marL="0" indent="0">
              <a:buNone/>
            </a:pPr>
            <a:r>
              <a:rPr lang="en-US" dirty="0"/>
              <a:t>For TPS\ESVT use </a:t>
            </a:r>
            <a:r>
              <a:rPr lang="en-US" b="1" u="sng" dirty="0"/>
              <a:t>Active Alarm Sync (File)</a:t>
            </a:r>
          </a:p>
          <a:p>
            <a:pPr marL="0" indent="0">
              <a:buNone/>
            </a:pPr>
            <a:r>
              <a:rPr lang="en-US" dirty="0"/>
              <a:t>For </a:t>
            </a:r>
            <a:r>
              <a:rPr lang="en-US" dirty="0" err="1"/>
              <a:t>Experion</a:t>
            </a:r>
            <a:r>
              <a:rPr lang="en-US" dirty="0"/>
              <a:t> use </a:t>
            </a:r>
            <a:r>
              <a:rPr lang="en-US" b="1" u="sng" dirty="0"/>
              <a:t>Active Alarm Sync (OPC)</a:t>
            </a:r>
          </a:p>
          <a:p>
            <a:pPr marL="0" indent="0">
              <a:buNone/>
            </a:pPr>
            <a:endParaRPr lang="en-US" dirty="0"/>
          </a:p>
        </p:txBody>
      </p:sp>
      <p:sp>
        <p:nvSpPr>
          <p:cNvPr id="4" name="Slide Number Placeholder 3">
            <a:extLst>
              <a:ext uri="{FF2B5EF4-FFF2-40B4-BE49-F238E27FC236}">
                <a16:creationId xmlns:a16="http://schemas.microsoft.com/office/drawing/2014/main" id="{6C4EBCD0-6F22-4E4F-B09F-F20ECCBB59DF}"/>
              </a:ext>
            </a:extLst>
          </p:cNvPr>
          <p:cNvSpPr>
            <a:spLocks noGrp="1"/>
          </p:cNvSpPr>
          <p:nvPr>
            <p:ph type="sldNum" sz="quarter" idx="13"/>
          </p:nvPr>
        </p:nvSpPr>
        <p:spPr>
          <a:xfrm>
            <a:off x="8732520" y="0"/>
            <a:ext cx="411480" cy="502920"/>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825" b="1" i="0" kern="1200">
                <a:solidFill>
                  <a:schemeClr val="bg1"/>
                </a:solidFill>
                <a:latin typeface="+mn-lt"/>
                <a:ea typeface="+mn-ea"/>
                <a:cs typeface="HelveticaNeue MediumCond"/>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defRPr/>
            </a:pPr>
            <a:fld id="{65C380C9-3062-4F1D-A521-BEC000498A55}" type="slidenum">
              <a:rPr lang="en-US" smtClean="0"/>
              <a:pPr>
                <a:defRPr/>
              </a:pPr>
              <a:t>15</a:t>
            </a:fld>
            <a:endParaRPr lang="en-US" dirty="0"/>
          </a:p>
        </p:txBody>
      </p:sp>
      <p:cxnSp>
        <p:nvCxnSpPr>
          <p:cNvPr id="7" name="Straight Connector 6">
            <a:extLst>
              <a:ext uri="{FF2B5EF4-FFF2-40B4-BE49-F238E27FC236}">
                <a16:creationId xmlns:a16="http://schemas.microsoft.com/office/drawing/2014/main" id="{E1BE6177-426A-4EB3-9BC0-02D05016B215}"/>
              </a:ext>
            </a:extLst>
          </p:cNvPr>
          <p:cNvCxnSpPr>
            <a:cxnSpLocks/>
          </p:cNvCxnSpPr>
          <p:nvPr/>
        </p:nvCxnSpPr>
        <p:spPr>
          <a:xfrm flipH="1">
            <a:off x="4343400" y="1413010"/>
            <a:ext cx="1219200" cy="2701790"/>
          </a:xfrm>
          <a:prstGeom prst="line">
            <a:avLst/>
          </a:prstGeom>
          <a:ln w="41275"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FDD600E-74F9-4A0E-8F09-9567FE2C6E08}"/>
              </a:ext>
            </a:extLst>
          </p:cNvPr>
          <p:cNvCxnSpPr>
            <a:cxnSpLocks/>
          </p:cNvCxnSpPr>
          <p:nvPr/>
        </p:nvCxnSpPr>
        <p:spPr>
          <a:xfrm flipH="1">
            <a:off x="4876800" y="1946410"/>
            <a:ext cx="1508760" cy="3311390"/>
          </a:xfrm>
          <a:prstGeom prst="line">
            <a:avLst/>
          </a:prstGeom>
          <a:ln w="41275"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5302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0E8F-C617-41C4-8BC9-C614E38483C4}"/>
              </a:ext>
            </a:extLst>
          </p:cNvPr>
          <p:cNvSpPr>
            <a:spLocks noGrp="1"/>
          </p:cNvSpPr>
          <p:nvPr>
            <p:ph type="title"/>
          </p:nvPr>
        </p:nvSpPr>
        <p:spPr>
          <a:xfrm>
            <a:off x="304800" y="76200"/>
            <a:ext cx="8216692" cy="498610"/>
          </a:xfrm>
        </p:spPr>
        <p:txBody>
          <a:bodyPr/>
          <a:lstStyle/>
          <a:p>
            <a:r>
              <a:rPr lang="en-US" dirty="0"/>
              <a:t>Syncing data flow</a:t>
            </a:r>
          </a:p>
        </p:txBody>
      </p:sp>
      <p:sp>
        <p:nvSpPr>
          <p:cNvPr id="5" name="TextBox 4">
            <a:extLst>
              <a:ext uri="{FF2B5EF4-FFF2-40B4-BE49-F238E27FC236}">
                <a16:creationId xmlns:a16="http://schemas.microsoft.com/office/drawing/2014/main" id="{6893D8C2-43E4-4E37-B81A-29AC2D05D8E9}"/>
              </a:ext>
            </a:extLst>
          </p:cNvPr>
          <p:cNvSpPr txBox="1"/>
          <p:nvPr/>
        </p:nvSpPr>
        <p:spPr>
          <a:xfrm>
            <a:off x="3055032" y="1497565"/>
            <a:ext cx="1371600" cy="400110"/>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txBody>
          <a:bodyPr wrap="square" rtlCol="0">
            <a:spAutoFit/>
          </a:bodyPr>
          <a:lstStyle>
            <a:defPPr>
              <a:defRPr lang="en-US"/>
            </a:defPPr>
          </a:lstStyle>
          <a:p>
            <a:r>
              <a:rPr lang="en-US" sz="2000" dirty="0" err="1"/>
              <a:t>Experion</a:t>
            </a:r>
            <a:endParaRPr lang="en-US" sz="2000" dirty="0"/>
          </a:p>
        </p:txBody>
      </p:sp>
      <p:sp>
        <p:nvSpPr>
          <p:cNvPr id="10" name="TextBox 9">
            <a:extLst>
              <a:ext uri="{FF2B5EF4-FFF2-40B4-BE49-F238E27FC236}">
                <a16:creationId xmlns:a16="http://schemas.microsoft.com/office/drawing/2014/main" id="{DD1C7247-5589-4BC0-AACC-B0A581ECDB45}"/>
              </a:ext>
            </a:extLst>
          </p:cNvPr>
          <p:cNvSpPr txBox="1"/>
          <p:nvPr/>
        </p:nvSpPr>
        <p:spPr>
          <a:xfrm>
            <a:off x="64477" y="1497565"/>
            <a:ext cx="1828800" cy="400110"/>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txBody>
          <a:bodyPr wrap="square" rtlCol="0">
            <a:spAutoFit/>
          </a:bodyPr>
          <a:lstStyle>
            <a:defPPr>
              <a:defRPr lang="en-US"/>
            </a:defPPr>
          </a:lstStyle>
          <a:p>
            <a:r>
              <a:rPr lang="en-US" sz="2000" dirty="0"/>
              <a:t>ESVT\TPS </a:t>
            </a:r>
          </a:p>
        </p:txBody>
      </p:sp>
      <p:sp>
        <p:nvSpPr>
          <p:cNvPr id="12" name="TextBox 11">
            <a:extLst>
              <a:ext uri="{FF2B5EF4-FFF2-40B4-BE49-F238E27FC236}">
                <a16:creationId xmlns:a16="http://schemas.microsoft.com/office/drawing/2014/main" id="{C07ED912-9E1D-4F88-9C45-9467BAFDC9EA}"/>
              </a:ext>
            </a:extLst>
          </p:cNvPr>
          <p:cNvSpPr txBox="1"/>
          <p:nvPr/>
        </p:nvSpPr>
        <p:spPr>
          <a:xfrm>
            <a:off x="4800608" y="2021688"/>
            <a:ext cx="4132470" cy="1323439"/>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p:spPr>
        <p:txBody>
          <a:bodyPr wrap="square" rtlCol="0">
            <a:spAutoFit/>
          </a:bodyPr>
          <a:lstStyle>
            <a:defPPr>
              <a:defRPr lang="en-US"/>
            </a:defPPr>
          </a:lstStyle>
          <a:p>
            <a:r>
              <a:rPr lang="en-US" sz="2000" b="1" dirty="0"/>
              <a:t>TAGLIST GEN UTILITY </a:t>
            </a:r>
          </a:p>
          <a:p>
            <a:r>
              <a:rPr lang="en-US" sz="2000" dirty="0"/>
              <a:t>Configure Tag List Gen Utility and schedule in Windows Tasks to </a:t>
            </a:r>
            <a:r>
              <a:rPr lang="en-US" sz="2000" b="1" u="sng" dirty="0"/>
              <a:t>Get the list of ‘Suppression’ Parameters</a:t>
            </a:r>
          </a:p>
        </p:txBody>
      </p:sp>
      <p:sp>
        <p:nvSpPr>
          <p:cNvPr id="13" name="TextBox 12">
            <a:extLst>
              <a:ext uri="{FF2B5EF4-FFF2-40B4-BE49-F238E27FC236}">
                <a16:creationId xmlns:a16="http://schemas.microsoft.com/office/drawing/2014/main" id="{E0A694E7-604B-451F-8B77-9C0EE887224B}"/>
              </a:ext>
            </a:extLst>
          </p:cNvPr>
          <p:cNvSpPr txBox="1"/>
          <p:nvPr/>
        </p:nvSpPr>
        <p:spPr>
          <a:xfrm>
            <a:off x="64478" y="4197789"/>
            <a:ext cx="2101778" cy="707886"/>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txBody>
          <a:bodyPr wrap="square" rtlCol="0">
            <a:spAutoFit/>
          </a:bodyPr>
          <a:lstStyle>
            <a:defPPr>
              <a:defRPr lang="en-US"/>
            </a:defPPr>
          </a:lstStyle>
          <a:p>
            <a:r>
              <a:rPr lang="en-US" sz="2000" b="1" dirty="0"/>
              <a:t>COLLECTOR</a:t>
            </a:r>
            <a:r>
              <a:rPr lang="en-US" sz="2000" dirty="0"/>
              <a:t> will get a file</a:t>
            </a:r>
          </a:p>
        </p:txBody>
      </p:sp>
      <p:sp>
        <p:nvSpPr>
          <p:cNvPr id="6" name="Rectangle 5">
            <a:extLst>
              <a:ext uri="{FF2B5EF4-FFF2-40B4-BE49-F238E27FC236}">
                <a16:creationId xmlns:a16="http://schemas.microsoft.com/office/drawing/2014/main" id="{34540B58-349D-414D-9B42-8900D33F48B6}"/>
              </a:ext>
            </a:extLst>
          </p:cNvPr>
          <p:cNvSpPr/>
          <p:nvPr/>
        </p:nvSpPr>
        <p:spPr>
          <a:xfrm rot="1761593">
            <a:off x="3599733" y="5743544"/>
            <a:ext cx="2249334" cy="400110"/>
          </a:xfrm>
          <a:prstGeom prst="rect">
            <a:avLst/>
          </a:prstGeom>
        </p:spPr>
        <p:txBody>
          <a:bodyPr wrap="none">
            <a:spAutoFit/>
          </a:bodyPr>
          <a:lstStyle/>
          <a:p>
            <a:r>
              <a:rPr lang="en-US" sz="2000" b="1" dirty="0"/>
              <a:t>Active Sync (OPC)</a:t>
            </a:r>
            <a:endParaRPr lang="en-US" sz="2000" dirty="0"/>
          </a:p>
        </p:txBody>
      </p:sp>
      <p:sp>
        <p:nvSpPr>
          <p:cNvPr id="14" name="TextBox 13">
            <a:extLst>
              <a:ext uri="{FF2B5EF4-FFF2-40B4-BE49-F238E27FC236}">
                <a16:creationId xmlns:a16="http://schemas.microsoft.com/office/drawing/2014/main" id="{A8826431-094D-4208-8A86-AB4013796ECD}"/>
              </a:ext>
            </a:extLst>
          </p:cNvPr>
          <p:cNvSpPr txBox="1"/>
          <p:nvPr/>
        </p:nvSpPr>
        <p:spPr>
          <a:xfrm>
            <a:off x="5715000" y="914400"/>
            <a:ext cx="2590800" cy="40011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p:spPr>
        <p:txBody>
          <a:bodyPr wrap="square" rtlCol="0">
            <a:spAutoFit/>
          </a:bodyPr>
          <a:lstStyle/>
          <a:p>
            <a:r>
              <a:rPr lang="en-US" sz="2000" dirty="0"/>
              <a:t>Suppression Sync</a:t>
            </a:r>
          </a:p>
        </p:txBody>
      </p:sp>
      <p:sp>
        <p:nvSpPr>
          <p:cNvPr id="15" name="Rectangle 14">
            <a:extLst>
              <a:ext uri="{FF2B5EF4-FFF2-40B4-BE49-F238E27FC236}">
                <a16:creationId xmlns:a16="http://schemas.microsoft.com/office/drawing/2014/main" id="{D2C2D0A6-1230-47A7-A3A9-3AEC76C14A56}"/>
              </a:ext>
            </a:extLst>
          </p:cNvPr>
          <p:cNvSpPr/>
          <p:nvPr/>
        </p:nvSpPr>
        <p:spPr>
          <a:xfrm rot="1420478">
            <a:off x="1037983" y="5534266"/>
            <a:ext cx="2119491" cy="400110"/>
          </a:xfrm>
          <a:prstGeom prst="rect">
            <a:avLst/>
          </a:prstGeom>
        </p:spPr>
        <p:txBody>
          <a:bodyPr wrap="none">
            <a:spAutoFit/>
          </a:bodyPr>
          <a:lstStyle/>
          <a:p>
            <a:r>
              <a:rPr lang="en-US" sz="2000" b="1" dirty="0"/>
              <a:t>Active Sync (File)</a:t>
            </a:r>
            <a:endParaRPr lang="en-US" sz="2000" dirty="0"/>
          </a:p>
        </p:txBody>
      </p:sp>
      <p:sp>
        <p:nvSpPr>
          <p:cNvPr id="16" name="TextBox 15">
            <a:extLst>
              <a:ext uri="{FF2B5EF4-FFF2-40B4-BE49-F238E27FC236}">
                <a16:creationId xmlns:a16="http://schemas.microsoft.com/office/drawing/2014/main" id="{CB6F0568-C6B8-4F4C-A489-DDA7897A6DBD}"/>
              </a:ext>
            </a:extLst>
          </p:cNvPr>
          <p:cNvSpPr txBox="1"/>
          <p:nvPr/>
        </p:nvSpPr>
        <p:spPr>
          <a:xfrm>
            <a:off x="762000" y="838200"/>
            <a:ext cx="3164936" cy="400110"/>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txBody>
          <a:bodyPr wrap="square" rtlCol="0">
            <a:spAutoFit/>
          </a:bodyPr>
          <a:lstStyle>
            <a:defPPr>
              <a:defRPr lang="en-US"/>
            </a:defPPr>
          </a:lstStyle>
          <a:p>
            <a:r>
              <a:rPr lang="en-US" sz="2000" dirty="0"/>
              <a:t>Active Alarms Sync</a:t>
            </a:r>
          </a:p>
        </p:txBody>
      </p:sp>
      <p:sp>
        <p:nvSpPr>
          <p:cNvPr id="17" name="TextBox 16">
            <a:extLst>
              <a:ext uri="{FF2B5EF4-FFF2-40B4-BE49-F238E27FC236}">
                <a16:creationId xmlns:a16="http://schemas.microsoft.com/office/drawing/2014/main" id="{37AF0674-43CF-4E7F-BD68-062B2FEEFEF5}"/>
              </a:ext>
            </a:extLst>
          </p:cNvPr>
          <p:cNvSpPr txBox="1"/>
          <p:nvPr/>
        </p:nvSpPr>
        <p:spPr>
          <a:xfrm>
            <a:off x="74489" y="2190369"/>
            <a:ext cx="3852445" cy="1631216"/>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txBody>
          <a:bodyPr wrap="square" rtlCol="0">
            <a:spAutoFit/>
          </a:bodyPr>
          <a:lstStyle>
            <a:defPPr>
              <a:defRPr lang="en-US"/>
            </a:defPPr>
          </a:lstStyle>
          <a:p>
            <a:r>
              <a:rPr lang="en-US" sz="2000" b="1" dirty="0"/>
              <a:t>ACTIVESYNC UTILITY </a:t>
            </a:r>
            <a:r>
              <a:rPr lang="en-US" sz="2000" dirty="0"/>
              <a:t>Configure Active Sync Utility and schedule in Windows Tasks</a:t>
            </a:r>
          </a:p>
          <a:p>
            <a:r>
              <a:rPr lang="en-US" sz="2000" dirty="0"/>
              <a:t>to </a:t>
            </a:r>
            <a:r>
              <a:rPr lang="en-US" sz="2000" b="1" u="sng" dirty="0"/>
              <a:t>Get list of Alarms (from ESVT or M&amp;R) and verify alarms</a:t>
            </a:r>
          </a:p>
        </p:txBody>
      </p:sp>
      <p:sp>
        <p:nvSpPr>
          <p:cNvPr id="19" name="Rectangle 18">
            <a:extLst>
              <a:ext uri="{FF2B5EF4-FFF2-40B4-BE49-F238E27FC236}">
                <a16:creationId xmlns:a16="http://schemas.microsoft.com/office/drawing/2014/main" id="{1686165B-E89A-4010-9486-0F9724CC32BB}"/>
              </a:ext>
            </a:extLst>
          </p:cNvPr>
          <p:cNvSpPr/>
          <p:nvPr/>
        </p:nvSpPr>
        <p:spPr>
          <a:xfrm rot="1761593">
            <a:off x="6008669" y="5743544"/>
            <a:ext cx="2800960" cy="400110"/>
          </a:xfrm>
          <a:prstGeom prst="rect">
            <a:avLst/>
          </a:prstGeom>
        </p:spPr>
        <p:txBody>
          <a:bodyPr wrap="none">
            <a:spAutoFit/>
          </a:bodyPr>
          <a:lstStyle/>
          <a:p>
            <a:r>
              <a:rPr lang="en-US" sz="2000" b="1" dirty="0"/>
              <a:t>Suppressed Sync (OPC)</a:t>
            </a:r>
            <a:endParaRPr lang="en-US" sz="2000" dirty="0"/>
          </a:p>
        </p:txBody>
      </p:sp>
      <p:sp>
        <p:nvSpPr>
          <p:cNvPr id="7" name="Rectangle 6">
            <a:extLst>
              <a:ext uri="{FF2B5EF4-FFF2-40B4-BE49-F238E27FC236}">
                <a16:creationId xmlns:a16="http://schemas.microsoft.com/office/drawing/2014/main" id="{B764FB79-93A6-4CD4-B1A1-00777E0492DD}"/>
              </a:ext>
            </a:extLst>
          </p:cNvPr>
          <p:cNvSpPr/>
          <p:nvPr/>
        </p:nvSpPr>
        <p:spPr>
          <a:xfrm>
            <a:off x="4857662" y="3733800"/>
            <a:ext cx="4145661" cy="1323439"/>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p:spPr>
        <p:txBody>
          <a:bodyPr wrap="square" rtlCol="0">
            <a:spAutoFit/>
          </a:bodyPr>
          <a:lstStyle/>
          <a:p>
            <a:r>
              <a:rPr lang="en-US" sz="2000" b="1" u="sng" dirty="0"/>
              <a:t>COLLECTOR List of ‘Suppression’ Parameters will be read through OPC</a:t>
            </a:r>
            <a:r>
              <a:rPr lang="en-US" sz="2000" dirty="0"/>
              <a:t> to get values that define disable\enable status</a:t>
            </a:r>
            <a:endParaRPr lang="en-US" sz="2000" b="1" u="sng" dirty="0"/>
          </a:p>
        </p:txBody>
      </p:sp>
      <p:cxnSp>
        <p:nvCxnSpPr>
          <p:cNvPr id="21" name="Straight Connector 20">
            <a:extLst>
              <a:ext uri="{FF2B5EF4-FFF2-40B4-BE49-F238E27FC236}">
                <a16:creationId xmlns:a16="http://schemas.microsoft.com/office/drawing/2014/main" id="{224FFB2B-1FA2-4EB4-8DE6-881A2AE455D1}"/>
              </a:ext>
            </a:extLst>
          </p:cNvPr>
          <p:cNvCxnSpPr/>
          <p:nvPr/>
        </p:nvCxnSpPr>
        <p:spPr>
          <a:xfrm>
            <a:off x="4648200" y="914400"/>
            <a:ext cx="76200" cy="3713366"/>
          </a:xfrm>
          <a:prstGeom prst="line">
            <a:avLst/>
          </a:prstGeom>
          <a:ln w="635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B8BB4AE-359C-4CE0-8D59-08A2E5DA563F}"/>
              </a:ext>
            </a:extLst>
          </p:cNvPr>
          <p:cNvCxnSpPr>
            <a:cxnSpLocks/>
          </p:cNvCxnSpPr>
          <p:nvPr/>
        </p:nvCxnSpPr>
        <p:spPr>
          <a:xfrm>
            <a:off x="3964602" y="1897675"/>
            <a:ext cx="34836" cy="3462760"/>
          </a:xfrm>
          <a:prstGeom prst="straightConnector1">
            <a:avLst/>
          </a:prstGeom>
          <a:ln w="381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51E10E6-FB86-45AA-A070-52E8B28A7175}"/>
              </a:ext>
            </a:extLst>
          </p:cNvPr>
          <p:cNvCxnSpPr>
            <a:cxnSpLocks/>
          </p:cNvCxnSpPr>
          <p:nvPr/>
        </p:nvCxnSpPr>
        <p:spPr>
          <a:xfrm>
            <a:off x="1049425" y="1959230"/>
            <a:ext cx="0" cy="231139"/>
          </a:xfrm>
          <a:prstGeom prst="straightConnector1">
            <a:avLst/>
          </a:prstGeom>
          <a:ln w="381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C483D66-7FAF-44EE-81C7-6ECF4374DA10}"/>
              </a:ext>
            </a:extLst>
          </p:cNvPr>
          <p:cNvCxnSpPr>
            <a:cxnSpLocks/>
          </p:cNvCxnSpPr>
          <p:nvPr/>
        </p:nvCxnSpPr>
        <p:spPr>
          <a:xfrm>
            <a:off x="1109977" y="4905675"/>
            <a:ext cx="0" cy="445535"/>
          </a:xfrm>
          <a:prstGeom prst="straightConnector1">
            <a:avLst/>
          </a:prstGeom>
          <a:ln w="381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A235F26-78F7-4DC5-BB65-F69831557DBF}"/>
              </a:ext>
            </a:extLst>
          </p:cNvPr>
          <p:cNvCxnSpPr>
            <a:cxnSpLocks/>
          </p:cNvCxnSpPr>
          <p:nvPr/>
        </p:nvCxnSpPr>
        <p:spPr>
          <a:xfrm>
            <a:off x="1046840" y="3812539"/>
            <a:ext cx="0" cy="385250"/>
          </a:xfrm>
          <a:prstGeom prst="straightConnector1">
            <a:avLst/>
          </a:prstGeom>
          <a:ln w="381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E84DA03E-E1E0-40E2-AB16-74AD8DD39D25}"/>
              </a:ext>
            </a:extLst>
          </p:cNvPr>
          <p:cNvCxnSpPr>
            <a:cxnSpLocks/>
          </p:cNvCxnSpPr>
          <p:nvPr/>
        </p:nvCxnSpPr>
        <p:spPr>
          <a:xfrm>
            <a:off x="6934200" y="1435795"/>
            <a:ext cx="0" cy="639004"/>
          </a:xfrm>
          <a:prstGeom prst="straightConnector1">
            <a:avLst/>
          </a:prstGeom>
          <a:ln w="381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B15A48A-3118-4169-AFB8-4B0AFA60B083}"/>
              </a:ext>
            </a:extLst>
          </p:cNvPr>
          <p:cNvCxnSpPr>
            <a:cxnSpLocks/>
          </p:cNvCxnSpPr>
          <p:nvPr/>
        </p:nvCxnSpPr>
        <p:spPr>
          <a:xfrm>
            <a:off x="7086600" y="5095255"/>
            <a:ext cx="0" cy="468359"/>
          </a:xfrm>
          <a:prstGeom prst="straightConnector1">
            <a:avLst/>
          </a:prstGeom>
          <a:ln w="381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9A4CFCAC-1822-4EB3-8CF2-6B16C517AF9D}"/>
              </a:ext>
            </a:extLst>
          </p:cNvPr>
          <p:cNvCxnSpPr>
            <a:cxnSpLocks/>
          </p:cNvCxnSpPr>
          <p:nvPr/>
        </p:nvCxnSpPr>
        <p:spPr>
          <a:xfrm>
            <a:off x="7010400" y="3345127"/>
            <a:ext cx="0" cy="467412"/>
          </a:xfrm>
          <a:prstGeom prst="straightConnector1">
            <a:avLst/>
          </a:prstGeom>
          <a:ln w="381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57F92DA4-D054-4852-BC82-0B2FE9463DA1}"/>
              </a:ext>
            </a:extLst>
          </p:cNvPr>
          <p:cNvSpPr txBox="1"/>
          <p:nvPr/>
        </p:nvSpPr>
        <p:spPr>
          <a:xfrm>
            <a:off x="2302402" y="4221695"/>
            <a:ext cx="2358562" cy="707886"/>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txBody>
          <a:bodyPr wrap="square" rtlCol="0">
            <a:spAutoFit/>
          </a:bodyPr>
          <a:lstStyle>
            <a:defPPr>
              <a:defRPr lang="en-US"/>
            </a:defPPr>
          </a:lstStyle>
          <a:p>
            <a:r>
              <a:rPr lang="en-US" sz="2000" b="1" dirty="0"/>
              <a:t>COLLECTOR</a:t>
            </a:r>
            <a:r>
              <a:rPr lang="en-US" sz="2000" dirty="0"/>
              <a:t> will </a:t>
            </a:r>
            <a:r>
              <a:rPr lang="en-US" sz="2000" b="1" u="sng" dirty="0"/>
              <a:t>Get list of Alarms</a:t>
            </a:r>
          </a:p>
        </p:txBody>
      </p:sp>
      <p:grpSp>
        <p:nvGrpSpPr>
          <p:cNvPr id="24" name="Group 23">
            <a:extLst>
              <a:ext uri="{FF2B5EF4-FFF2-40B4-BE49-F238E27FC236}">
                <a16:creationId xmlns:a16="http://schemas.microsoft.com/office/drawing/2014/main" id="{174E7FA1-F077-4F46-B4F7-B5E699F7EC7C}"/>
              </a:ext>
            </a:extLst>
          </p:cNvPr>
          <p:cNvGrpSpPr/>
          <p:nvPr/>
        </p:nvGrpSpPr>
        <p:grpSpPr>
          <a:xfrm rot="690968">
            <a:off x="-35105" y="5877574"/>
            <a:ext cx="2754391" cy="1086232"/>
            <a:chOff x="6631409" y="2113089"/>
            <a:chExt cx="2238614" cy="2423933"/>
          </a:xfrm>
        </p:grpSpPr>
        <p:grpSp>
          <p:nvGrpSpPr>
            <p:cNvPr id="26" name="Group 25">
              <a:extLst>
                <a:ext uri="{FF2B5EF4-FFF2-40B4-BE49-F238E27FC236}">
                  <a16:creationId xmlns:a16="http://schemas.microsoft.com/office/drawing/2014/main" id="{ED4E823B-5132-4BD9-A544-45265966FE2E}"/>
                </a:ext>
              </a:extLst>
            </p:cNvPr>
            <p:cNvGrpSpPr/>
            <p:nvPr/>
          </p:nvGrpSpPr>
          <p:grpSpPr>
            <a:xfrm>
              <a:off x="6631409" y="2113089"/>
              <a:ext cx="2238614" cy="2423933"/>
              <a:chOff x="4636671" y="2286000"/>
              <a:chExt cx="2790336" cy="3542672"/>
            </a:xfrm>
          </p:grpSpPr>
          <p:grpSp>
            <p:nvGrpSpPr>
              <p:cNvPr id="30" name="Group 29">
                <a:extLst>
                  <a:ext uri="{FF2B5EF4-FFF2-40B4-BE49-F238E27FC236}">
                    <a16:creationId xmlns:a16="http://schemas.microsoft.com/office/drawing/2014/main" id="{270D29FB-9B8C-4F93-B123-A7B68ACECB8D}"/>
                  </a:ext>
                </a:extLst>
              </p:cNvPr>
              <p:cNvGrpSpPr/>
              <p:nvPr/>
            </p:nvGrpSpPr>
            <p:grpSpPr>
              <a:xfrm>
                <a:off x="4636671" y="2286000"/>
                <a:ext cx="2743201" cy="2895601"/>
                <a:chOff x="4636671" y="2286000"/>
                <a:chExt cx="2743201" cy="2895601"/>
              </a:xfrm>
            </p:grpSpPr>
            <p:pic>
              <p:nvPicPr>
                <p:cNvPr id="32" name="Picture 2">
                  <a:extLst>
                    <a:ext uri="{FF2B5EF4-FFF2-40B4-BE49-F238E27FC236}">
                      <a16:creationId xmlns:a16="http://schemas.microsoft.com/office/drawing/2014/main" id="{4CB46C94-5CAE-4A34-BB91-9366774715FE}"/>
                    </a:ext>
                  </a:extLst>
                </p:cNvPr>
                <p:cNvPicPr>
                  <a:picLocks noChangeAspect="1" noChangeArrowheads="1"/>
                </p:cNvPicPr>
                <p:nvPr/>
              </p:nvPicPr>
              <p:blipFill>
                <a:blip r:embed="rId2" cstate="print">
                  <a:duotone>
                    <a:prstClr val="black"/>
                    <a:schemeClr val="accent1">
                      <a:tint val="45000"/>
                      <a:satMod val="400000"/>
                    </a:schemeClr>
                  </a:duotone>
                </a:blip>
                <a:srcRect/>
                <a:stretch>
                  <a:fillRect/>
                </a:stretch>
              </p:blipFill>
              <p:spPr bwMode="auto">
                <a:xfrm>
                  <a:off x="4636671" y="2414589"/>
                  <a:ext cx="2743201" cy="2767012"/>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35" name="Oval 34">
                  <a:extLst>
                    <a:ext uri="{FF2B5EF4-FFF2-40B4-BE49-F238E27FC236}">
                      <a16:creationId xmlns:a16="http://schemas.microsoft.com/office/drawing/2014/main" id="{7E34E728-6FBF-40AA-BA6E-BD3BD07500E1}"/>
                    </a:ext>
                  </a:extLst>
                </p:cNvPr>
                <p:cNvSpPr/>
                <p:nvPr/>
              </p:nvSpPr>
              <p:spPr>
                <a:xfrm>
                  <a:off x="5627270" y="2286000"/>
                  <a:ext cx="228600" cy="228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ZoneTexte 30">
                <a:extLst>
                  <a:ext uri="{FF2B5EF4-FFF2-40B4-BE49-F238E27FC236}">
                    <a16:creationId xmlns:a16="http://schemas.microsoft.com/office/drawing/2014/main" id="{5A2C6DBF-C5A0-4696-BBE3-341231919250}"/>
                  </a:ext>
                </a:extLst>
              </p:cNvPr>
              <p:cNvSpPr txBox="1"/>
              <p:nvPr/>
            </p:nvSpPr>
            <p:spPr>
              <a:xfrm rot="21177897">
                <a:off x="4776738" y="2516156"/>
                <a:ext cx="2650269" cy="3312516"/>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2000" b="1" dirty="0">
                    <a:solidFill>
                      <a:srgbClr val="2C2FD4"/>
                    </a:solidFill>
                    <a:latin typeface="Arial" panose="020B0604020202020204" pitchFamily="34" charset="0"/>
                    <a:cs typeface="Arial" panose="020B0604020202020204" pitchFamily="34" charset="0"/>
                  </a:rPr>
                  <a:t>Active Sync Utility will use Map files</a:t>
                </a:r>
              </a:p>
              <a:p>
                <a:pPr algn="l"/>
                <a:endParaRPr lang="en-US" sz="2000" b="1" dirty="0">
                  <a:solidFill>
                    <a:srgbClr val="2C2FD4"/>
                  </a:solidFill>
                  <a:latin typeface="Arial" panose="020B0604020202020204" pitchFamily="34" charset="0"/>
                  <a:cs typeface="Arial" panose="020B0604020202020204" pitchFamily="34" charset="0"/>
                </a:endParaRPr>
              </a:p>
            </p:txBody>
          </p:sp>
        </p:grpSp>
        <p:pic>
          <p:nvPicPr>
            <p:cNvPr id="28" name="Picture 4" descr="C:\Users\e154578\AppData\Local\Temp\SNAGHTML265367b.PNG">
              <a:extLst>
                <a:ext uri="{FF2B5EF4-FFF2-40B4-BE49-F238E27FC236}">
                  <a16:creationId xmlns:a16="http://schemas.microsoft.com/office/drawing/2014/main" id="{A8A4F7F9-B294-4FAA-A9B7-2FEF6E41D75B}"/>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8515104" y="3607358"/>
              <a:ext cx="288988" cy="28898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Group 36">
            <a:extLst>
              <a:ext uri="{FF2B5EF4-FFF2-40B4-BE49-F238E27FC236}">
                <a16:creationId xmlns:a16="http://schemas.microsoft.com/office/drawing/2014/main" id="{BB623A01-1528-4BED-B615-02B670271453}"/>
              </a:ext>
            </a:extLst>
          </p:cNvPr>
          <p:cNvGrpSpPr/>
          <p:nvPr/>
        </p:nvGrpSpPr>
        <p:grpSpPr>
          <a:xfrm rot="2104547">
            <a:off x="2025074" y="5368288"/>
            <a:ext cx="2615185" cy="833978"/>
            <a:chOff x="4596534" y="2286000"/>
            <a:chExt cx="2821467" cy="2895601"/>
          </a:xfrm>
        </p:grpSpPr>
        <p:grpSp>
          <p:nvGrpSpPr>
            <p:cNvPr id="38" name="Group 37">
              <a:extLst>
                <a:ext uri="{FF2B5EF4-FFF2-40B4-BE49-F238E27FC236}">
                  <a16:creationId xmlns:a16="http://schemas.microsoft.com/office/drawing/2014/main" id="{A9E56609-268B-40FC-B29A-68A2AF9E18D9}"/>
                </a:ext>
              </a:extLst>
            </p:cNvPr>
            <p:cNvGrpSpPr/>
            <p:nvPr/>
          </p:nvGrpSpPr>
          <p:grpSpPr>
            <a:xfrm>
              <a:off x="4636671" y="2286000"/>
              <a:ext cx="2743201" cy="2895601"/>
              <a:chOff x="4636671" y="2286000"/>
              <a:chExt cx="2743201" cy="2895601"/>
            </a:xfrm>
          </p:grpSpPr>
          <p:pic>
            <p:nvPicPr>
              <p:cNvPr id="40" name="Picture 2">
                <a:extLst>
                  <a:ext uri="{FF2B5EF4-FFF2-40B4-BE49-F238E27FC236}">
                    <a16:creationId xmlns:a16="http://schemas.microsoft.com/office/drawing/2014/main" id="{C3350812-1346-439F-B2C8-FEF68EA8A8FE}"/>
                  </a:ext>
                </a:extLst>
              </p:cNvPr>
              <p:cNvPicPr>
                <a:picLocks noChangeAspect="1" noChangeArrowheads="1"/>
              </p:cNvPicPr>
              <p:nvPr/>
            </p:nvPicPr>
            <p:blipFill>
              <a:blip r:embed="rId2" cstate="print"/>
              <a:srcRect/>
              <a:stretch>
                <a:fillRect/>
              </a:stretch>
            </p:blipFill>
            <p:spPr bwMode="auto">
              <a:xfrm>
                <a:off x="4636671" y="2414589"/>
                <a:ext cx="2743201" cy="2767012"/>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2" name="Oval 41">
                <a:extLst>
                  <a:ext uri="{FF2B5EF4-FFF2-40B4-BE49-F238E27FC236}">
                    <a16:creationId xmlns:a16="http://schemas.microsoft.com/office/drawing/2014/main" id="{F081F1C5-E868-49F1-AC73-6A5C5B858AD7}"/>
                  </a:ext>
                </a:extLst>
              </p:cNvPr>
              <p:cNvSpPr/>
              <p:nvPr/>
            </p:nvSpPr>
            <p:spPr>
              <a:xfrm>
                <a:off x="5627270" y="2286000"/>
                <a:ext cx="228600" cy="228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ZoneTexte 30">
              <a:extLst>
                <a:ext uri="{FF2B5EF4-FFF2-40B4-BE49-F238E27FC236}">
                  <a16:creationId xmlns:a16="http://schemas.microsoft.com/office/drawing/2014/main" id="{33FD84C4-B181-4704-9444-4D917A981B25}"/>
                </a:ext>
              </a:extLst>
            </p:cNvPr>
            <p:cNvSpPr txBox="1"/>
            <p:nvPr/>
          </p:nvSpPr>
          <p:spPr>
            <a:xfrm rot="21177897">
              <a:off x="4596534" y="2765401"/>
              <a:ext cx="2821467" cy="2030359"/>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1600" b="1" dirty="0">
                  <a:solidFill>
                    <a:srgbClr val="2C2FD4"/>
                  </a:solidFill>
                  <a:latin typeface="Arial" panose="020B0604020202020204" pitchFamily="34" charset="0"/>
                  <a:cs typeface="Arial" panose="020B0604020202020204" pitchFamily="34" charset="0"/>
                </a:rPr>
                <a:t>HM collector is to collect and NOT to sync TPS</a:t>
              </a:r>
            </a:p>
          </p:txBody>
        </p:sp>
      </p:grpSp>
    </p:spTree>
    <p:extLst>
      <p:ext uri="{BB962C8B-B14F-4D97-AF65-F5344CB8AC3E}">
        <p14:creationId xmlns:p14="http://schemas.microsoft.com/office/powerpoint/2010/main" val="4006138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4820" name="Picture 4"/>
          <p:cNvPicPr>
            <a:picLocks noChangeAspect="1" noChangeArrowheads="1"/>
          </p:cNvPicPr>
          <p:nvPr/>
        </p:nvPicPr>
        <p:blipFill>
          <a:blip r:embed="rId3" cstate="print"/>
          <a:srcRect/>
          <a:stretch>
            <a:fillRect/>
          </a:stretch>
        </p:blipFill>
        <p:spPr bwMode="auto">
          <a:xfrm>
            <a:off x="7934325" y="2057400"/>
            <a:ext cx="1209675" cy="18764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Quiz</a:t>
            </a:r>
          </a:p>
        </p:txBody>
      </p:sp>
      <p:sp>
        <p:nvSpPr>
          <p:cNvPr id="3" name="Content Placeholder 2"/>
          <p:cNvSpPr>
            <a:spLocks noGrp="1"/>
          </p:cNvSpPr>
          <p:nvPr>
            <p:ph sz="quarter" idx="12"/>
          </p:nvPr>
        </p:nvSpPr>
        <p:spPr>
          <a:xfrm>
            <a:off x="228600" y="990600"/>
            <a:ext cx="8405601" cy="5227320"/>
          </a:xfrm>
        </p:spPr>
        <p:txBody>
          <a:bodyPr/>
          <a:lstStyle/>
          <a:p>
            <a:pPr marL="0" indent="0">
              <a:buNone/>
            </a:pPr>
            <a:r>
              <a:rPr lang="en-US" sz="2800" dirty="0"/>
              <a:t>Which channel syncs Suppressed Report?</a:t>
            </a:r>
          </a:p>
          <a:p>
            <a:pPr marL="514350" indent="-514350">
              <a:buAutoNum type="alphaLcPeriod"/>
            </a:pPr>
            <a:r>
              <a:rPr lang="en-US" dirty="0"/>
              <a:t>Active Sync channel</a:t>
            </a:r>
          </a:p>
          <a:p>
            <a:pPr marL="514350" indent="-514350">
              <a:buAutoNum type="alphaLcPeriod"/>
            </a:pPr>
            <a:r>
              <a:rPr lang="en-US" sz="2800" dirty="0"/>
              <a:t>Suppressed Sync channel</a:t>
            </a:r>
          </a:p>
        </p:txBody>
      </p:sp>
      <p:sp>
        <p:nvSpPr>
          <p:cNvPr id="11" name="TextBox 10"/>
          <p:cNvSpPr txBox="1"/>
          <p:nvPr/>
        </p:nvSpPr>
        <p:spPr>
          <a:xfrm>
            <a:off x="1295400" y="3657600"/>
            <a:ext cx="6019800" cy="1477328"/>
          </a:xfrm>
          <a:prstGeom prst="rect">
            <a:avLst/>
          </a:prstGeom>
          <a:noFill/>
        </p:spPr>
        <p:txBody>
          <a:bodyPr wrap="square" rtlCol="0">
            <a:spAutoFit/>
          </a:bodyPr>
          <a:lstStyle/>
          <a:p>
            <a:pPr algn="l"/>
            <a:r>
              <a:rPr lang="en-US" sz="1800" b="1" dirty="0">
                <a:solidFill>
                  <a:schemeClr val="bg2"/>
                </a:solidFill>
              </a:rPr>
              <a:t>Suppressed channel only syncs Disable\Enable\Inhibit</a:t>
            </a:r>
          </a:p>
          <a:p>
            <a:pPr algn="l"/>
            <a:r>
              <a:rPr lang="en-US" sz="1800" b="1" dirty="0">
                <a:solidFill>
                  <a:schemeClr val="bg2"/>
                </a:solidFill>
              </a:rPr>
              <a:t>Active syncs DAS (partially)</a:t>
            </a:r>
          </a:p>
          <a:p>
            <a:pPr algn="l"/>
            <a:endParaRPr lang="en-US" sz="1800" b="1" dirty="0">
              <a:solidFill>
                <a:schemeClr val="bg2"/>
              </a:solidFill>
            </a:endParaRPr>
          </a:p>
          <a:p>
            <a:pPr algn="l"/>
            <a:r>
              <a:rPr lang="en-US" sz="1800" b="1" dirty="0">
                <a:solidFill>
                  <a:schemeClr val="bg2"/>
                </a:solidFill>
              </a:rPr>
              <a:t>There is no sync for “Priority” or “Asset” shown in Suppressed report</a:t>
            </a:r>
            <a:endParaRPr lang="en-US" sz="1800" dirty="0"/>
          </a:p>
        </p:txBody>
      </p:sp>
      <p:sp>
        <p:nvSpPr>
          <p:cNvPr id="15" name="Rounded Rectangle 14"/>
          <p:cNvSpPr/>
          <p:nvPr/>
        </p:nvSpPr>
        <p:spPr bwMode="auto">
          <a:xfrm>
            <a:off x="457200" y="2514600"/>
            <a:ext cx="2743200" cy="457200"/>
          </a:xfrm>
          <a:prstGeom prst="roundRect">
            <a:avLst/>
          </a:prstGeom>
          <a:noFill/>
          <a:ln w="9525" cap="flat" cmpd="sng" algn="ctr">
            <a:solidFill>
              <a:srgbClr val="FF0000">
                <a:alpha val="0"/>
              </a:srgb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
        <p:nvSpPr>
          <p:cNvPr id="13" name="Flowchart: Process 12"/>
          <p:cNvSpPr/>
          <p:nvPr/>
        </p:nvSpPr>
        <p:spPr bwMode="auto">
          <a:xfrm>
            <a:off x="1167209" y="3127692"/>
            <a:ext cx="5828508" cy="3048000"/>
          </a:xfrm>
          <a:prstGeom prst="flowChartProcess">
            <a:avLst/>
          </a:prstGeom>
          <a:solidFill>
            <a:schemeClr val="bg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93056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874" y="76200"/>
            <a:ext cx="7986568" cy="498610"/>
          </a:xfrm>
        </p:spPr>
        <p:txBody>
          <a:bodyPr/>
          <a:lstStyle/>
          <a:p>
            <a:r>
              <a:rPr lang="en-US" dirty="0"/>
              <a:t>Terminology</a:t>
            </a:r>
          </a:p>
        </p:txBody>
      </p:sp>
      <p:sp>
        <p:nvSpPr>
          <p:cNvPr id="3" name="Content Placeholder 2"/>
          <p:cNvSpPr>
            <a:spLocks noGrp="1"/>
          </p:cNvSpPr>
          <p:nvPr>
            <p:ph sz="quarter" idx="12"/>
          </p:nvPr>
        </p:nvSpPr>
        <p:spPr>
          <a:xfrm>
            <a:off x="463289" y="838200"/>
            <a:ext cx="8085560" cy="5334000"/>
          </a:xfrm>
        </p:spPr>
        <p:txBody>
          <a:bodyPr/>
          <a:lstStyle/>
          <a:p>
            <a:pPr marL="0" indent="0">
              <a:buNone/>
            </a:pPr>
            <a:r>
              <a:rPr lang="en-US" dirty="0"/>
              <a:t>Some terms have different definitions in different DCS systems. What is M&amp;R terminology?</a:t>
            </a:r>
          </a:p>
          <a:p>
            <a:pPr lvl="1"/>
            <a:r>
              <a:rPr lang="en-US" sz="2000" dirty="0"/>
              <a:t>Suppressed</a:t>
            </a:r>
          </a:p>
          <a:p>
            <a:pPr lvl="1"/>
            <a:r>
              <a:rPr lang="en-US" sz="2000" dirty="0"/>
              <a:t>Disabled</a:t>
            </a:r>
          </a:p>
          <a:p>
            <a:pPr lvl="1"/>
            <a:r>
              <a:rPr lang="en-US" sz="2000" dirty="0"/>
              <a:t>Inhibited</a:t>
            </a:r>
          </a:p>
          <a:p>
            <a:pPr lvl="1"/>
            <a:r>
              <a:rPr lang="en-US" sz="2000" dirty="0"/>
              <a:t>Shelved</a:t>
            </a:r>
          </a:p>
          <a:p>
            <a:pPr lvl="1"/>
            <a:r>
              <a:rPr lang="en-US" sz="2000" dirty="0"/>
              <a:t>Journaled</a:t>
            </a:r>
          </a:p>
          <a:p>
            <a:pPr lvl="1"/>
            <a:r>
              <a:rPr lang="en-US" sz="2000" dirty="0"/>
              <a:t>Defeated</a:t>
            </a:r>
          </a:p>
          <a:p>
            <a:pPr lvl="1"/>
            <a:r>
              <a:rPr lang="en-US" sz="2000" dirty="0"/>
              <a:t>Suppressed – Category=“Priority”, Category=“DAS”</a:t>
            </a:r>
          </a:p>
          <a:p>
            <a:pPr lvl="1"/>
            <a:r>
              <a:rPr lang="en-US" sz="2000" dirty="0"/>
              <a:t>DAS</a:t>
            </a:r>
          </a:p>
          <a:p>
            <a:pPr lvl="1"/>
            <a:r>
              <a:rPr lang="en-US" sz="2000" dirty="0"/>
              <a:t>Cutout</a:t>
            </a:r>
          </a:p>
          <a:p>
            <a:pPr lvl="1"/>
            <a:r>
              <a:rPr lang="en-US" sz="2000" dirty="0"/>
              <a:t>Inactive</a:t>
            </a:r>
          </a:p>
          <a:p>
            <a:pPr lvl="1"/>
            <a:r>
              <a:rPr lang="en-US" sz="2000" dirty="0"/>
              <a:t>OOS</a:t>
            </a:r>
          </a:p>
          <a:p>
            <a:pPr lvl="1"/>
            <a:endParaRPr lang="en-US" dirty="0"/>
          </a:p>
        </p:txBody>
      </p:sp>
      <p:sp>
        <p:nvSpPr>
          <p:cNvPr id="15" name="Rounded Rectangle 14"/>
          <p:cNvSpPr/>
          <p:nvPr/>
        </p:nvSpPr>
        <p:spPr bwMode="auto">
          <a:xfrm>
            <a:off x="457200" y="2514600"/>
            <a:ext cx="2743200" cy="457200"/>
          </a:xfrm>
          <a:prstGeom prst="roundRect">
            <a:avLst/>
          </a:prstGeom>
          <a:noFill/>
          <a:ln w="9525" cap="flat" cmpd="sng" algn="ctr">
            <a:solidFill>
              <a:srgbClr val="FF0000">
                <a:alpha val="0"/>
              </a:srgb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92703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Disable Sync channels</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2059924"/>
          </a:xfrm>
        </p:spPr>
        <p:txBody>
          <a:bodyPr/>
          <a:lstStyle/>
          <a:p>
            <a:pPr marL="0" indent="0">
              <a:buNone/>
            </a:pPr>
            <a:r>
              <a:rPr lang="en-US" dirty="0">
                <a:solidFill>
                  <a:srgbClr val="00B0F0"/>
                </a:solidFill>
              </a:rPr>
              <a:t>STEP: Disable all Sync subchannels (</a:t>
            </a:r>
            <a:r>
              <a:rPr lang="en-US" dirty="0" err="1">
                <a:solidFill>
                  <a:srgbClr val="00B0F0"/>
                </a:solidFill>
              </a:rPr>
              <a:t>Archiver+Collector</a:t>
            </a:r>
            <a:r>
              <a:rPr lang="en-US" dirty="0">
                <a:solidFill>
                  <a:srgbClr val="00B0F0"/>
                </a:solidFill>
              </a:rPr>
              <a:t>)… </a:t>
            </a:r>
          </a:p>
          <a:p>
            <a:pPr marL="0" indent="0">
              <a:buNone/>
            </a:pPr>
            <a:r>
              <a:rPr lang="en-US" dirty="0"/>
              <a:t>you need step-wise testing first</a:t>
            </a:r>
          </a:p>
          <a:p>
            <a:pPr marL="0" indent="0">
              <a:buNone/>
            </a:pPr>
            <a:endParaRPr lang="en-US" dirty="0"/>
          </a:p>
        </p:txBody>
      </p:sp>
    </p:spTree>
    <p:extLst>
      <p:ext uri="{BB962C8B-B14F-4D97-AF65-F5344CB8AC3E}">
        <p14:creationId xmlns:p14="http://schemas.microsoft.com/office/powerpoint/2010/main" val="2493054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7" y="2584966"/>
            <a:ext cx="8876783" cy="1688068"/>
          </a:xfrm>
        </p:spPr>
        <p:txBody>
          <a:bodyPr/>
          <a:lstStyle/>
          <a:p>
            <a:pPr marL="0" indent="0" algn="ctr">
              <a:buNone/>
            </a:pPr>
            <a:r>
              <a:rPr lang="en-US" sz="4000" b="1" dirty="0"/>
              <a:t>Suppression sync:</a:t>
            </a:r>
          </a:p>
          <a:p>
            <a:pPr marL="0" indent="0" algn="ctr">
              <a:buNone/>
            </a:pPr>
            <a:r>
              <a:rPr lang="en-US" sz="4000" b="1" dirty="0"/>
              <a:t>Get ready for collector</a:t>
            </a:r>
          </a:p>
        </p:txBody>
      </p:sp>
      <p:sp>
        <p:nvSpPr>
          <p:cNvPr id="4" name="Title 3">
            <a:extLst>
              <a:ext uri="{FF2B5EF4-FFF2-40B4-BE49-F238E27FC236}">
                <a16:creationId xmlns:a16="http://schemas.microsoft.com/office/drawing/2014/main" id="{16A90408-31EE-4F9F-BFDA-4B629F80B42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68778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9962EC3-6CF3-4A60-BB22-DE805223047C}"/>
              </a:ext>
            </a:extLst>
          </p:cNvPr>
          <p:cNvPicPr>
            <a:picLocks noChangeAspect="1"/>
          </p:cNvPicPr>
          <p:nvPr/>
        </p:nvPicPr>
        <p:blipFill>
          <a:blip r:embed="rId3"/>
          <a:stretch>
            <a:fillRect/>
          </a:stretch>
        </p:blipFill>
        <p:spPr>
          <a:xfrm>
            <a:off x="3406518" y="3098824"/>
            <a:ext cx="5303980" cy="1417443"/>
          </a:xfrm>
          <a:prstGeom prst="rect">
            <a:avLst/>
          </a:prstGeom>
          <a:noFill/>
          <a:ln w="31750">
            <a:solidFill>
              <a:schemeClr val="tx1"/>
            </a:solidFill>
            <a:miter lim="800000"/>
            <a:headEnd/>
            <a:tailEnd/>
          </a:ln>
        </p:spPr>
      </p:pic>
      <p:pic>
        <p:nvPicPr>
          <p:cNvPr id="5" name="Picture 4">
            <a:extLst>
              <a:ext uri="{FF2B5EF4-FFF2-40B4-BE49-F238E27FC236}">
                <a16:creationId xmlns:a16="http://schemas.microsoft.com/office/drawing/2014/main" id="{8C98C588-F4F3-4281-BA18-A7EB23C3FA44}"/>
              </a:ext>
            </a:extLst>
          </p:cNvPr>
          <p:cNvPicPr>
            <a:picLocks noChangeAspect="1"/>
          </p:cNvPicPr>
          <p:nvPr/>
        </p:nvPicPr>
        <p:blipFill>
          <a:blip r:embed="rId4"/>
          <a:stretch>
            <a:fillRect/>
          </a:stretch>
        </p:blipFill>
        <p:spPr>
          <a:xfrm>
            <a:off x="309439" y="3116441"/>
            <a:ext cx="2918713" cy="1607959"/>
          </a:xfrm>
          <a:prstGeom prst="rect">
            <a:avLst/>
          </a:prstGeom>
          <a:noFill/>
          <a:ln w="31750">
            <a:solidFill>
              <a:schemeClr val="tx1"/>
            </a:solidFill>
            <a:miter lim="800000"/>
            <a:headEnd/>
            <a:tailEnd/>
          </a:ln>
        </p:spPr>
      </p:pic>
      <p:sp>
        <p:nvSpPr>
          <p:cNvPr id="2" name="Title 1">
            <a:extLst>
              <a:ext uri="{FF2B5EF4-FFF2-40B4-BE49-F238E27FC236}">
                <a16:creationId xmlns:a16="http://schemas.microsoft.com/office/drawing/2014/main" id="{CC1FDF74-43B9-4FF8-9635-6DECEF00D6AC}"/>
              </a:ext>
            </a:extLst>
          </p:cNvPr>
          <p:cNvSpPr>
            <a:spLocks noGrp="1"/>
          </p:cNvSpPr>
          <p:nvPr>
            <p:ph type="title"/>
          </p:nvPr>
        </p:nvSpPr>
        <p:spPr>
          <a:xfrm>
            <a:off x="534924" y="76200"/>
            <a:ext cx="7986568" cy="498610"/>
          </a:xfrm>
        </p:spPr>
        <p:txBody>
          <a:bodyPr/>
          <a:lstStyle/>
          <a:p>
            <a:r>
              <a:rPr lang="en-US" dirty="0"/>
              <a:t>Configure RDM standalone – </a:t>
            </a:r>
            <a:r>
              <a:rPr lang="en-US" sz="2000" dirty="0">
                <a:solidFill>
                  <a:srgbClr val="FF0000"/>
                </a:solidFill>
              </a:rPr>
              <a:t>NO CUSTOM!!</a:t>
            </a:r>
          </a:p>
        </p:txBody>
      </p:sp>
      <p:sp>
        <p:nvSpPr>
          <p:cNvPr id="3" name="Content Placeholder 2">
            <a:extLst>
              <a:ext uri="{FF2B5EF4-FFF2-40B4-BE49-F238E27FC236}">
                <a16:creationId xmlns:a16="http://schemas.microsoft.com/office/drawing/2014/main" id="{E6E6213A-74C1-4E17-8CF2-24D256AD128E}"/>
              </a:ext>
            </a:extLst>
          </p:cNvPr>
          <p:cNvSpPr>
            <a:spLocks noGrp="1"/>
          </p:cNvSpPr>
          <p:nvPr>
            <p:ph sz="quarter" idx="12"/>
          </p:nvPr>
        </p:nvSpPr>
        <p:spPr>
          <a:xfrm>
            <a:off x="75122" y="815340"/>
            <a:ext cx="8992678" cy="2080260"/>
          </a:xfrm>
        </p:spPr>
        <p:txBody>
          <a:bodyPr/>
          <a:lstStyle/>
          <a:p>
            <a:pPr marL="514350" indent="-514350">
              <a:buFont typeface="Arial" panose="020B0604020202020204" pitchFamily="34" charset="0"/>
              <a:buAutoNum type="arabicPeriod"/>
            </a:pPr>
            <a:r>
              <a:rPr lang="en-US" sz="1800" dirty="0"/>
              <a:t>Run </a:t>
            </a:r>
            <a:r>
              <a:rPr lang="en-US" sz="1800" b="1" dirty="0"/>
              <a:t>Standalone RDM Configuration </a:t>
            </a:r>
            <a:r>
              <a:rPr lang="en-US" sz="1800" dirty="0"/>
              <a:t>from C:\ProgramData\Microsoft\Windows\All Honeywell tools\Redirection Manager</a:t>
            </a:r>
          </a:p>
          <a:p>
            <a:pPr marL="514350" indent="-514350">
              <a:buAutoNum type="arabicPeriod"/>
            </a:pPr>
            <a:r>
              <a:rPr lang="en-US" sz="1800" dirty="0"/>
              <a:t>Select Server\New</a:t>
            </a:r>
          </a:p>
          <a:p>
            <a:pPr marL="514350" indent="-514350">
              <a:buAutoNum type="arabicPeriod"/>
            </a:pPr>
            <a:r>
              <a:rPr lang="en-US" sz="1800" dirty="0"/>
              <a:t>In the past…. If ProgID does not contain string “</a:t>
            </a:r>
            <a:r>
              <a:rPr lang="en-US" sz="1800" dirty="0" err="1"/>
              <a:t>HWHsc.OPCServer</a:t>
            </a:r>
            <a:r>
              <a:rPr lang="en-US" sz="1800" dirty="0"/>
              <a:t>” edit</a:t>
            </a:r>
          </a:p>
          <a:p>
            <a:pPr marL="0" indent="0">
              <a:buNone/>
            </a:pPr>
            <a:r>
              <a:rPr lang="en-US" sz="1800" dirty="0"/>
              <a:t>	   </a:t>
            </a:r>
            <a:r>
              <a:rPr lang="en-US" sz="1800" dirty="0">
                <a:solidFill>
                  <a:srgbClr val="FF0000"/>
                </a:solidFill>
              </a:rPr>
              <a:t>but this does not work any more in 210</a:t>
            </a:r>
          </a:p>
          <a:p>
            <a:pPr marL="0" indent="0">
              <a:buNone/>
            </a:pPr>
            <a:r>
              <a:rPr lang="en-US" sz="1800" dirty="0"/>
              <a:t>C:\Program Files (x86)\Honeywell\</a:t>
            </a:r>
            <a:r>
              <a:rPr lang="en-US" sz="1800" dirty="0" err="1"/>
              <a:t>DynAMo</a:t>
            </a:r>
            <a:r>
              <a:rPr lang="en-US" sz="1800" dirty="0"/>
              <a:t>\Utilities\Tag List Generator\</a:t>
            </a:r>
            <a:r>
              <a:rPr lang="en-US" sz="1800" dirty="0" err="1"/>
              <a:t>Honeywell.DynAMo.Tools.TagParamListGenerator.exe.config</a:t>
            </a:r>
            <a:endParaRPr lang="en-US" sz="1800" dirty="0"/>
          </a:p>
          <a:p>
            <a:pPr marL="514350" indent="-514350">
              <a:buAutoNum type="arabicPeriod"/>
            </a:pPr>
            <a:endParaRPr lang="en-US" sz="1800" dirty="0"/>
          </a:p>
          <a:p>
            <a:pPr marL="0" indent="0">
              <a:buNone/>
            </a:pPr>
            <a:endParaRPr lang="en-US" sz="1800" dirty="0"/>
          </a:p>
        </p:txBody>
      </p:sp>
      <p:sp>
        <p:nvSpPr>
          <p:cNvPr id="9" name="Oval 14">
            <a:extLst>
              <a:ext uri="{FF2B5EF4-FFF2-40B4-BE49-F238E27FC236}">
                <a16:creationId xmlns:a16="http://schemas.microsoft.com/office/drawing/2014/main" id="{29AA022B-09C7-477D-9202-B35E9B53C707}"/>
              </a:ext>
            </a:extLst>
          </p:cNvPr>
          <p:cNvSpPr>
            <a:spLocks noChangeArrowheads="1"/>
          </p:cNvSpPr>
          <p:nvPr/>
        </p:nvSpPr>
        <p:spPr bwMode="auto">
          <a:xfrm>
            <a:off x="88692" y="3170361"/>
            <a:ext cx="3139460" cy="381000"/>
          </a:xfrm>
          <a:prstGeom prst="ellipse">
            <a:avLst/>
          </a:prstGeom>
          <a:noFill/>
          <a:ln w="28575">
            <a:solidFill>
              <a:srgbClr val="FF0000"/>
            </a:solidFill>
            <a:round/>
            <a:headEnd/>
            <a:tailEnd/>
          </a:ln>
        </p:spPr>
        <p:txBody>
          <a:bodyPr wrap="none" anchor="ctr"/>
          <a:lstStyle/>
          <a:p>
            <a:endParaRPr lang="en-US" dirty="0"/>
          </a:p>
        </p:txBody>
      </p:sp>
      <p:sp>
        <p:nvSpPr>
          <p:cNvPr id="11" name="Oval 14">
            <a:extLst>
              <a:ext uri="{FF2B5EF4-FFF2-40B4-BE49-F238E27FC236}">
                <a16:creationId xmlns:a16="http://schemas.microsoft.com/office/drawing/2014/main" id="{6FDC82F6-F28A-456D-AC7B-E0073964E42E}"/>
              </a:ext>
            </a:extLst>
          </p:cNvPr>
          <p:cNvSpPr>
            <a:spLocks noChangeArrowheads="1"/>
          </p:cNvSpPr>
          <p:nvPr/>
        </p:nvSpPr>
        <p:spPr bwMode="auto">
          <a:xfrm>
            <a:off x="4267200" y="3987886"/>
            <a:ext cx="2002929" cy="398964"/>
          </a:xfrm>
          <a:prstGeom prst="ellipse">
            <a:avLst/>
          </a:prstGeom>
          <a:noFill/>
          <a:ln w="28575">
            <a:solidFill>
              <a:srgbClr val="FF0000"/>
            </a:solidFill>
            <a:round/>
            <a:headEnd/>
            <a:tailEnd/>
          </a:ln>
        </p:spPr>
        <p:txBody>
          <a:bodyPr wrap="none" anchor="ctr"/>
          <a:lstStyle/>
          <a:p>
            <a:endParaRPr lang="en-US" dirty="0"/>
          </a:p>
        </p:txBody>
      </p:sp>
      <p:pic>
        <p:nvPicPr>
          <p:cNvPr id="12" name="Picture 4" descr="C:\Users\E154578\AppData\Local\Temp\SNAGHTML6bc36eb.PNG">
            <a:extLst>
              <a:ext uri="{FF2B5EF4-FFF2-40B4-BE49-F238E27FC236}">
                <a16:creationId xmlns:a16="http://schemas.microsoft.com/office/drawing/2014/main" id="{3D4B8501-205E-4A13-91B2-5A8D528B3D98}"/>
              </a:ext>
            </a:extLst>
          </p:cNvPr>
          <p:cNvPicPr>
            <a:picLocks noChangeAspect="1" noChangeArrowheads="1"/>
          </p:cNvPicPr>
          <p:nvPr/>
        </p:nvPicPr>
        <p:blipFill>
          <a:blip r:embed="rId5" cstate="print"/>
          <a:srcRect/>
          <a:stretch>
            <a:fillRect/>
          </a:stretch>
        </p:blipFill>
        <p:spPr bwMode="auto">
          <a:xfrm>
            <a:off x="75122" y="-76785"/>
            <a:ext cx="610678" cy="477922"/>
          </a:xfrm>
          <a:prstGeom prst="rect">
            <a:avLst/>
          </a:prstGeom>
          <a:noFill/>
        </p:spPr>
      </p:pic>
      <p:pic>
        <p:nvPicPr>
          <p:cNvPr id="26" name="Picture 25">
            <a:extLst>
              <a:ext uri="{FF2B5EF4-FFF2-40B4-BE49-F238E27FC236}">
                <a16:creationId xmlns:a16="http://schemas.microsoft.com/office/drawing/2014/main" id="{E7B61524-6789-4BE7-9140-B4EC71DC8A95}"/>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685799" y="4667995"/>
            <a:ext cx="6142301" cy="1895172"/>
          </a:xfrm>
          <a:prstGeom prst="rect">
            <a:avLst/>
          </a:prstGeom>
          <a:noFill/>
          <a:ln w="31750">
            <a:solidFill>
              <a:schemeClr val="tx1"/>
            </a:solidFill>
            <a:miter lim="800000"/>
            <a:headEnd/>
            <a:tailEnd/>
          </a:ln>
        </p:spPr>
      </p:pic>
      <p:grpSp>
        <p:nvGrpSpPr>
          <p:cNvPr id="27" name="Group 26">
            <a:extLst>
              <a:ext uri="{FF2B5EF4-FFF2-40B4-BE49-F238E27FC236}">
                <a16:creationId xmlns:a16="http://schemas.microsoft.com/office/drawing/2014/main" id="{9C726EB2-65BA-432A-B9F8-0ED72DE446D6}"/>
              </a:ext>
            </a:extLst>
          </p:cNvPr>
          <p:cNvGrpSpPr/>
          <p:nvPr/>
        </p:nvGrpSpPr>
        <p:grpSpPr>
          <a:xfrm>
            <a:off x="5562600" y="4373388"/>
            <a:ext cx="3546629" cy="1607959"/>
            <a:chOff x="787370" y="5078027"/>
            <a:chExt cx="2568425" cy="1349044"/>
          </a:xfrm>
        </p:grpSpPr>
        <p:grpSp>
          <p:nvGrpSpPr>
            <p:cNvPr id="28" name="Group 14">
              <a:extLst>
                <a:ext uri="{FF2B5EF4-FFF2-40B4-BE49-F238E27FC236}">
                  <a16:creationId xmlns:a16="http://schemas.microsoft.com/office/drawing/2014/main" id="{D8A984FC-0A4C-4724-8034-D7F31EC79E53}"/>
                </a:ext>
              </a:extLst>
            </p:cNvPr>
            <p:cNvGrpSpPr/>
            <p:nvPr/>
          </p:nvGrpSpPr>
          <p:grpSpPr>
            <a:xfrm>
              <a:off x="787370" y="5078027"/>
              <a:ext cx="2568425" cy="1349044"/>
              <a:chOff x="464791" y="1875266"/>
              <a:chExt cx="1944584" cy="9654790"/>
            </a:xfrm>
          </p:grpSpPr>
          <p:pic>
            <p:nvPicPr>
              <p:cNvPr id="30" name="Picture 2">
                <a:extLst>
                  <a:ext uri="{FF2B5EF4-FFF2-40B4-BE49-F238E27FC236}">
                    <a16:creationId xmlns:a16="http://schemas.microsoft.com/office/drawing/2014/main" id="{866A2015-7057-458F-89C1-E19CC291A254}"/>
                  </a:ext>
                </a:extLst>
              </p:cNvPr>
              <p:cNvPicPr>
                <a:picLocks noChangeAspect="1" noChangeArrowheads="1"/>
              </p:cNvPicPr>
              <p:nvPr/>
            </p:nvPicPr>
            <p:blipFill>
              <a:blip r:embed="rId7" cstate="print"/>
              <a:srcRect/>
              <a:stretch>
                <a:fillRect/>
              </a:stretch>
            </p:blipFill>
            <p:spPr bwMode="auto">
              <a:xfrm rot="547533">
                <a:off x="479570" y="2309238"/>
                <a:ext cx="1902230" cy="9220818"/>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31" name="Oval 30">
                <a:extLst>
                  <a:ext uri="{FF2B5EF4-FFF2-40B4-BE49-F238E27FC236}">
                    <a16:creationId xmlns:a16="http://schemas.microsoft.com/office/drawing/2014/main" id="{6FBDA490-177E-4BB3-805F-818F513E7D99}"/>
                  </a:ext>
                </a:extLst>
              </p:cNvPr>
              <p:cNvSpPr/>
              <p:nvPr/>
            </p:nvSpPr>
            <p:spPr>
              <a:xfrm>
                <a:off x="1408289" y="1875266"/>
                <a:ext cx="187569" cy="617531"/>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2" name="ZoneTexte 30">
                <a:extLst>
                  <a:ext uri="{FF2B5EF4-FFF2-40B4-BE49-F238E27FC236}">
                    <a16:creationId xmlns:a16="http://schemas.microsoft.com/office/drawing/2014/main" id="{6C172963-80BE-41DC-AD29-EEBAACB4454C}"/>
                  </a:ext>
                </a:extLst>
              </p:cNvPr>
              <p:cNvSpPr txBox="1"/>
              <p:nvPr/>
            </p:nvSpPr>
            <p:spPr>
              <a:xfrm rot="239439">
                <a:off x="464791" y="2076395"/>
                <a:ext cx="1944584" cy="8870432"/>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1800" dirty="0">
                    <a:solidFill>
                      <a:srgbClr val="FF0000"/>
                    </a:solidFill>
                    <a:latin typeface="Arial" panose="020B0604020202020204" pitchFamily="34" charset="0"/>
                    <a:cs typeface="Arial" panose="020B0604020202020204" pitchFamily="34" charset="0"/>
                  </a:rPr>
                  <a:t>In pre-210 ….</a:t>
                </a:r>
              </a:p>
              <a:p>
                <a:pPr algn="l"/>
                <a:r>
                  <a:rPr lang="en-US" sz="1800" dirty="0">
                    <a:solidFill>
                      <a:srgbClr val="2C2FD4"/>
                    </a:solidFill>
                    <a:latin typeface="Arial" panose="020B0604020202020204" pitchFamily="34" charset="0"/>
                    <a:cs typeface="Arial" panose="020B0604020202020204" pitchFamily="34" charset="0"/>
                  </a:rPr>
                  <a:t>If </a:t>
                </a:r>
                <a:r>
                  <a:rPr lang="en-US" sz="1800" dirty="0" err="1">
                    <a:solidFill>
                      <a:srgbClr val="2C2FD4"/>
                    </a:solidFill>
                    <a:latin typeface="Arial" panose="020B0604020202020204" pitchFamily="34" charset="0"/>
                    <a:cs typeface="Arial" panose="020B0604020202020204" pitchFamily="34" charset="0"/>
                  </a:rPr>
                  <a:t>HWHsc.OPCServer</a:t>
                </a:r>
                <a:r>
                  <a:rPr lang="en-US" sz="1800" dirty="0">
                    <a:solidFill>
                      <a:srgbClr val="2C2FD4"/>
                    </a:solidFill>
                    <a:latin typeface="Arial" panose="020B0604020202020204" pitchFamily="34" charset="0"/>
                    <a:cs typeface="Arial" panose="020B0604020202020204" pitchFamily="34" charset="0"/>
                  </a:rPr>
                  <a:t> not in substring of ProgID… add custom substring e.g. </a:t>
                </a:r>
                <a:r>
                  <a:rPr lang="en-US" sz="1800" b="1" dirty="0" err="1">
                    <a:solidFill>
                      <a:srgbClr val="FF0000"/>
                    </a:solidFill>
                    <a:latin typeface="Arial" panose="020B0604020202020204" pitchFamily="34" charset="0"/>
                    <a:cs typeface="Arial" panose="020B0604020202020204" pitchFamily="34" charset="0"/>
                  </a:rPr>
                  <a:t>SaRdm</a:t>
                </a:r>
                <a:r>
                  <a:rPr lang="en-US" sz="1800" dirty="0">
                    <a:solidFill>
                      <a:srgbClr val="2C2FD4"/>
                    </a:solidFill>
                    <a:latin typeface="Arial" panose="020B0604020202020204" pitchFamily="34" charset="0"/>
                    <a:cs typeface="Arial" panose="020B0604020202020204" pitchFamily="34" charset="0"/>
                  </a:rPr>
                  <a:t> if this is  ProgID </a:t>
                </a:r>
                <a:r>
                  <a:rPr lang="en-US" sz="1800" b="1" dirty="0" err="1">
                    <a:solidFill>
                      <a:srgbClr val="FF0000"/>
                    </a:solidFill>
                    <a:latin typeface="Arial" panose="020B0604020202020204" pitchFamily="34" charset="0"/>
                    <a:cs typeface="Arial" panose="020B0604020202020204" pitchFamily="34" charset="0"/>
                  </a:rPr>
                  <a:t>SaRdm.North</a:t>
                </a:r>
                <a:endParaRPr lang="en-US" sz="1800" b="1" dirty="0">
                  <a:solidFill>
                    <a:srgbClr val="FF0000"/>
                  </a:solidFill>
                  <a:latin typeface="Arial" panose="020B0604020202020204" pitchFamily="34" charset="0"/>
                  <a:cs typeface="Arial" panose="020B0604020202020204" pitchFamily="34" charset="0"/>
                </a:endParaRPr>
              </a:p>
            </p:txBody>
          </p:sp>
        </p:grpSp>
        <p:pic>
          <p:nvPicPr>
            <p:cNvPr id="29" name="Picture 4" descr="C:\Users\e154578\AppData\Local\Temp\SNAGHTML265367b.PNG">
              <a:extLst>
                <a:ext uri="{FF2B5EF4-FFF2-40B4-BE49-F238E27FC236}">
                  <a16:creationId xmlns:a16="http://schemas.microsoft.com/office/drawing/2014/main" id="{E62B971E-48F3-487E-8D83-177AFE645D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93203" y="6203611"/>
              <a:ext cx="204540" cy="204540"/>
            </a:xfrm>
            <a:prstGeom prst="rect">
              <a:avLst/>
            </a:prstGeom>
            <a:noFill/>
            <a:extLst>
              <a:ext uri="{909E8E84-426E-40DD-AFC4-6F175D3DCCD1}">
                <a14:hiddenFill xmlns:a14="http://schemas.microsoft.com/office/drawing/2010/main">
                  <a:solidFill>
                    <a:srgbClr val="FFFFFF"/>
                  </a:solidFill>
                </a14:hiddenFill>
              </a:ext>
            </a:extLst>
          </p:spPr>
        </p:pic>
      </p:grpSp>
      <p:sp>
        <p:nvSpPr>
          <p:cNvPr id="37" name="Oval 14">
            <a:extLst>
              <a:ext uri="{FF2B5EF4-FFF2-40B4-BE49-F238E27FC236}">
                <a16:creationId xmlns:a16="http://schemas.microsoft.com/office/drawing/2014/main" id="{0867F34C-B4BA-449A-BC2C-D7018BC7EA40}"/>
              </a:ext>
            </a:extLst>
          </p:cNvPr>
          <p:cNvSpPr>
            <a:spLocks noChangeArrowheads="1"/>
          </p:cNvSpPr>
          <p:nvPr/>
        </p:nvSpPr>
        <p:spPr bwMode="auto">
          <a:xfrm>
            <a:off x="196637" y="5510113"/>
            <a:ext cx="5455269" cy="499017"/>
          </a:xfrm>
          <a:prstGeom prst="ellipse">
            <a:avLst/>
          </a:prstGeom>
          <a:noFill/>
          <a:ln w="28575">
            <a:solidFill>
              <a:srgbClr val="FF0000"/>
            </a:solidFill>
            <a:round/>
            <a:headEnd/>
            <a:tailEnd/>
          </a:ln>
        </p:spPr>
        <p:txBody>
          <a:bodyPr wrap="none" anchor="ctr"/>
          <a:lstStyle/>
          <a:p>
            <a:endParaRPr lang="en-US" dirty="0"/>
          </a:p>
        </p:txBody>
      </p:sp>
      <p:cxnSp>
        <p:nvCxnSpPr>
          <p:cNvPr id="33" name="Straight Arrow Connector 32">
            <a:extLst>
              <a:ext uri="{FF2B5EF4-FFF2-40B4-BE49-F238E27FC236}">
                <a16:creationId xmlns:a16="http://schemas.microsoft.com/office/drawing/2014/main" id="{52C7419F-3088-49E5-A953-30AC66F4F77B}"/>
              </a:ext>
            </a:extLst>
          </p:cNvPr>
          <p:cNvCxnSpPr>
            <a:cxnSpLocks/>
          </p:cNvCxnSpPr>
          <p:nvPr/>
        </p:nvCxnSpPr>
        <p:spPr>
          <a:xfrm flipH="1">
            <a:off x="5677667" y="5715000"/>
            <a:ext cx="951735" cy="85930"/>
          </a:xfrm>
          <a:prstGeom prst="straightConnector1">
            <a:avLst/>
          </a:prstGeom>
          <a:ln w="3175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663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A48608B-2108-4D46-B002-9212C701F6AF}"/>
              </a:ext>
            </a:extLst>
          </p:cNvPr>
          <p:cNvPicPr>
            <a:picLocks noChangeAspect="1"/>
          </p:cNvPicPr>
          <p:nvPr/>
        </p:nvPicPr>
        <p:blipFill>
          <a:blip r:embed="rId3"/>
          <a:stretch>
            <a:fillRect/>
          </a:stretch>
        </p:blipFill>
        <p:spPr>
          <a:xfrm>
            <a:off x="534924" y="4343400"/>
            <a:ext cx="7919708" cy="1600200"/>
          </a:xfrm>
          <a:prstGeom prst="rect">
            <a:avLst/>
          </a:prstGeom>
          <a:ln w="31750">
            <a:solidFill>
              <a:schemeClr val="tx1"/>
            </a:solidFill>
          </a:ln>
        </p:spPr>
      </p:pic>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Suppressed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7" y="826532"/>
            <a:ext cx="7505184" cy="3364468"/>
          </a:xfrm>
        </p:spPr>
        <p:txBody>
          <a:bodyPr/>
          <a:lstStyle/>
          <a:p>
            <a:pPr marL="0" indent="0">
              <a:buNone/>
            </a:pPr>
            <a:r>
              <a:rPr lang="en-US" dirty="0">
                <a:solidFill>
                  <a:srgbClr val="00B0F0"/>
                </a:solidFill>
              </a:rPr>
              <a:t>Step: (</a:t>
            </a:r>
            <a:r>
              <a:rPr lang="en-US" dirty="0" err="1">
                <a:solidFill>
                  <a:srgbClr val="00B0F0"/>
                </a:solidFill>
              </a:rPr>
              <a:t>TagListGen</a:t>
            </a:r>
            <a:r>
              <a:rPr lang="en-US" dirty="0">
                <a:solidFill>
                  <a:srgbClr val="00B0F0"/>
                </a:solidFill>
              </a:rPr>
              <a:t> </a:t>
            </a:r>
            <a:r>
              <a:rPr lang="en-US" dirty="0" err="1">
                <a:solidFill>
                  <a:srgbClr val="00B0F0"/>
                </a:solidFill>
              </a:rPr>
              <a:t>tag.</a:t>
            </a:r>
            <a:r>
              <a:rPr lang="en-US" dirty="0" err="1">
                <a:solidFill>
                  <a:srgbClr val="FF0000"/>
                </a:solidFill>
              </a:rPr>
              <a:t>parameter</a:t>
            </a:r>
            <a:r>
              <a:rPr lang="en-US" dirty="0">
                <a:solidFill>
                  <a:srgbClr val="00B0F0"/>
                </a:solidFill>
              </a:rPr>
              <a:t> present)</a:t>
            </a:r>
            <a:r>
              <a:rPr lang="en-US" dirty="0"/>
              <a:t>: Check CSV files have parameters</a:t>
            </a:r>
          </a:p>
          <a:p>
            <a:pPr marL="0" indent="0">
              <a:buNone/>
            </a:pPr>
            <a:r>
              <a:rPr lang="en-US" dirty="0"/>
              <a:t>This is wrong…</a:t>
            </a:r>
          </a:p>
          <a:p>
            <a:pPr marL="365760" lvl="2" indent="0">
              <a:buNone/>
            </a:pPr>
            <a:r>
              <a:rPr lang="en-US" dirty="0"/>
              <a:t>7HY264., </a:t>
            </a:r>
          </a:p>
          <a:p>
            <a:pPr marL="0" indent="0">
              <a:buNone/>
            </a:pPr>
            <a:r>
              <a:rPr lang="en-US" dirty="0"/>
              <a:t>This is right</a:t>
            </a:r>
          </a:p>
          <a:p>
            <a:pPr marL="365760" lvl="2" indent="0">
              <a:buNone/>
            </a:pPr>
            <a:r>
              <a:rPr lang="en-US" dirty="0"/>
              <a:t>7HY264.alenbst, </a:t>
            </a:r>
          </a:p>
          <a:p>
            <a:pPr marL="182880" lvl="1" indent="0">
              <a:buNone/>
            </a:pPr>
            <a:r>
              <a:rPr lang="en-US" sz="2000" dirty="0"/>
              <a:t>ISSUE: in </a:t>
            </a:r>
            <a:r>
              <a:rPr lang="en-US" sz="2000" dirty="0" err="1"/>
              <a:t>DynAMo</a:t>
            </a:r>
            <a:r>
              <a:rPr lang="en-US" sz="2000" dirty="0"/>
              <a:t> 210 we have defect…RDM can only have standard name, else </a:t>
            </a:r>
            <a:r>
              <a:rPr lang="en-US" sz="2000" dirty="0" err="1"/>
              <a:t>DynAMo</a:t>
            </a:r>
            <a:r>
              <a:rPr lang="en-US" sz="2000" dirty="0"/>
              <a:t> will not add parameters</a:t>
            </a:r>
          </a:p>
          <a:p>
            <a:pPr marL="0" indent="0">
              <a:buNone/>
            </a:pPr>
            <a:endParaRPr lang="en-US" dirty="0"/>
          </a:p>
        </p:txBody>
      </p:sp>
      <p:sp>
        <p:nvSpPr>
          <p:cNvPr id="2" name="Oval 1">
            <a:extLst>
              <a:ext uri="{FF2B5EF4-FFF2-40B4-BE49-F238E27FC236}">
                <a16:creationId xmlns:a16="http://schemas.microsoft.com/office/drawing/2014/main" id="{5B890A08-2E0E-4AF7-BF95-154019E7BB51}"/>
              </a:ext>
            </a:extLst>
          </p:cNvPr>
          <p:cNvSpPr/>
          <p:nvPr/>
        </p:nvSpPr>
        <p:spPr>
          <a:xfrm>
            <a:off x="1219200" y="4932188"/>
            <a:ext cx="685800" cy="697468"/>
          </a:xfrm>
          <a:prstGeom prst="ellipse">
            <a:avLst/>
          </a:prstGeom>
          <a:noFill/>
          <a:ln w="25400">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pic>
        <p:nvPicPr>
          <p:cNvPr id="6" name="Picture 5">
            <a:extLst>
              <a:ext uri="{FF2B5EF4-FFF2-40B4-BE49-F238E27FC236}">
                <a16:creationId xmlns:a16="http://schemas.microsoft.com/office/drawing/2014/main" id="{67627619-E228-4074-8AAD-E7E34663BA31}"/>
              </a:ext>
            </a:extLst>
          </p:cNvPr>
          <p:cNvPicPr>
            <a:picLocks noChangeAspect="1"/>
          </p:cNvPicPr>
          <p:nvPr/>
        </p:nvPicPr>
        <p:blipFill>
          <a:blip r:embed="rId4"/>
          <a:stretch>
            <a:fillRect/>
          </a:stretch>
        </p:blipFill>
        <p:spPr>
          <a:xfrm>
            <a:off x="7638923" y="2971800"/>
            <a:ext cx="1219200" cy="3393649"/>
          </a:xfrm>
          <a:prstGeom prst="rect">
            <a:avLst/>
          </a:prstGeom>
        </p:spPr>
      </p:pic>
    </p:spTree>
    <p:extLst>
      <p:ext uri="{BB962C8B-B14F-4D97-AF65-F5344CB8AC3E}">
        <p14:creationId xmlns:p14="http://schemas.microsoft.com/office/powerpoint/2010/main" val="3284181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Suppressed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650468"/>
          </a:xfrm>
        </p:spPr>
        <p:txBody>
          <a:bodyPr/>
          <a:lstStyle/>
          <a:p>
            <a:pPr marL="0" indent="0">
              <a:buNone/>
            </a:pPr>
            <a:r>
              <a:rPr lang="en-US" sz="2000" dirty="0">
                <a:solidFill>
                  <a:srgbClr val="00B0F0"/>
                </a:solidFill>
              </a:rPr>
              <a:t>Step: </a:t>
            </a:r>
            <a:r>
              <a:rPr lang="en-US" sz="2000" dirty="0"/>
              <a:t>(</a:t>
            </a:r>
            <a:r>
              <a:rPr lang="en-US" sz="2000" dirty="0" err="1">
                <a:solidFill>
                  <a:srgbClr val="00B0F0"/>
                </a:solidFill>
              </a:rPr>
              <a:t>TagListGen</a:t>
            </a:r>
            <a:r>
              <a:rPr lang="en-US" sz="2000" dirty="0">
                <a:solidFill>
                  <a:srgbClr val="00B0F0"/>
                </a:solidFill>
              </a:rPr>
              <a:t> asset selection</a:t>
            </a:r>
            <a:r>
              <a:rPr lang="en-US" sz="2000" dirty="0"/>
              <a:t>) for suppressed sync. Ensure correct” assets are selected per channel as reporting is </a:t>
            </a:r>
            <a:r>
              <a:rPr lang="en-US" sz="2000" b="1" u="sng" dirty="0"/>
              <a:t>channel-based</a:t>
            </a:r>
          </a:p>
          <a:p>
            <a:pPr marL="0" indent="0">
              <a:buNone/>
            </a:pPr>
            <a:r>
              <a:rPr lang="en-US" sz="2000" dirty="0"/>
              <a:t>- As sync\reports are channel based… they will not be correct otherwise. You can NOT just select all “Assets” (top level) as shown below.</a:t>
            </a:r>
          </a:p>
          <a:p>
            <a:pPr marL="0" indent="0">
              <a:buNone/>
            </a:pPr>
            <a:r>
              <a:rPr lang="en-US" sz="2000" dirty="0"/>
              <a:t>Try Barbara’s SQL query…</a:t>
            </a:r>
          </a:p>
          <a:p>
            <a:pPr marL="0" indent="0">
              <a:buNone/>
            </a:pPr>
            <a:r>
              <a:rPr lang="en-US" sz="2000" dirty="0"/>
              <a:t>___M&amp;R Configure </a:t>
            </a:r>
            <a:r>
              <a:rPr lang="en-US" sz="2000" dirty="0" err="1"/>
              <a:t>TagListGen</a:t>
            </a:r>
            <a:r>
              <a:rPr lang="en-US" sz="2000" dirty="0"/>
              <a:t> help AND Check </a:t>
            </a:r>
            <a:r>
              <a:rPr lang="en-US" sz="2000" dirty="0" err="1"/>
              <a:t>SyncQueue</a:t>
            </a:r>
            <a:r>
              <a:rPr lang="en-US" sz="2000" dirty="0"/>
              <a:t> does not generate WRONG NEW tag or asset</a:t>
            </a:r>
          </a:p>
          <a:p>
            <a:pPr marL="0" indent="0">
              <a:buNone/>
            </a:pPr>
            <a:endParaRPr lang="en-US" sz="2000" dirty="0"/>
          </a:p>
          <a:p>
            <a:pPr marL="0" indent="0">
              <a:buNone/>
            </a:pPr>
            <a:endParaRPr lang="en-US" sz="2000" dirty="0"/>
          </a:p>
          <a:p>
            <a:pPr marL="0" indent="0">
              <a:buNone/>
            </a:pPr>
            <a:r>
              <a:rPr lang="en-US" sz="2000" dirty="0">
                <a:solidFill>
                  <a:srgbClr val="FF0000"/>
                </a:solidFill>
              </a:rPr>
              <a:t>Should we sync system tags\assets?</a:t>
            </a:r>
          </a:p>
          <a:p>
            <a:pPr marL="0" indent="0">
              <a:buNone/>
            </a:pPr>
            <a:r>
              <a:rPr lang="en-US" sz="2000" dirty="0">
                <a:solidFill>
                  <a:srgbClr val="FF0000"/>
                </a:solidFill>
              </a:rPr>
              <a:t>(Barbara) NO</a:t>
            </a:r>
          </a:p>
          <a:p>
            <a:pPr marL="0" indent="0">
              <a:buNone/>
            </a:pPr>
            <a:endParaRPr lang="en-US" sz="2000" dirty="0">
              <a:solidFill>
                <a:srgbClr val="FF0000"/>
              </a:solidFill>
            </a:endParaRPr>
          </a:p>
          <a:p>
            <a:pPr marL="0" indent="0">
              <a:buNone/>
            </a:pPr>
            <a:r>
              <a:rPr lang="en-US" sz="2000" dirty="0">
                <a:solidFill>
                  <a:srgbClr val="FF0000"/>
                </a:solidFill>
              </a:rPr>
              <a:t>Should we exclude some tags?</a:t>
            </a:r>
          </a:p>
          <a:p>
            <a:pPr marL="0" indent="0">
              <a:buNone/>
            </a:pPr>
            <a:r>
              <a:rPr lang="en-US" sz="2000" dirty="0">
                <a:solidFill>
                  <a:srgbClr val="FF0000"/>
                </a:solidFill>
              </a:rPr>
              <a:t>Probably YES (Barbara never did this, </a:t>
            </a:r>
          </a:p>
          <a:p>
            <a:pPr marL="0" indent="0">
              <a:buNone/>
            </a:pPr>
            <a:r>
              <a:rPr lang="en-US" sz="2000" dirty="0">
                <a:solidFill>
                  <a:srgbClr val="FF0000"/>
                </a:solidFill>
              </a:rPr>
              <a:t>nobody will maintain that)</a:t>
            </a:r>
          </a:p>
        </p:txBody>
      </p:sp>
      <p:pic>
        <p:nvPicPr>
          <p:cNvPr id="6" name="Picture 5">
            <a:extLst>
              <a:ext uri="{FF2B5EF4-FFF2-40B4-BE49-F238E27FC236}">
                <a16:creationId xmlns:a16="http://schemas.microsoft.com/office/drawing/2014/main" id="{24A057FC-84DA-4746-A883-DA661BC36A05}"/>
              </a:ext>
            </a:extLst>
          </p:cNvPr>
          <p:cNvPicPr>
            <a:picLocks noChangeAspect="1"/>
          </p:cNvPicPr>
          <p:nvPr/>
        </p:nvPicPr>
        <p:blipFill>
          <a:blip r:embed="rId3"/>
          <a:stretch>
            <a:fillRect/>
          </a:stretch>
        </p:blipFill>
        <p:spPr>
          <a:xfrm>
            <a:off x="4879073" y="3183294"/>
            <a:ext cx="2893327" cy="3581400"/>
          </a:xfrm>
          <a:prstGeom prst="rect">
            <a:avLst/>
          </a:prstGeom>
          <a:ln w="31750">
            <a:solidFill>
              <a:schemeClr val="tx1"/>
            </a:solidFill>
          </a:ln>
        </p:spPr>
      </p:pic>
      <p:cxnSp>
        <p:nvCxnSpPr>
          <p:cNvPr id="10" name="Straight Connector 9">
            <a:extLst>
              <a:ext uri="{FF2B5EF4-FFF2-40B4-BE49-F238E27FC236}">
                <a16:creationId xmlns:a16="http://schemas.microsoft.com/office/drawing/2014/main" id="{A85A867C-31BB-42DC-941A-2E536EE3267D}"/>
              </a:ext>
            </a:extLst>
          </p:cNvPr>
          <p:cNvCxnSpPr/>
          <p:nvPr/>
        </p:nvCxnSpPr>
        <p:spPr>
          <a:xfrm>
            <a:off x="5181600" y="4267200"/>
            <a:ext cx="762000" cy="45720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CE02E71B-E936-489E-B05B-BCD9CC7A452B}"/>
              </a:ext>
            </a:extLst>
          </p:cNvPr>
          <p:cNvCxnSpPr/>
          <p:nvPr/>
        </p:nvCxnSpPr>
        <p:spPr>
          <a:xfrm flipV="1">
            <a:off x="5105400" y="4191000"/>
            <a:ext cx="685800" cy="533400"/>
          </a:xfrm>
          <a:prstGeom prst="line">
            <a:avLst/>
          </a:prstGeom>
          <a:ln w="28575" cmpd="sng">
            <a:solidFill>
              <a:srgbClr val="FF0000"/>
            </a:solidFill>
          </a:ln>
          <a:effectLst/>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F5ADE310-A96F-4A08-AC29-70FD1112FB70}"/>
              </a:ext>
            </a:extLst>
          </p:cNvPr>
          <p:cNvPicPr>
            <a:picLocks noChangeAspect="1"/>
          </p:cNvPicPr>
          <p:nvPr/>
        </p:nvPicPr>
        <p:blipFill>
          <a:blip r:embed="rId4"/>
          <a:stretch>
            <a:fillRect/>
          </a:stretch>
        </p:blipFill>
        <p:spPr>
          <a:xfrm>
            <a:off x="7772400" y="2854929"/>
            <a:ext cx="1219200" cy="3393649"/>
          </a:xfrm>
          <a:prstGeom prst="rect">
            <a:avLst/>
          </a:prstGeom>
        </p:spPr>
      </p:pic>
    </p:spTree>
    <p:extLst>
      <p:ext uri="{BB962C8B-B14F-4D97-AF65-F5344CB8AC3E}">
        <p14:creationId xmlns:p14="http://schemas.microsoft.com/office/powerpoint/2010/main" val="256479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4820" name="Picture 4"/>
          <p:cNvPicPr>
            <a:picLocks noChangeAspect="1" noChangeArrowheads="1"/>
          </p:cNvPicPr>
          <p:nvPr/>
        </p:nvPicPr>
        <p:blipFill>
          <a:blip r:embed="rId3" cstate="print"/>
          <a:srcRect/>
          <a:stretch>
            <a:fillRect/>
          </a:stretch>
        </p:blipFill>
        <p:spPr bwMode="auto">
          <a:xfrm>
            <a:off x="7934325" y="2057400"/>
            <a:ext cx="1209675" cy="18764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Quiz</a:t>
            </a:r>
          </a:p>
        </p:txBody>
      </p:sp>
      <p:sp>
        <p:nvSpPr>
          <p:cNvPr id="3" name="Content Placeholder 2"/>
          <p:cNvSpPr>
            <a:spLocks noGrp="1"/>
          </p:cNvSpPr>
          <p:nvPr>
            <p:ph sz="quarter" idx="12"/>
          </p:nvPr>
        </p:nvSpPr>
        <p:spPr/>
        <p:txBody>
          <a:bodyPr/>
          <a:lstStyle/>
          <a:p>
            <a:pPr marL="0" indent="0">
              <a:buNone/>
            </a:pPr>
            <a:r>
              <a:rPr lang="en-US" dirty="0"/>
              <a:t>So I have asset Assets\AK with some points built on server SRV1 and some on SRV2. In which channel I should use AK for Suppressed Sync </a:t>
            </a:r>
            <a:r>
              <a:rPr lang="en-US" dirty="0" err="1"/>
              <a:t>TagList</a:t>
            </a:r>
            <a:r>
              <a:rPr lang="en-US" sz="2800" dirty="0"/>
              <a:t>?</a:t>
            </a:r>
          </a:p>
          <a:p>
            <a:pPr marL="514350" indent="-514350">
              <a:buAutoNum type="alphaLcPeriod"/>
            </a:pPr>
            <a:r>
              <a:rPr lang="en-US" dirty="0"/>
              <a:t>SRV1</a:t>
            </a:r>
          </a:p>
          <a:p>
            <a:pPr marL="514350" indent="-514350">
              <a:buAutoNum type="alphaLcPeriod"/>
            </a:pPr>
            <a:r>
              <a:rPr lang="en-US" sz="2800" dirty="0"/>
              <a:t>SRV2</a:t>
            </a:r>
          </a:p>
          <a:p>
            <a:pPr marL="514350" indent="-514350">
              <a:buAutoNum type="alphaLcPeriod"/>
            </a:pPr>
            <a:r>
              <a:rPr lang="en-US" dirty="0"/>
              <a:t>Both SRV1 and SRV2</a:t>
            </a:r>
            <a:endParaRPr lang="en-US" sz="2800" dirty="0"/>
          </a:p>
        </p:txBody>
      </p:sp>
      <p:sp>
        <p:nvSpPr>
          <p:cNvPr id="11" name="TextBox 10"/>
          <p:cNvSpPr txBox="1"/>
          <p:nvPr/>
        </p:nvSpPr>
        <p:spPr>
          <a:xfrm>
            <a:off x="1676400" y="4516663"/>
            <a:ext cx="5562600" cy="923330"/>
          </a:xfrm>
          <a:prstGeom prst="rect">
            <a:avLst/>
          </a:prstGeom>
          <a:noFill/>
        </p:spPr>
        <p:txBody>
          <a:bodyPr wrap="square" rtlCol="0">
            <a:spAutoFit/>
          </a:bodyPr>
          <a:lstStyle/>
          <a:p>
            <a:pPr algn="l"/>
            <a:r>
              <a:rPr lang="en-US" sz="1800" b="1" dirty="0">
                <a:solidFill>
                  <a:schemeClr val="bg2"/>
                </a:solidFill>
              </a:rPr>
              <a:t>Try to use for the “largest” set… </a:t>
            </a:r>
          </a:p>
          <a:p>
            <a:pPr algn="l"/>
            <a:r>
              <a:rPr lang="en-US" sz="1800" b="1" dirty="0">
                <a:solidFill>
                  <a:schemeClr val="bg2"/>
                </a:solidFill>
              </a:rPr>
              <a:t>This is one of the “Barbara’s reported issues”</a:t>
            </a:r>
          </a:p>
          <a:p>
            <a:pPr algn="l"/>
            <a:r>
              <a:rPr lang="en-US" sz="1800" b="1" dirty="0">
                <a:solidFill>
                  <a:schemeClr val="bg2"/>
                </a:solidFill>
              </a:rPr>
              <a:t>Barbara: Suppress should be channel-independent!</a:t>
            </a:r>
            <a:endParaRPr lang="en-US" sz="1800" dirty="0"/>
          </a:p>
        </p:txBody>
      </p:sp>
      <p:sp>
        <p:nvSpPr>
          <p:cNvPr id="15" name="Rounded Rectangle 14"/>
          <p:cNvSpPr/>
          <p:nvPr/>
        </p:nvSpPr>
        <p:spPr bwMode="auto">
          <a:xfrm>
            <a:off x="457200" y="2514600"/>
            <a:ext cx="2743200" cy="457200"/>
          </a:xfrm>
          <a:prstGeom prst="roundRect">
            <a:avLst/>
          </a:prstGeom>
          <a:noFill/>
          <a:ln w="9525" cap="flat" cmpd="sng" algn="ctr">
            <a:solidFill>
              <a:srgbClr val="FF0000">
                <a:alpha val="0"/>
              </a:srgb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
        <p:nvSpPr>
          <p:cNvPr id="13" name="Flowchart: Process 12"/>
          <p:cNvSpPr/>
          <p:nvPr/>
        </p:nvSpPr>
        <p:spPr bwMode="auto">
          <a:xfrm>
            <a:off x="1524000" y="4343400"/>
            <a:ext cx="5486400" cy="1874520"/>
          </a:xfrm>
          <a:prstGeom prst="flowChartProcess">
            <a:avLst/>
          </a:prstGeom>
          <a:solidFill>
            <a:schemeClr val="bg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38938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Suppressed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648183" cy="4355068"/>
          </a:xfrm>
        </p:spPr>
        <p:txBody>
          <a:bodyPr/>
          <a:lstStyle/>
          <a:p>
            <a:pPr marL="0" indent="0">
              <a:buNone/>
            </a:pPr>
            <a:r>
              <a:rPr lang="en-US" sz="2000" dirty="0">
                <a:solidFill>
                  <a:srgbClr val="00B0F0"/>
                </a:solidFill>
              </a:rPr>
              <a:t>Step: </a:t>
            </a:r>
            <a:r>
              <a:rPr lang="en-US" sz="2000" dirty="0"/>
              <a:t>(</a:t>
            </a:r>
            <a:r>
              <a:rPr lang="en-US" sz="2000" dirty="0" err="1">
                <a:solidFill>
                  <a:srgbClr val="00B0F0"/>
                </a:solidFill>
              </a:rPr>
              <a:t>TagListGen</a:t>
            </a:r>
            <a:r>
              <a:rPr lang="en-US" sz="2000" dirty="0">
                <a:solidFill>
                  <a:srgbClr val="00B0F0"/>
                </a:solidFill>
              </a:rPr>
              <a:t> did we capture all alarmable tags?</a:t>
            </a:r>
            <a:r>
              <a:rPr lang="en-US" sz="2000" dirty="0"/>
              <a:t>) </a:t>
            </a:r>
            <a:endParaRPr lang="en-US" sz="2000" dirty="0">
              <a:solidFill>
                <a:srgbClr val="FF0000"/>
              </a:solidFill>
            </a:endParaRPr>
          </a:p>
          <a:p>
            <a:pPr marL="0" indent="0">
              <a:buNone/>
            </a:pPr>
            <a:r>
              <a:rPr lang="en-US" sz="2000" dirty="0"/>
              <a:t>How many tags you see? Is the list looking complete?</a:t>
            </a:r>
          </a:p>
          <a:p>
            <a:pPr marL="0" indent="0">
              <a:buNone/>
            </a:pPr>
            <a:r>
              <a:rPr lang="en-US" sz="2000" dirty="0"/>
              <a:t>If running under </a:t>
            </a:r>
            <a:r>
              <a:rPr lang="en-US" sz="2000" dirty="0" err="1"/>
              <a:t>mngr</a:t>
            </a:r>
            <a:r>
              <a:rPr lang="en-US" sz="2000" dirty="0"/>
              <a:t> does not help (never helped me)…. </a:t>
            </a:r>
          </a:p>
          <a:p>
            <a:pPr marL="0" indent="0">
              <a:buNone/>
            </a:pPr>
            <a:r>
              <a:rPr lang="en-US" sz="2000" dirty="0"/>
              <a:t>Run ACM Tag Gen re-adding all tags</a:t>
            </a:r>
          </a:p>
          <a:p>
            <a:pPr marL="0" indent="0">
              <a:buNone/>
            </a:pPr>
            <a:r>
              <a:rPr lang="en-US" sz="2000" dirty="0"/>
              <a:t>Detail the point and check… does it show?</a:t>
            </a:r>
          </a:p>
          <a:p>
            <a:pPr marL="0" indent="0">
              <a:buNone/>
            </a:pPr>
            <a:endParaRPr lang="en-US" sz="2000" dirty="0"/>
          </a:p>
          <a:p>
            <a:pPr marL="0" indent="0">
              <a:buNone/>
            </a:pPr>
            <a:r>
              <a:rPr lang="en-US" sz="2000" dirty="0"/>
              <a:t>If the site has ACM you may try to use “Barbara’s script” to generate the list from ACM… (this also avoids overloading OPC).</a:t>
            </a:r>
          </a:p>
          <a:p>
            <a:pPr marL="0" indent="0">
              <a:buNone/>
            </a:pPr>
            <a:endParaRPr lang="en-US" sz="2000" dirty="0"/>
          </a:p>
          <a:p>
            <a:pPr marL="0" indent="0">
              <a:buNone/>
            </a:pPr>
            <a:r>
              <a:rPr lang="en-US" sz="2000" dirty="0"/>
              <a:t>Barbara does not understand this concept of “waking up” the tags.</a:t>
            </a:r>
          </a:p>
        </p:txBody>
      </p:sp>
      <p:pic>
        <p:nvPicPr>
          <p:cNvPr id="8" name="Picture 7">
            <a:extLst>
              <a:ext uri="{FF2B5EF4-FFF2-40B4-BE49-F238E27FC236}">
                <a16:creationId xmlns:a16="http://schemas.microsoft.com/office/drawing/2014/main" id="{F5ADE310-A96F-4A08-AC29-70FD1112FB70}"/>
              </a:ext>
            </a:extLst>
          </p:cNvPr>
          <p:cNvPicPr>
            <a:picLocks noChangeAspect="1"/>
          </p:cNvPicPr>
          <p:nvPr/>
        </p:nvPicPr>
        <p:blipFill>
          <a:blip r:embed="rId3"/>
          <a:stretch>
            <a:fillRect/>
          </a:stretch>
        </p:blipFill>
        <p:spPr>
          <a:xfrm>
            <a:off x="7772400" y="2854929"/>
            <a:ext cx="1219200" cy="3393649"/>
          </a:xfrm>
          <a:prstGeom prst="rect">
            <a:avLst/>
          </a:prstGeom>
        </p:spPr>
      </p:pic>
      <p:pic>
        <p:nvPicPr>
          <p:cNvPr id="9" name="Picture 8">
            <a:extLst>
              <a:ext uri="{FF2B5EF4-FFF2-40B4-BE49-F238E27FC236}">
                <a16:creationId xmlns:a16="http://schemas.microsoft.com/office/drawing/2014/main" id="{EA8F42D6-B906-4153-B75D-A046F54A4C81}"/>
              </a:ext>
            </a:extLst>
          </p:cNvPr>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381000" y="4572000"/>
            <a:ext cx="6405880" cy="2131695"/>
          </a:xfrm>
          <a:prstGeom prst="rect">
            <a:avLst/>
          </a:prstGeom>
          <a:noFill/>
          <a:ln w="31750">
            <a:solidFill>
              <a:schemeClr val="tx1"/>
            </a:solidFill>
          </a:ln>
        </p:spPr>
      </p:pic>
    </p:spTree>
    <p:extLst>
      <p:ext uri="{BB962C8B-B14F-4D97-AF65-F5344CB8AC3E}">
        <p14:creationId xmlns:p14="http://schemas.microsoft.com/office/powerpoint/2010/main" val="421371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7" y="2584966"/>
            <a:ext cx="8876783" cy="1688068"/>
          </a:xfrm>
        </p:spPr>
        <p:txBody>
          <a:bodyPr/>
          <a:lstStyle/>
          <a:p>
            <a:pPr marL="0" indent="0" algn="ctr">
              <a:buNone/>
            </a:pPr>
            <a:r>
              <a:rPr lang="en-US" sz="4000" b="1" dirty="0"/>
              <a:t>Active sync:</a:t>
            </a:r>
          </a:p>
          <a:p>
            <a:pPr marL="0" indent="0" algn="ctr">
              <a:buNone/>
            </a:pPr>
            <a:r>
              <a:rPr lang="en-US" sz="4000" b="1" dirty="0"/>
              <a:t>Get ready for collector</a:t>
            </a:r>
          </a:p>
        </p:txBody>
      </p:sp>
    </p:spTree>
    <p:extLst>
      <p:ext uri="{BB962C8B-B14F-4D97-AF65-F5344CB8AC3E}">
        <p14:creationId xmlns:p14="http://schemas.microsoft.com/office/powerpoint/2010/main" val="2967023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0E8F-C617-41C4-8BC9-C614E38483C4}"/>
              </a:ext>
            </a:extLst>
          </p:cNvPr>
          <p:cNvSpPr>
            <a:spLocks noGrp="1"/>
          </p:cNvSpPr>
          <p:nvPr>
            <p:ph type="title"/>
          </p:nvPr>
        </p:nvSpPr>
        <p:spPr>
          <a:xfrm>
            <a:off x="446846" y="151832"/>
            <a:ext cx="8521492" cy="498610"/>
          </a:xfrm>
        </p:spPr>
        <p:txBody>
          <a:bodyPr/>
          <a:lstStyle/>
          <a:p>
            <a:r>
              <a:rPr lang="en-US" dirty="0"/>
              <a:t>Active Alarms Sync (TPS or ESVT only)</a:t>
            </a:r>
          </a:p>
        </p:txBody>
      </p:sp>
      <p:sp>
        <p:nvSpPr>
          <p:cNvPr id="4" name="Content Placeholder 3">
            <a:extLst>
              <a:ext uri="{FF2B5EF4-FFF2-40B4-BE49-F238E27FC236}">
                <a16:creationId xmlns:a16="http://schemas.microsoft.com/office/drawing/2014/main" id="{FB8B4CF3-8FF8-4CDA-9768-25D9C3B1048F}"/>
              </a:ext>
            </a:extLst>
          </p:cNvPr>
          <p:cNvSpPr>
            <a:spLocks noGrp="1"/>
          </p:cNvSpPr>
          <p:nvPr>
            <p:ph sz="quarter" idx="12"/>
          </p:nvPr>
        </p:nvSpPr>
        <p:spPr>
          <a:xfrm>
            <a:off x="304801" y="785788"/>
            <a:ext cx="8595359" cy="5227320"/>
          </a:xfrm>
        </p:spPr>
        <p:txBody>
          <a:bodyPr/>
          <a:lstStyle/>
          <a:p>
            <a:pPr marL="0" indent="0">
              <a:buNone/>
            </a:pPr>
            <a:r>
              <a:rPr lang="en-US" sz="2400" dirty="0"/>
              <a:t>Configure Active Sync utility Honeywell.DynAMo.MnR.OpenAlarmSyncUI.exe in</a:t>
            </a:r>
          </a:p>
          <a:p>
            <a:pPr marL="0" indent="0">
              <a:buNone/>
            </a:pPr>
            <a:r>
              <a:rPr lang="en-US" sz="2000" dirty="0"/>
              <a:t>C:\Program Files (x86)\Honeywell\DynAMo\Utilities\Tag List Generator</a:t>
            </a:r>
          </a:p>
        </p:txBody>
      </p:sp>
      <p:pic>
        <p:nvPicPr>
          <p:cNvPr id="8" name="Picture 7">
            <a:extLst>
              <a:ext uri="{FF2B5EF4-FFF2-40B4-BE49-F238E27FC236}">
                <a16:creationId xmlns:a16="http://schemas.microsoft.com/office/drawing/2014/main" id="{692F48F8-13C3-4B48-85D6-A950DEE66581}"/>
              </a:ext>
            </a:extLst>
          </p:cNvPr>
          <p:cNvPicPr>
            <a:picLocks noChangeAspect="1"/>
          </p:cNvPicPr>
          <p:nvPr/>
        </p:nvPicPr>
        <p:blipFill>
          <a:blip r:embed="rId2"/>
          <a:stretch>
            <a:fillRect/>
          </a:stretch>
        </p:blipFill>
        <p:spPr>
          <a:xfrm>
            <a:off x="304801" y="2362200"/>
            <a:ext cx="4419600" cy="2494452"/>
          </a:xfrm>
          <a:prstGeom prst="rect">
            <a:avLst/>
          </a:prstGeom>
          <a:ln w="31750">
            <a:solidFill>
              <a:schemeClr val="tx1"/>
            </a:solidFill>
          </a:ln>
        </p:spPr>
      </p:pic>
      <p:pic>
        <p:nvPicPr>
          <p:cNvPr id="9" name="Picture 8">
            <a:extLst>
              <a:ext uri="{FF2B5EF4-FFF2-40B4-BE49-F238E27FC236}">
                <a16:creationId xmlns:a16="http://schemas.microsoft.com/office/drawing/2014/main" id="{3434238D-CA2E-4E34-8B7E-67B8FA3E6E37}"/>
              </a:ext>
            </a:extLst>
          </p:cNvPr>
          <p:cNvPicPr>
            <a:picLocks noChangeAspect="1"/>
          </p:cNvPicPr>
          <p:nvPr/>
        </p:nvPicPr>
        <p:blipFill>
          <a:blip r:embed="rId3"/>
          <a:stretch>
            <a:fillRect/>
          </a:stretch>
        </p:blipFill>
        <p:spPr>
          <a:xfrm>
            <a:off x="3788697" y="2631789"/>
            <a:ext cx="4851422" cy="2844510"/>
          </a:xfrm>
          <a:prstGeom prst="rect">
            <a:avLst/>
          </a:prstGeom>
          <a:ln w="31750">
            <a:solidFill>
              <a:schemeClr val="tx1"/>
            </a:solidFill>
          </a:ln>
        </p:spPr>
      </p:pic>
      <p:pic>
        <p:nvPicPr>
          <p:cNvPr id="11" name="Picture 10">
            <a:extLst>
              <a:ext uri="{FF2B5EF4-FFF2-40B4-BE49-F238E27FC236}">
                <a16:creationId xmlns:a16="http://schemas.microsoft.com/office/drawing/2014/main" id="{F6A32100-5D53-4A8D-A1D3-4B114ADE437F}"/>
              </a:ext>
            </a:extLst>
          </p:cNvPr>
          <p:cNvPicPr>
            <a:picLocks noChangeAspect="1"/>
          </p:cNvPicPr>
          <p:nvPr/>
        </p:nvPicPr>
        <p:blipFill>
          <a:blip r:embed="rId4"/>
          <a:stretch>
            <a:fillRect/>
          </a:stretch>
        </p:blipFill>
        <p:spPr>
          <a:xfrm>
            <a:off x="464431" y="4191000"/>
            <a:ext cx="4259970" cy="2414704"/>
          </a:xfrm>
          <a:prstGeom prst="rect">
            <a:avLst/>
          </a:prstGeom>
          <a:ln w="31750">
            <a:solidFill>
              <a:schemeClr val="tx1"/>
            </a:solidFill>
          </a:ln>
        </p:spPr>
      </p:pic>
      <p:grpSp>
        <p:nvGrpSpPr>
          <p:cNvPr id="7" name="Group 6">
            <a:extLst>
              <a:ext uri="{FF2B5EF4-FFF2-40B4-BE49-F238E27FC236}">
                <a16:creationId xmlns:a16="http://schemas.microsoft.com/office/drawing/2014/main" id="{D2ABF3B1-9223-4129-AFBE-CFBDD35BC70D}"/>
              </a:ext>
            </a:extLst>
          </p:cNvPr>
          <p:cNvGrpSpPr/>
          <p:nvPr/>
        </p:nvGrpSpPr>
        <p:grpSpPr>
          <a:xfrm rot="690968">
            <a:off x="3854868" y="4314408"/>
            <a:ext cx="3740439" cy="2223211"/>
            <a:chOff x="6631409" y="2113091"/>
            <a:chExt cx="2200799" cy="2093876"/>
          </a:xfrm>
        </p:grpSpPr>
        <p:grpSp>
          <p:nvGrpSpPr>
            <p:cNvPr id="10" name="Group 9">
              <a:extLst>
                <a:ext uri="{FF2B5EF4-FFF2-40B4-BE49-F238E27FC236}">
                  <a16:creationId xmlns:a16="http://schemas.microsoft.com/office/drawing/2014/main" id="{5B1E2B4F-27AF-4305-8F8A-DB1B13460ACE}"/>
                </a:ext>
              </a:extLst>
            </p:cNvPr>
            <p:cNvGrpSpPr/>
            <p:nvPr/>
          </p:nvGrpSpPr>
          <p:grpSpPr>
            <a:xfrm>
              <a:off x="6631409" y="2113091"/>
              <a:ext cx="2200799" cy="2093876"/>
              <a:chOff x="4636671" y="2286000"/>
              <a:chExt cx="2743201" cy="3060281"/>
            </a:xfrm>
          </p:grpSpPr>
          <p:grpSp>
            <p:nvGrpSpPr>
              <p:cNvPr id="13" name="Group 12">
                <a:extLst>
                  <a:ext uri="{FF2B5EF4-FFF2-40B4-BE49-F238E27FC236}">
                    <a16:creationId xmlns:a16="http://schemas.microsoft.com/office/drawing/2014/main" id="{0CF70250-9449-4862-9EB9-66A9812740F7}"/>
                  </a:ext>
                </a:extLst>
              </p:cNvPr>
              <p:cNvGrpSpPr/>
              <p:nvPr/>
            </p:nvGrpSpPr>
            <p:grpSpPr>
              <a:xfrm>
                <a:off x="4636671" y="2286000"/>
                <a:ext cx="2743201" cy="2895601"/>
                <a:chOff x="4636671" y="2286000"/>
                <a:chExt cx="2743201" cy="2895601"/>
              </a:xfrm>
            </p:grpSpPr>
            <p:pic>
              <p:nvPicPr>
                <p:cNvPr id="15" name="Picture 2">
                  <a:extLst>
                    <a:ext uri="{FF2B5EF4-FFF2-40B4-BE49-F238E27FC236}">
                      <a16:creationId xmlns:a16="http://schemas.microsoft.com/office/drawing/2014/main" id="{D409E122-762E-47C5-A991-9E4D4BF718A6}"/>
                    </a:ext>
                  </a:extLst>
                </p:cNvPr>
                <p:cNvPicPr>
                  <a:picLocks noChangeAspect="1" noChangeArrowheads="1"/>
                </p:cNvPicPr>
                <p:nvPr/>
              </p:nvPicPr>
              <p:blipFill>
                <a:blip r:embed="rId5" cstate="print"/>
                <a:srcRect/>
                <a:stretch>
                  <a:fillRect/>
                </a:stretch>
              </p:blipFill>
              <p:spPr bwMode="auto">
                <a:xfrm>
                  <a:off x="4636671" y="2414589"/>
                  <a:ext cx="2743201" cy="2767012"/>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6" name="Oval 15">
                  <a:extLst>
                    <a:ext uri="{FF2B5EF4-FFF2-40B4-BE49-F238E27FC236}">
                      <a16:creationId xmlns:a16="http://schemas.microsoft.com/office/drawing/2014/main" id="{758F3F42-3D6A-402A-A47E-2936B0F2F472}"/>
                    </a:ext>
                  </a:extLst>
                </p:cNvPr>
                <p:cNvSpPr/>
                <p:nvPr/>
              </p:nvSpPr>
              <p:spPr>
                <a:xfrm>
                  <a:off x="5627270" y="2286000"/>
                  <a:ext cx="228600" cy="228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ZoneTexte 30">
                <a:extLst>
                  <a:ext uri="{FF2B5EF4-FFF2-40B4-BE49-F238E27FC236}">
                    <a16:creationId xmlns:a16="http://schemas.microsoft.com/office/drawing/2014/main" id="{BDD81CA2-32E4-43E6-8665-0EE56D4DB14E}"/>
                  </a:ext>
                </a:extLst>
              </p:cNvPr>
              <p:cNvSpPr txBox="1"/>
              <p:nvPr/>
            </p:nvSpPr>
            <p:spPr>
              <a:xfrm rot="21177897">
                <a:off x="4679533" y="2677231"/>
                <a:ext cx="2687925" cy="2669050"/>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2000" b="1" dirty="0">
                    <a:solidFill>
                      <a:srgbClr val="2C2FD4"/>
                    </a:solidFill>
                    <a:latin typeface="Arial" panose="020B0604020202020204" pitchFamily="34" charset="0"/>
                    <a:cs typeface="Arial" panose="020B0604020202020204" pitchFamily="34" charset="0"/>
                  </a:rPr>
                  <a:t>Also create Map Files for each channel and put in </a:t>
                </a:r>
                <a:r>
                  <a:rPr lang="en-US" sz="2000" b="1" dirty="0" err="1">
                    <a:solidFill>
                      <a:srgbClr val="2C2FD4"/>
                    </a:solidFill>
                    <a:latin typeface="Arial" panose="020B0604020202020204" pitchFamily="34" charset="0"/>
                    <a:cs typeface="Arial" panose="020B0604020202020204" pitchFamily="34" charset="0"/>
                  </a:rPr>
                  <a:t>OpenAlarmsSyncConfigFiles</a:t>
                </a:r>
                <a:r>
                  <a:rPr lang="en-US" sz="2000" b="1" dirty="0">
                    <a:solidFill>
                      <a:srgbClr val="2C2FD4"/>
                    </a:solidFill>
                    <a:latin typeface="Arial" panose="020B0604020202020204" pitchFamily="34" charset="0"/>
                    <a:cs typeface="Arial" panose="020B0604020202020204" pitchFamily="34" charset="0"/>
                  </a:rPr>
                  <a:t> folder (updated samples may be requested from TAC)</a:t>
                </a:r>
              </a:p>
              <a:p>
                <a:pPr algn="l"/>
                <a:endParaRPr lang="en-US" sz="2000" b="1" dirty="0">
                  <a:solidFill>
                    <a:srgbClr val="2C2FD4"/>
                  </a:solidFill>
                  <a:latin typeface="Arial" panose="020B0604020202020204" pitchFamily="34" charset="0"/>
                  <a:cs typeface="Arial" panose="020B0604020202020204" pitchFamily="34" charset="0"/>
                </a:endParaRPr>
              </a:p>
            </p:txBody>
          </p:sp>
        </p:grpSp>
        <p:pic>
          <p:nvPicPr>
            <p:cNvPr id="12" name="Picture 4" descr="C:\Users\e154578\AppData\Local\Temp\SNAGHTML265367b.PNG">
              <a:extLst>
                <a:ext uri="{FF2B5EF4-FFF2-40B4-BE49-F238E27FC236}">
                  <a16:creationId xmlns:a16="http://schemas.microsoft.com/office/drawing/2014/main" id="{FAFB3CC9-704A-4DA7-B826-912E005A23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5104" y="3607358"/>
              <a:ext cx="288988" cy="288988"/>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spTree>
    <p:extLst>
      <p:ext uri="{BB962C8B-B14F-4D97-AF65-F5344CB8AC3E}">
        <p14:creationId xmlns:p14="http://schemas.microsoft.com/office/powerpoint/2010/main" val="310633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0E8F-C617-41C4-8BC9-C614E38483C4}"/>
              </a:ext>
            </a:extLst>
          </p:cNvPr>
          <p:cNvSpPr>
            <a:spLocks noGrp="1"/>
          </p:cNvSpPr>
          <p:nvPr>
            <p:ph type="title"/>
          </p:nvPr>
        </p:nvSpPr>
        <p:spPr>
          <a:xfrm>
            <a:off x="446846" y="151832"/>
            <a:ext cx="8521492" cy="498610"/>
          </a:xfrm>
        </p:spPr>
        <p:txBody>
          <a:bodyPr/>
          <a:lstStyle/>
          <a:p>
            <a:r>
              <a:rPr lang="en-US" dirty="0"/>
              <a:t>Active Alarms Sync (TPS or ESVT only)</a:t>
            </a:r>
          </a:p>
        </p:txBody>
      </p:sp>
      <p:sp>
        <p:nvSpPr>
          <p:cNvPr id="4" name="Content Placeholder 3">
            <a:extLst>
              <a:ext uri="{FF2B5EF4-FFF2-40B4-BE49-F238E27FC236}">
                <a16:creationId xmlns:a16="http://schemas.microsoft.com/office/drawing/2014/main" id="{FB8B4CF3-8FF8-4CDA-9768-25D9C3B1048F}"/>
              </a:ext>
            </a:extLst>
          </p:cNvPr>
          <p:cNvSpPr>
            <a:spLocks noGrp="1"/>
          </p:cNvSpPr>
          <p:nvPr>
            <p:ph sz="quarter" idx="12"/>
          </p:nvPr>
        </p:nvSpPr>
        <p:spPr>
          <a:xfrm>
            <a:off x="304801" y="785788"/>
            <a:ext cx="8791922" cy="1553514"/>
          </a:xfrm>
        </p:spPr>
        <p:txBody>
          <a:bodyPr/>
          <a:lstStyle/>
          <a:p>
            <a:pPr marL="0" indent="0">
              <a:buNone/>
            </a:pPr>
            <a:r>
              <a:rPr lang="en-US" sz="2400" dirty="0"/>
              <a:t>Put Map files for each channel in </a:t>
            </a:r>
            <a:r>
              <a:rPr lang="en-US" sz="2400" b="1" dirty="0" err="1"/>
              <a:t>OpenAlarmsSyncConfigFile</a:t>
            </a:r>
            <a:r>
              <a:rPr lang="en-US" sz="2400" dirty="0"/>
              <a:t> folder (one file for channel with same name as the channel e.g. North.txt). Sample map files can be found in the latest patch\hotfix (likely there is no need to edit them).</a:t>
            </a:r>
          </a:p>
        </p:txBody>
      </p:sp>
      <p:grpSp>
        <p:nvGrpSpPr>
          <p:cNvPr id="7" name="Group 6">
            <a:extLst>
              <a:ext uri="{FF2B5EF4-FFF2-40B4-BE49-F238E27FC236}">
                <a16:creationId xmlns:a16="http://schemas.microsoft.com/office/drawing/2014/main" id="{D2ABF3B1-9223-4129-AFBE-CFBDD35BC70D}"/>
              </a:ext>
            </a:extLst>
          </p:cNvPr>
          <p:cNvGrpSpPr/>
          <p:nvPr/>
        </p:nvGrpSpPr>
        <p:grpSpPr>
          <a:xfrm rot="690968">
            <a:off x="5097237" y="2512575"/>
            <a:ext cx="3942959" cy="1452314"/>
            <a:chOff x="6631409" y="2113091"/>
            <a:chExt cx="2200799" cy="1981200"/>
          </a:xfrm>
        </p:grpSpPr>
        <p:grpSp>
          <p:nvGrpSpPr>
            <p:cNvPr id="10" name="Group 9">
              <a:extLst>
                <a:ext uri="{FF2B5EF4-FFF2-40B4-BE49-F238E27FC236}">
                  <a16:creationId xmlns:a16="http://schemas.microsoft.com/office/drawing/2014/main" id="{5B1E2B4F-27AF-4305-8F8A-DB1B13460ACE}"/>
                </a:ext>
              </a:extLst>
            </p:cNvPr>
            <p:cNvGrpSpPr/>
            <p:nvPr/>
          </p:nvGrpSpPr>
          <p:grpSpPr>
            <a:xfrm>
              <a:off x="6631409" y="2113091"/>
              <a:ext cx="2200799" cy="1981200"/>
              <a:chOff x="4636671" y="2286000"/>
              <a:chExt cx="2743201" cy="2895601"/>
            </a:xfrm>
          </p:grpSpPr>
          <p:grpSp>
            <p:nvGrpSpPr>
              <p:cNvPr id="13" name="Group 12">
                <a:extLst>
                  <a:ext uri="{FF2B5EF4-FFF2-40B4-BE49-F238E27FC236}">
                    <a16:creationId xmlns:a16="http://schemas.microsoft.com/office/drawing/2014/main" id="{0CF70250-9449-4862-9EB9-66A9812740F7}"/>
                  </a:ext>
                </a:extLst>
              </p:cNvPr>
              <p:cNvGrpSpPr/>
              <p:nvPr/>
            </p:nvGrpSpPr>
            <p:grpSpPr>
              <a:xfrm>
                <a:off x="4636671" y="2286000"/>
                <a:ext cx="2743201" cy="2895601"/>
                <a:chOff x="4636671" y="2286000"/>
                <a:chExt cx="2743201" cy="2895601"/>
              </a:xfrm>
            </p:grpSpPr>
            <p:pic>
              <p:nvPicPr>
                <p:cNvPr id="15" name="Picture 2">
                  <a:extLst>
                    <a:ext uri="{FF2B5EF4-FFF2-40B4-BE49-F238E27FC236}">
                      <a16:creationId xmlns:a16="http://schemas.microsoft.com/office/drawing/2014/main" id="{D409E122-762E-47C5-A991-9E4D4BF718A6}"/>
                    </a:ext>
                  </a:extLst>
                </p:cNvPr>
                <p:cNvPicPr>
                  <a:picLocks noChangeAspect="1" noChangeArrowheads="1"/>
                </p:cNvPicPr>
                <p:nvPr/>
              </p:nvPicPr>
              <p:blipFill>
                <a:blip r:embed="rId2" cstate="print"/>
                <a:srcRect/>
                <a:stretch>
                  <a:fillRect/>
                </a:stretch>
              </p:blipFill>
              <p:spPr bwMode="auto">
                <a:xfrm>
                  <a:off x="4636671" y="2414589"/>
                  <a:ext cx="2743201" cy="2767012"/>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6" name="Oval 15">
                  <a:extLst>
                    <a:ext uri="{FF2B5EF4-FFF2-40B4-BE49-F238E27FC236}">
                      <a16:creationId xmlns:a16="http://schemas.microsoft.com/office/drawing/2014/main" id="{758F3F42-3D6A-402A-A47E-2936B0F2F472}"/>
                    </a:ext>
                  </a:extLst>
                </p:cNvPr>
                <p:cNvSpPr/>
                <p:nvPr/>
              </p:nvSpPr>
              <p:spPr>
                <a:xfrm>
                  <a:off x="5627270" y="2286000"/>
                  <a:ext cx="228600" cy="228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ZoneTexte 30">
                <a:extLst>
                  <a:ext uri="{FF2B5EF4-FFF2-40B4-BE49-F238E27FC236}">
                    <a16:creationId xmlns:a16="http://schemas.microsoft.com/office/drawing/2014/main" id="{BDD81CA2-32E4-43E6-8665-0EE56D4DB14E}"/>
                  </a:ext>
                </a:extLst>
              </p:cNvPr>
              <p:cNvSpPr txBox="1"/>
              <p:nvPr/>
            </p:nvSpPr>
            <p:spPr>
              <a:xfrm rot="21177897">
                <a:off x="4671698" y="2413350"/>
                <a:ext cx="2687925" cy="1328081"/>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2000" b="1" dirty="0">
                    <a:solidFill>
                      <a:srgbClr val="2C2FD4"/>
                    </a:solidFill>
                    <a:latin typeface="Arial" panose="020B0604020202020204" pitchFamily="34" charset="0"/>
                    <a:cs typeface="Arial" panose="020B0604020202020204" pitchFamily="34" charset="0"/>
                  </a:rPr>
                  <a:t>Also create Map Files for each channel and put in </a:t>
                </a:r>
                <a:r>
                  <a:rPr lang="en-US" sz="2000" b="1" dirty="0" err="1">
                    <a:solidFill>
                      <a:srgbClr val="2C2FD4"/>
                    </a:solidFill>
                    <a:latin typeface="Arial" panose="020B0604020202020204" pitchFamily="34" charset="0"/>
                    <a:cs typeface="Arial" panose="020B0604020202020204" pitchFamily="34" charset="0"/>
                  </a:rPr>
                  <a:t>OpenAlarmsSyncConfigFiles</a:t>
                </a:r>
                <a:r>
                  <a:rPr lang="en-US" sz="2000" b="1" dirty="0">
                    <a:solidFill>
                      <a:srgbClr val="2C2FD4"/>
                    </a:solidFill>
                    <a:latin typeface="Arial" panose="020B0604020202020204" pitchFamily="34" charset="0"/>
                    <a:cs typeface="Arial" panose="020B0604020202020204" pitchFamily="34" charset="0"/>
                  </a:rPr>
                  <a:t> folder</a:t>
                </a:r>
              </a:p>
            </p:txBody>
          </p:sp>
        </p:grpSp>
        <p:pic>
          <p:nvPicPr>
            <p:cNvPr id="12" name="Picture 4" descr="C:\Users\e154578\AppData\Local\Temp\SNAGHTML265367b.PNG">
              <a:extLst>
                <a:ext uri="{FF2B5EF4-FFF2-40B4-BE49-F238E27FC236}">
                  <a16:creationId xmlns:a16="http://schemas.microsoft.com/office/drawing/2014/main" id="{FAFB3CC9-704A-4DA7-B826-912E005A2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3218" y="3552023"/>
              <a:ext cx="288988" cy="288988"/>
            </a:xfrm>
            <a:prstGeom prst="rect">
              <a:avLst/>
            </a:prstGeom>
            <a:no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pic>
        <p:nvPicPr>
          <p:cNvPr id="3" name="Picture 2">
            <a:extLst>
              <a:ext uri="{FF2B5EF4-FFF2-40B4-BE49-F238E27FC236}">
                <a16:creationId xmlns:a16="http://schemas.microsoft.com/office/drawing/2014/main" id="{6505D4CB-8233-4E9F-9961-222B0E6F69A2}"/>
              </a:ext>
            </a:extLst>
          </p:cNvPr>
          <p:cNvPicPr>
            <a:picLocks noChangeAspect="1"/>
          </p:cNvPicPr>
          <p:nvPr/>
        </p:nvPicPr>
        <p:blipFill>
          <a:blip r:embed="rId4"/>
          <a:stretch>
            <a:fillRect/>
          </a:stretch>
        </p:blipFill>
        <p:spPr>
          <a:xfrm>
            <a:off x="228600" y="2474648"/>
            <a:ext cx="3786173" cy="1944952"/>
          </a:xfrm>
          <a:prstGeom prst="rect">
            <a:avLst/>
          </a:prstGeom>
          <a:ln w="31750">
            <a:solidFill>
              <a:schemeClr val="tx1"/>
            </a:solidFill>
          </a:ln>
        </p:spPr>
      </p:pic>
      <p:sp>
        <p:nvSpPr>
          <p:cNvPr id="5" name="Rectangle 4">
            <a:extLst>
              <a:ext uri="{FF2B5EF4-FFF2-40B4-BE49-F238E27FC236}">
                <a16:creationId xmlns:a16="http://schemas.microsoft.com/office/drawing/2014/main" id="{845AB0CA-0B68-4300-A989-64275FE7273F}"/>
              </a:ext>
            </a:extLst>
          </p:cNvPr>
          <p:cNvSpPr/>
          <p:nvPr/>
        </p:nvSpPr>
        <p:spPr>
          <a:xfrm>
            <a:off x="620980" y="4343865"/>
            <a:ext cx="8279179" cy="2431435"/>
          </a:xfrm>
          <a:prstGeom prst="rect">
            <a:avLst/>
          </a:prstGeom>
        </p:spPr>
        <p:txBody>
          <a:bodyPr wrap="square">
            <a:spAutoFit/>
          </a:bodyPr>
          <a:lstStyle/>
          <a:p>
            <a:r>
              <a:rPr lang="en-US" dirty="0"/>
              <a:t>#</a:t>
            </a:r>
            <a:r>
              <a:rPr lang="en-US" dirty="0" err="1"/>
              <a:t>Tag,Condition,PriorityParameter,Flagparameter</a:t>
            </a:r>
            <a:endParaRPr lang="en-US" dirty="0"/>
          </a:p>
          <a:p>
            <a:r>
              <a:rPr lang="en-US" b="1" dirty="0"/>
              <a:t>ESVT:</a:t>
            </a:r>
          </a:p>
          <a:p>
            <a:r>
              <a:rPr lang="en-US" sz="1600" dirty="0"/>
              <a:t>,OFFNORM,OFFNRMPR,OFFNRMFL,PTINAL,HIGHAL/ENUM,HIGHALPR/ENUM</a:t>
            </a:r>
          </a:p>
          <a:p>
            <a:r>
              <a:rPr lang="en-US" sz="1600" dirty="0"/>
              <a:t>,UNREASBL,UNREASPR,UNREASFL,PTINAL,HIGHAL/ENUM,HIGHALPR/ENUM</a:t>
            </a:r>
          </a:p>
          <a:p>
            <a:r>
              <a:rPr lang="en-US" b="1" dirty="0"/>
              <a:t>TPS:</a:t>
            </a:r>
          </a:p>
          <a:p>
            <a:r>
              <a:rPr lang="en-US" sz="1600" dirty="0"/>
              <a:t>,OFFNORM,OFFNRMFL,OFFNRMPR</a:t>
            </a:r>
          </a:p>
          <a:p>
            <a:r>
              <a:rPr lang="en-US" sz="1600" dirty="0"/>
              <a:t>,UNREASBL,UNREASFL,UNREASPR</a:t>
            </a:r>
          </a:p>
          <a:p>
            <a:endParaRPr lang="en-US" sz="1600" dirty="0"/>
          </a:p>
        </p:txBody>
      </p:sp>
    </p:spTree>
    <p:extLst>
      <p:ext uri="{BB962C8B-B14F-4D97-AF65-F5344CB8AC3E}">
        <p14:creationId xmlns:p14="http://schemas.microsoft.com/office/powerpoint/2010/main" val="3121673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Active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1688068"/>
          </a:xfrm>
        </p:spPr>
        <p:txBody>
          <a:bodyPr/>
          <a:lstStyle/>
          <a:p>
            <a:pPr marL="0" indent="0">
              <a:buNone/>
            </a:pPr>
            <a:r>
              <a:rPr lang="en-US" dirty="0">
                <a:solidFill>
                  <a:srgbClr val="00B0F0"/>
                </a:solidFill>
              </a:rPr>
              <a:t>Step: (ActiveSync utility map files) </a:t>
            </a:r>
            <a:r>
              <a:rPr lang="en-US" dirty="0"/>
              <a:t>Look at file generated by Active Sync</a:t>
            </a:r>
          </a:p>
          <a:p>
            <a:pPr marL="0" indent="0">
              <a:buNone/>
            </a:pPr>
            <a:r>
              <a:rPr lang="en-US" dirty="0"/>
              <a:t>OPC parameter reads on the right below should be there…</a:t>
            </a:r>
          </a:p>
          <a:p>
            <a:pPr marL="0" indent="0">
              <a:buNone/>
            </a:pPr>
            <a:r>
              <a:rPr lang="en-US" dirty="0"/>
              <a:t>If not …Make sure map files are defined properly!</a:t>
            </a:r>
          </a:p>
          <a:p>
            <a:pPr marL="0" indent="0">
              <a:buNone/>
            </a:pPr>
            <a:endParaRPr lang="en-US" dirty="0"/>
          </a:p>
          <a:p>
            <a:endParaRPr lang="en-US" dirty="0"/>
          </a:p>
          <a:p>
            <a:endParaRPr lang="en-US" dirty="0"/>
          </a:p>
          <a:p>
            <a:pPr marL="0" indent="0">
              <a:buNone/>
            </a:pPr>
            <a:endParaRPr lang="en-US" sz="1600" dirty="0"/>
          </a:p>
          <a:p>
            <a:endParaRPr lang="en-US" dirty="0"/>
          </a:p>
        </p:txBody>
      </p:sp>
      <p:pic>
        <p:nvPicPr>
          <p:cNvPr id="6" name="Picture 5">
            <a:extLst>
              <a:ext uri="{FF2B5EF4-FFF2-40B4-BE49-F238E27FC236}">
                <a16:creationId xmlns:a16="http://schemas.microsoft.com/office/drawing/2014/main" id="{472DA168-227A-4370-8579-1D840C51EAEF}"/>
              </a:ext>
            </a:extLst>
          </p:cNvPr>
          <p:cNvPicPr>
            <a:picLocks noChangeAspect="1"/>
          </p:cNvPicPr>
          <p:nvPr/>
        </p:nvPicPr>
        <p:blipFill>
          <a:blip r:embed="rId3"/>
          <a:stretch>
            <a:fillRect/>
          </a:stretch>
        </p:blipFill>
        <p:spPr>
          <a:xfrm>
            <a:off x="19878" y="4393575"/>
            <a:ext cx="9144000" cy="1154357"/>
          </a:xfrm>
          <a:prstGeom prst="rect">
            <a:avLst/>
          </a:prstGeom>
          <a:ln w="28575">
            <a:solidFill>
              <a:schemeClr val="accent3"/>
            </a:solidFill>
          </a:ln>
        </p:spPr>
      </p:pic>
      <p:sp>
        <p:nvSpPr>
          <p:cNvPr id="2" name="Oval 1">
            <a:extLst>
              <a:ext uri="{FF2B5EF4-FFF2-40B4-BE49-F238E27FC236}">
                <a16:creationId xmlns:a16="http://schemas.microsoft.com/office/drawing/2014/main" id="{5B890A08-2E0E-4AF7-BF95-154019E7BB51}"/>
              </a:ext>
            </a:extLst>
          </p:cNvPr>
          <p:cNvSpPr/>
          <p:nvPr/>
        </p:nvSpPr>
        <p:spPr>
          <a:xfrm>
            <a:off x="4419600" y="4259157"/>
            <a:ext cx="4953000" cy="1608243"/>
          </a:xfrm>
          <a:prstGeom prst="ellipse">
            <a:avLst/>
          </a:prstGeom>
          <a:noFill/>
          <a:ln w="25400">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Tree>
    <p:extLst>
      <p:ext uri="{BB962C8B-B14F-4D97-AF65-F5344CB8AC3E}">
        <p14:creationId xmlns:p14="http://schemas.microsoft.com/office/powerpoint/2010/main" val="1232087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8945-6F4B-4F98-92B3-474AABAE6D28}"/>
              </a:ext>
            </a:extLst>
          </p:cNvPr>
          <p:cNvSpPr>
            <a:spLocks noGrp="1"/>
          </p:cNvSpPr>
          <p:nvPr>
            <p:ph type="title"/>
          </p:nvPr>
        </p:nvSpPr>
        <p:spPr/>
        <p:txBody>
          <a:bodyPr/>
          <a:lstStyle/>
          <a:p>
            <a:r>
              <a:rPr lang="en-US" dirty="0"/>
              <a:t>OPC settings confusions…</a:t>
            </a:r>
          </a:p>
        </p:txBody>
      </p:sp>
      <p:pic>
        <p:nvPicPr>
          <p:cNvPr id="4" name="Picture 3">
            <a:extLst>
              <a:ext uri="{FF2B5EF4-FFF2-40B4-BE49-F238E27FC236}">
                <a16:creationId xmlns:a16="http://schemas.microsoft.com/office/drawing/2014/main" id="{B38E5901-391E-427C-A7E8-3A52407535DE}"/>
              </a:ext>
            </a:extLst>
          </p:cNvPr>
          <p:cNvPicPr>
            <a:picLocks noChangeAspect="1"/>
          </p:cNvPicPr>
          <p:nvPr/>
        </p:nvPicPr>
        <p:blipFill>
          <a:blip r:embed="rId2"/>
          <a:stretch>
            <a:fillRect/>
          </a:stretch>
        </p:blipFill>
        <p:spPr>
          <a:xfrm>
            <a:off x="2286000" y="4876800"/>
            <a:ext cx="3154953" cy="1394581"/>
          </a:xfrm>
          <a:prstGeom prst="rect">
            <a:avLst/>
          </a:prstGeom>
        </p:spPr>
      </p:pic>
      <p:sp>
        <p:nvSpPr>
          <p:cNvPr id="6" name="TextBox 5">
            <a:extLst>
              <a:ext uri="{FF2B5EF4-FFF2-40B4-BE49-F238E27FC236}">
                <a16:creationId xmlns:a16="http://schemas.microsoft.com/office/drawing/2014/main" id="{25678297-C7D5-4C3C-B052-80870C3D987B}"/>
              </a:ext>
            </a:extLst>
          </p:cNvPr>
          <p:cNvSpPr txBox="1"/>
          <p:nvPr/>
        </p:nvSpPr>
        <p:spPr>
          <a:xfrm>
            <a:off x="381000" y="815219"/>
            <a:ext cx="7892502" cy="4154984"/>
          </a:xfrm>
          <a:prstGeom prst="rect">
            <a:avLst/>
          </a:prstGeom>
          <a:noFill/>
        </p:spPr>
        <p:txBody>
          <a:bodyPr wrap="square">
            <a:spAutoFit/>
          </a:bodyPr>
          <a:lstStyle/>
          <a:p>
            <a:pPr marL="0" indent="0">
              <a:buNone/>
            </a:pPr>
            <a:r>
              <a:rPr lang="en-US" dirty="0">
                <a:solidFill>
                  <a:schemeClr val="bg2"/>
                </a:solidFill>
              </a:rPr>
              <a:t>Generally “Pass DSA alarms and messages” is NOT selected so this is GOOD…</a:t>
            </a:r>
          </a:p>
          <a:p>
            <a:pPr marL="342900" indent="-342900">
              <a:buFontTx/>
              <a:buChar char="-"/>
            </a:pPr>
            <a:r>
              <a:rPr lang="en-US" dirty="0">
                <a:solidFill>
                  <a:schemeClr val="bg2"/>
                </a:solidFill>
              </a:rPr>
              <a:t>Active Sync Utility will get correct alarms</a:t>
            </a:r>
          </a:p>
          <a:p>
            <a:pPr marL="342900" indent="-342900">
              <a:buFontTx/>
              <a:buChar char="-"/>
            </a:pPr>
            <a:r>
              <a:rPr lang="en-US" dirty="0">
                <a:solidFill>
                  <a:schemeClr val="bg2"/>
                </a:solidFill>
              </a:rPr>
              <a:t>There is no need to select areas in Active Sync OPC channel</a:t>
            </a:r>
          </a:p>
          <a:p>
            <a:endParaRPr lang="en-US" dirty="0">
              <a:solidFill>
                <a:schemeClr val="bg2"/>
              </a:solidFill>
            </a:endParaRPr>
          </a:p>
          <a:p>
            <a:r>
              <a:rPr lang="en-US" dirty="0">
                <a:solidFill>
                  <a:schemeClr val="bg2"/>
                </a:solidFill>
              </a:rPr>
              <a:t>But if not…</a:t>
            </a:r>
          </a:p>
          <a:p>
            <a:pPr marL="342900" indent="-342900">
              <a:buFontTx/>
              <a:buChar char="-"/>
            </a:pPr>
            <a:r>
              <a:rPr lang="en-US" dirty="0">
                <a:solidFill>
                  <a:schemeClr val="bg2"/>
                </a:solidFill>
              </a:rPr>
              <a:t>Active Sync Utility will also get DSA alarms (so will not be correct)</a:t>
            </a:r>
          </a:p>
          <a:p>
            <a:pPr marL="342900" indent="-342900">
              <a:buFontTx/>
              <a:buChar char="-"/>
            </a:pPr>
            <a:r>
              <a:rPr lang="en-US" dirty="0">
                <a:solidFill>
                  <a:schemeClr val="bg2"/>
                </a:solidFill>
              </a:rPr>
              <a:t>You need to select Areas in Active Sync OPC channel (which is a problem if one asset contains tags from multiple servers) </a:t>
            </a:r>
          </a:p>
        </p:txBody>
      </p:sp>
    </p:spTree>
    <p:extLst>
      <p:ext uri="{BB962C8B-B14F-4D97-AF65-F5344CB8AC3E}">
        <p14:creationId xmlns:p14="http://schemas.microsoft.com/office/powerpoint/2010/main" val="665960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Collector</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2297668"/>
          </a:xfrm>
        </p:spPr>
        <p:txBody>
          <a:bodyPr/>
          <a:lstStyle/>
          <a:p>
            <a:pPr marL="0" indent="0">
              <a:buNone/>
            </a:pPr>
            <a:r>
              <a:rPr lang="en-US" dirty="0"/>
              <a:t>Note: for </a:t>
            </a:r>
            <a:r>
              <a:rPr lang="en-US" dirty="0">
                <a:solidFill>
                  <a:srgbClr val="00B0F0"/>
                </a:solidFill>
              </a:rPr>
              <a:t>Active Sync pure Experion</a:t>
            </a:r>
            <a:r>
              <a:rPr lang="en-US" dirty="0"/>
              <a:t> use OPC channel and you can select the following categories…</a:t>
            </a:r>
          </a:p>
          <a:p>
            <a:pPr>
              <a:buFontTx/>
              <a:buChar char="-"/>
            </a:pPr>
            <a:r>
              <a:rPr lang="en-US" dirty="0">
                <a:solidFill>
                  <a:srgbClr val="FF0000"/>
                </a:solidFill>
              </a:rPr>
              <a:t>Process Alarm &lt;- select this one</a:t>
            </a:r>
          </a:p>
          <a:p>
            <a:pPr>
              <a:buFontTx/>
              <a:buChar char="-"/>
            </a:pPr>
            <a:r>
              <a:rPr lang="en-US" dirty="0"/>
              <a:t>Process Event &lt;- no rules\metrics</a:t>
            </a:r>
          </a:p>
          <a:p>
            <a:pPr>
              <a:buFontTx/>
              <a:buChar char="-"/>
            </a:pPr>
            <a:r>
              <a:rPr lang="en-US" dirty="0"/>
              <a:t>System Alarm &lt;- not very good rules</a:t>
            </a:r>
          </a:p>
          <a:p>
            <a:pPr marL="0" indent="0">
              <a:buNone/>
            </a:pPr>
            <a:endParaRPr lang="en-US" dirty="0"/>
          </a:p>
          <a:p>
            <a:pPr marL="0" indent="0">
              <a:buNone/>
            </a:pPr>
            <a:endParaRPr lang="en-US" dirty="0"/>
          </a:p>
          <a:p>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3A100C3A-627F-4472-8B2C-B1E20EF0E86C}"/>
              </a:ext>
            </a:extLst>
          </p:cNvPr>
          <p:cNvPicPr>
            <a:picLocks noChangeAspect="1"/>
          </p:cNvPicPr>
          <p:nvPr/>
        </p:nvPicPr>
        <p:blipFill>
          <a:blip r:embed="rId3"/>
          <a:stretch>
            <a:fillRect/>
          </a:stretch>
        </p:blipFill>
        <p:spPr>
          <a:xfrm>
            <a:off x="4597400" y="3276600"/>
            <a:ext cx="3657600" cy="3244549"/>
          </a:xfrm>
          <a:prstGeom prst="rect">
            <a:avLst/>
          </a:prstGeom>
          <a:noFill/>
          <a:ln w="31750">
            <a:solidFill>
              <a:schemeClr val="tx1"/>
            </a:solidFill>
            <a:miter lim="800000"/>
            <a:headEnd/>
            <a:tailEnd/>
          </a:ln>
        </p:spPr>
      </p:pic>
      <p:pic>
        <p:nvPicPr>
          <p:cNvPr id="6" name="Picture 5">
            <a:extLst>
              <a:ext uri="{FF2B5EF4-FFF2-40B4-BE49-F238E27FC236}">
                <a16:creationId xmlns:a16="http://schemas.microsoft.com/office/drawing/2014/main" id="{4EB2B1BB-9B54-4E9D-9F45-D0E897344536}"/>
              </a:ext>
            </a:extLst>
          </p:cNvPr>
          <p:cNvPicPr>
            <a:picLocks noChangeAspect="1"/>
          </p:cNvPicPr>
          <p:nvPr/>
        </p:nvPicPr>
        <p:blipFill>
          <a:blip r:embed="rId4"/>
          <a:stretch>
            <a:fillRect/>
          </a:stretch>
        </p:blipFill>
        <p:spPr>
          <a:xfrm>
            <a:off x="279400" y="3202049"/>
            <a:ext cx="1219200" cy="3393649"/>
          </a:xfrm>
          <a:prstGeom prst="rect">
            <a:avLst/>
          </a:prstGeom>
        </p:spPr>
      </p:pic>
    </p:spTree>
    <p:extLst>
      <p:ext uri="{BB962C8B-B14F-4D97-AF65-F5344CB8AC3E}">
        <p14:creationId xmlns:p14="http://schemas.microsoft.com/office/powerpoint/2010/main" val="312344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7" y="2584966"/>
            <a:ext cx="8876783" cy="1688068"/>
          </a:xfrm>
        </p:spPr>
        <p:txBody>
          <a:bodyPr/>
          <a:lstStyle/>
          <a:p>
            <a:pPr marL="0" indent="0" algn="ctr">
              <a:buNone/>
            </a:pPr>
            <a:r>
              <a:rPr lang="en-US" sz="4000" b="1" dirty="0"/>
              <a:t>Windows Tasks</a:t>
            </a:r>
          </a:p>
        </p:txBody>
      </p:sp>
    </p:spTree>
    <p:extLst>
      <p:ext uri="{BB962C8B-B14F-4D97-AF65-F5344CB8AC3E}">
        <p14:creationId xmlns:p14="http://schemas.microsoft.com/office/powerpoint/2010/main" val="3032253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0E8F-C617-41C4-8BC9-C614E38483C4}"/>
              </a:ext>
            </a:extLst>
          </p:cNvPr>
          <p:cNvSpPr>
            <a:spLocks noGrp="1"/>
          </p:cNvSpPr>
          <p:nvPr>
            <p:ph type="title"/>
          </p:nvPr>
        </p:nvSpPr>
        <p:spPr>
          <a:xfrm>
            <a:off x="548641" y="76200"/>
            <a:ext cx="7986568" cy="498610"/>
          </a:xfrm>
        </p:spPr>
        <p:txBody>
          <a:bodyPr/>
          <a:lstStyle/>
          <a:p>
            <a:r>
              <a:rPr lang="en-US" dirty="0"/>
              <a:t>Windows schedules</a:t>
            </a:r>
          </a:p>
        </p:txBody>
      </p:sp>
      <p:sp>
        <p:nvSpPr>
          <p:cNvPr id="4" name="Content Placeholder 3">
            <a:extLst>
              <a:ext uri="{FF2B5EF4-FFF2-40B4-BE49-F238E27FC236}">
                <a16:creationId xmlns:a16="http://schemas.microsoft.com/office/drawing/2014/main" id="{47C071AE-8670-437E-9E1E-94987F0B9062}"/>
              </a:ext>
            </a:extLst>
          </p:cNvPr>
          <p:cNvSpPr>
            <a:spLocks noGrp="1"/>
          </p:cNvSpPr>
          <p:nvPr>
            <p:ph sz="quarter" idx="12"/>
          </p:nvPr>
        </p:nvSpPr>
        <p:spPr>
          <a:xfrm>
            <a:off x="548641" y="990600"/>
            <a:ext cx="8085560" cy="5227320"/>
          </a:xfrm>
        </p:spPr>
        <p:txBody>
          <a:bodyPr/>
          <a:lstStyle/>
          <a:p>
            <a:pPr marL="0" indent="0">
              <a:buNone/>
            </a:pPr>
            <a:r>
              <a:rPr lang="en-US" dirty="0"/>
              <a:t>The following needs to be scheduled in Windows Tasks</a:t>
            </a:r>
          </a:p>
          <a:p>
            <a:pPr marL="514350" indent="-514350">
              <a:buAutoNum type="arabicPeriod"/>
            </a:pPr>
            <a:r>
              <a:rPr lang="en-US" dirty="0"/>
              <a:t>Tag List Generation e.g. monthly</a:t>
            </a:r>
          </a:p>
          <a:p>
            <a:pPr marL="0" indent="0">
              <a:buNone/>
            </a:pPr>
            <a:r>
              <a:rPr lang="en-US" sz="1800" dirty="0"/>
              <a:t>"C:\Program Files (x86)\Honeywell\DynAMo\Utilities\Tag List Generator\Honeywell.DynAMo.Tools.TagParamListGenerator.exe" /</a:t>
            </a:r>
            <a:r>
              <a:rPr lang="en-US" sz="1800" dirty="0" err="1"/>
              <a:t>ConfigFile</a:t>
            </a:r>
            <a:r>
              <a:rPr lang="en-US" sz="1800" dirty="0"/>
              <a:t> "C:\_DynAMo_Data\TagListGen\TagGenConfigHierarchyOFFinAPP.xml" /Schedule </a:t>
            </a:r>
          </a:p>
          <a:p>
            <a:pPr marL="514350" indent="-514350">
              <a:buFont typeface="+mj-lt"/>
              <a:buAutoNum type="arabicPeriod" startAt="2"/>
            </a:pPr>
            <a:r>
              <a:rPr lang="en-US" dirty="0"/>
              <a:t>Active Alarm Sync (for TPS\ESVT when Active Sync Utility used)  e.g. every 6 hours</a:t>
            </a:r>
          </a:p>
          <a:p>
            <a:pPr marL="0" indent="0">
              <a:buNone/>
            </a:pPr>
            <a:r>
              <a:rPr lang="en-US" sz="1800" dirty="0"/>
              <a:t>"C:\Program Files (x86)\Honeywell\DynAMo\Utilities\Tag List Generator\Honeywell.DynAMo.MnR.OpenAlarmSync.exe" </a:t>
            </a:r>
            <a:r>
              <a:rPr lang="en-US" sz="1800" dirty="0" err="1"/>
              <a:t>MyChannel</a:t>
            </a:r>
            <a:endParaRPr lang="en-US" sz="1800" dirty="0"/>
          </a:p>
        </p:txBody>
      </p:sp>
      <p:sp>
        <p:nvSpPr>
          <p:cNvPr id="6" name="TextBox 5">
            <a:extLst>
              <a:ext uri="{FF2B5EF4-FFF2-40B4-BE49-F238E27FC236}">
                <a16:creationId xmlns:a16="http://schemas.microsoft.com/office/drawing/2014/main" id="{53172867-407E-49AE-B324-C2BF273F91D7}"/>
              </a:ext>
            </a:extLst>
          </p:cNvPr>
          <p:cNvSpPr txBox="1"/>
          <p:nvPr/>
        </p:nvSpPr>
        <p:spPr>
          <a:xfrm>
            <a:off x="380999" y="838200"/>
            <a:ext cx="8684283" cy="523220"/>
          </a:xfrm>
          <a:prstGeom prst="rect">
            <a:avLst/>
          </a:prstGeom>
        </p:spPr>
        <p:txBody>
          <a:bodyPr wrap="square" rtlCol="0">
            <a:spAutoFit/>
          </a:bodyPr>
          <a:lstStyle/>
          <a:p>
            <a:endParaRPr lang="en-US" sz="2800" kern="0" dirty="0">
              <a:solidFill>
                <a:schemeClr val="tx2"/>
              </a:solidFill>
              <a:latin typeface="+mj-lt"/>
              <a:ea typeface="+mj-ea"/>
              <a:cs typeface="+mj-cs"/>
            </a:endParaRPr>
          </a:p>
        </p:txBody>
      </p:sp>
      <p:pic>
        <p:nvPicPr>
          <p:cNvPr id="14" name="Picture 4" descr="C:\Users\E154578\AppData\Local\Temp\SNAGHTML6bc36eb.PNG">
            <a:extLst>
              <a:ext uri="{FF2B5EF4-FFF2-40B4-BE49-F238E27FC236}">
                <a16:creationId xmlns:a16="http://schemas.microsoft.com/office/drawing/2014/main" id="{98459623-7ECF-4A79-9F71-1A7B43316FFD}"/>
              </a:ext>
            </a:extLst>
          </p:cNvPr>
          <p:cNvPicPr>
            <a:picLocks noChangeAspect="1" noChangeArrowheads="1"/>
          </p:cNvPicPr>
          <p:nvPr/>
        </p:nvPicPr>
        <p:blipFill>
          <a:blip r:embed="rId2" cstate="print"/>
          <a:srcRect/>
          <a:stretch>
            <a:fillRect/>
          </a:stretch>
        </p:blipFill>
        <p:spPr bwMode="auto">
          <a:xfrm>
            <a:off x="75122" y="-76785"/>
            <a:ext cx="610678" cy="477922"/>
          </a:xfrm>
          <a:prstGeom prst="rect">
            <a:avLst/>
          </a:prstGeom>
          <a:noFill/>
        </p:spPr>
      </p:pic>
    </p:spTree>
    <p:extLst>
      <p:ext uri="{BB962C8B-B14F-4D97-AF65-F5344CB8AC3E}">
        <p14:creationId xmlns:p14="http://schemas.microsoft.com/office/powerpoint/2010/main" val="2537297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0E8F-C617-41C4-8BC9-C614E38483C4}"/>
              </a:ext>
            </a:extLst>
          </p:cNvPr>
          <p:cNvSpPr>
            <a:spLocks noGrp="1"/>
          </p:cNvSpPr>
          <p:nvPr>
            <p:ph type="title"/>
          </p:nvPr>
        </p:nvSpPr>
        <p:spPr/>
        <p:txBody>
          <a:bodyPr/>
          <a:lstStyle/>
          <a:p>
            <a:r>
              <a:rPr lang="en-US" dirty="0"/>
              <a:t>Windows Tasks</a:t>
            </a:r>
          </a:p>
        </p:txBody>
      </p:sp>
      <p:sp>
        <p:nvSpPr>
          <p:cNvPr id="6" name="TextBox 5">
            <a:extLst>
              <a:ext uri="{FF2B5EF4-FFF2-40B4-BE49-F238E27FC236}">
                <a16:creationId xmlns:a16="http://schemas.microsoft.com/office/drawing/2014/main" id="{53172867-407E-49AE-B324-C2BF273F91D7}"/>
              </a:ext>
            </a:extLst>
          </p:cNvPr>
          <p:cNvSpPr txBox="1"/>
          <p:nvPr/>
        </p:nvSpPr>
        <p:spPr>
          <a:xfrm>
            <a:off x="380999" y="838200"/>
            <a:ext cx="8684283" cy="523220"/>
          </a:xfrm>
          <a:prstGeom prst="rect">
            <a:avLst/>
          </a:prstGeom>
        </p:spPr>
        <p:txBody>
          <a:bodyPr wrap="square" rtlCol="0">
            <a:spAutoFit/>
          </a:bodyPr>
          <a:lstStyle/>
          <a:p>
            <a:endParaRPr lang="en-US" sz="2800" kern="0" dirty="0">
              <a:solidFill>
                <a:schemeClr val="tx2"/>
              </a:solidFill>
              <a:latin typeface="+mj-lt"/>
              <a:ea typeface="+mj-ea"/>
              <a:cs typeface="+mj-cs"/>
            </a:endParaRPr>
          </a:p>
        </p:txBody>
      </p:sp>
      <p:sp>
        <p:nvSpPr>
          <p:cNvPr id="7" name="TextBox 6">
            <a:extLst>
              <a:ext uri="{FF2B5EF4-FFF2-40B4-BE49-F238E27FC236}">
                <a16:creationId xmlns:a16="http://schemas.microsoft.com/office/drawing/2014/main" id="{0A2E58C7-1BA5-4AA1-8843-C68DC2C8491F}"/>
              </a:ext>
            </a:extLst>
          </p:cNvPr>
          <p:cNvSpPr txBox="1"/>
          <p:nvPr/>
        </p:nvSpPr>
        <p:spPr>
          <a:xfrm>
            <a:off x="369162" y="857393"/>
            <a:ext cx="8458200" cy="1200329"/>
          </a:xfrm>
          <a:prstGeom prst="rect">
            <a:avLst/>
          </a:prstGeom>
        </p:spPr>
        <p:txBody>
          <a:bodyPr wrap="square" rtlCol="0">
            <a:spAutoFit/>
          </a:bodyPr>
          <a:lstStyle/>
          <a:p>
            <a:r>
              <a:rPr lang="en-US" kern="0" dirty="0">
                <a:solidFill>
                  <a:schemeClr val="bg2"/>
                </a:solidFill>
                <a:latin typeface="Arial" panose="020B0604020202020204" pitchFamily="34" charset="0"/>
                <a:ea typeface="+mj-ea"/>
                <a:cs typeface="Arial" panose="020B0604020202020204" pitchFamily="34" charset="0"/>
              </a:rPr>
              <a:t>Both Active Alarm Sync (TPS\ESVT) and Tag List Generator need to be scheduled. Ensure windows tasks are set to </a:t>
            </a:r>
            <a:r>
              <a:rPr lang="en-US" b="1" kern="0" dirty="0">
                <a:solidFill>
                  <a:schemeClr val="bg2"/>
                </a:solidFill>
                <a:latin typeface="Arial" panose="020B0604020202020204" pitchFamily="34" charset="0"/>
                <a:ea typeface="+mj-ea"/>
                <a:cs typeface="Arial" panose="020B0604020202020204" pitchFamily="34" charset="0"/>
              </a:rPr>
              <a:t>Run whether user is logged on or not</a:t>
            </a:r>
          </a:p>
        </p:txBody>
      </p:sp>
      <p:pic>
        <p:nvPicPr>
          <p:cNvPr id="5" name="Picture 4">
            <a:extLst>
              <a:ext uri="{FF2B5EF4-FFF2-40B4-BE49-F238E27FC236}">
                <a16:creationId xmlns:a16="http://schemas.microsoft.com/office/drawing/2014/main" id="{9192C41A-4F81-4B68-B355-5FE43BC036C3}"/>
              </a:ext>
            </a:extLst>
          </p:cNvPr>
          <p:cNvPicPr>
            <a:picLocks noChangeAspect="1"/>
          </p:cNvPicPr>
          <p:nvPr/>
        </p:nvPicPr>
        <p:blipFill>
          <a:blip r:embed="rId2"/>
          <a:stretch>
            <a:fillRect/>
          </a:stretch>
        </p:blipFill>
        <p:spPr>
          <a:xfrm>
            <a:off x="1295400" y="2389653"/>
            <a:ext cx="5387117" cy="4091481"/>
          </a:xfrm>
          <a:prstGeom prst="rect">
            <a:avLst/>
          </a:prstGeom>
          <a:ln w="31750">
            <a:solidFill>
              <a:schemeClr val="tx1"/>
            </a:solidFill>
          </a:ln>
        </p:spPr>
      </p:pic>
      <p:pic>
        <p:nvPicPr>
          <p:cNvPr id="8" name="Picture 7">
            <a:extLst>
              <a:ext uri="{FF2B5EF4-FFF2-40B4-BE49-F238E27FC236}">
                <a16:creationId xmlns:a16="http://schemas.microsoft.com/office/drawing/2014/main" id="{D9F96597-8853-4B77-9D7C-79FC82EF086A}"/>
              </a:ext>
            </a:extLst>
          </p:cNvPr>
          <p:cNvPicPr>
            <a:picLocks noChangeAspect="1"/>
          </p:cNvPicPr>
          <p:nvPr/>
        </p:nvPicPr>
        <p:blipFill>
          <a:blip r:embed="rId3"/>
          <a:stretch>
            <a:fillRect/>
          </a:stretch>
        </p:blipFill>
        <p:spPr>
          <a:xfrm>
            <a:off x="4876800" y="1970521"/>
            <a:ext cx="3748837" cy="4145985"/>
          </a:xfrm>
          <a:prstGeom prst="rect">
            <a:avLst/>
          </a:prstGeom>
          <a:ln w="31750">
            <a:solidFill>
              <a:schemeClr val="tx1"/>
            </a:solidFill>
          </a:ln>
        </p:spPr>
      </p:pic>
      <p:pic>
        <p:nvPicPr>
          <p:cNvPr id="9" name="Picture 4" descr="C:\Users\E154578\AppData\Local\Temp\SNAGHTML6bc36eb.PNG">
            <a:extLst>
              <a:ext uri="{FF2B5EF4-FFF2-40B4-BE49-F238E27FC236}">
                <a16:creationId xmlns:a16="http://schemas.microsoft.com/office/drawing/2014/main" id="{940C32C9-F9FB-4F93-8CFB-E4DAC3E9D8DC}"/>
              </a:ext>
            </a:extLst>
          </p:cNvPr>
          <p:cNvPicPr>
            <a:picLocks noChangeAspect="1" noChangeArrowheads="1"/>
          </p:cNvPicPr>
          <p:nvPr/>
        </p:nvPicPr>
        <p:blipFill>
          <a:blip r:embed="rId4" cstate="print"/>
          <a:srcRect/>
          <a:stretch>
            <a:fillRect/>
          </a:stretch>
        </p:blipFill>
        <p:spPr bwMode="auto">
          <a:xfrm>
            <a:off x="75122" y="-76785"/>
            <a:ext cx="610678" cy="477922"/>
          </a:xfrm>
          <a:prstGeom prst="rect">
            <a:avLst/>
          </a:prstGeom>
          <a:noFill/>
        </p:spPr>
      </p:pic>
    </p:spTree>
    <p:extLst>
      <p:ext uri="{BB962C8B-B14F-4D97-AF65-F5344CB8AC3E}">
        <p14:creationId xmlns:p14="http://schemas.microsoft.com/office/powerpoint/2010/main" val="132433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7" y="2584966"/>
            <a:ext cx="8876783" cy="1688068"/>
          </a:xfrm>
        </p:spPr>
        <p:txBody>
          <a:bodyPr/>
          <a:lstStyle/>
          <a:p>
            <a:pPr marL="0" indent="0" algn="ctr">
              <a:buNone/>
            </a:pPr>
            <a:r>
              <a:rPr lang="en-US" sz="4000" b="1" dirty="0"/>
              <a:t>Collector/Archiver</a:t>
            </a:r>
          </a:p>
        </p:txBody>
      </p:sp>
    </p:spTree>
    <p:extLst>
      <p:ext uri="{BB962C8B-B14F-4D97-AF65-F5344CB8AC3E}">
        <p14:creationId xmlns:p14="http://schemas.microsoft.com/office/powerpoint/2010/main" val="30891553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Collector</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3288268"/>
          </a:xfrm>
        </p:spPr>
        <p:txBody>
          <a:bodyPr/>
          <a:lstStyle/>
          <a:p>
            <a:pPr marL="0" indent="0">
              <a:buNone/>
            </a:pPr>
            <a:r>
              <a:rPr lang="en-US" dirty="0">
                <a:solidFill>
                  <a:srgbClr val="00B0F0"/>
                </a:solidFill>
              </a:rPr>
              <a:t>Step Windows Tasks \ Collector:</a:t>
            </a:r>
            <a:endParaRPr lang="en-US" dirty="0"/>
          </a:p>
          <a:p>
            <a:pPr marL="0" indent="0">
              <a:buNone/>
            </a:pPr>
            <a:r>
              <a:rPr lang="en-US" dirty="0"/>
              <a:t>“Synchronize Now”</a:t>
            </a:r>
          </a:p>
          <a:p>
            <a:pPr marL="0" indent="0">
              <a:buNone/>
            </a:pPr>
            <a:r>
              <a:rPr lang="en-US" dirty="0"/>
              <a:t>(can Run Windows task for Active Sync)</a:t>
            </a:r>
          </a:p>
          <a:p>
            <a:pPr marL="0" indent="0">
              <a:buNone/>
            </a:pPr>
            <a:endParaRPr lang="en-US" dirty="0"/>
          </a:p>
          <a:p>
            <a:pPr marL="0" indent="0">
              <a:buNone/>
            </a:pPr>
            <a:r>
              <a:rPr lang="en-US" dirty="0"/>
              <a:t>Active Sync(file) Do not click twice… </a:t>
            </a:r>
          </a:p>
          <a:p>
            <a:pPr marL="0" indent="0">
              <a:buNone/>
            </a:pPr>
            <a:r>
              <a:rPr lang="en-US" dirty="0"/>
              <a:t>second empty run will overwrite first run</a:t>
            </a:r>
          </a:p>
          <a:p>
            <a:pPr marL="0" indent="0">
              <a:buNone/>
            </a:pPr>
            <a:endParaRPr lang="en-US" dirty="0"/>
          </a:p>
          <a:p>
            <a:pPr marL="0" indent="0">
              <a:buNone/>
            </a:pPr>
            <a:r>
              <a:rPr lang="en-US" dirty="0"/>
              <a:t>For Active Sync using Utility… put 999 days</a:t>
            </a:r>
          </a:p>
          <a:p>
            <a:pPr marL="0" indent="0">
              <a:buNone/>
            </a:pPr>
            <a:endParaRPr lang="en-US" dirty="0"/>
          </a:p>
          <a:p>
            <a:pPr marL="0" indent="0">
              <a:buNone/>
            </a:pPr>
            <a:endParaRPr lang="en-US" dirty="0"/>
          </a:p>
          <a:p>
            <a:endParaRPr lang="en-US" dirty="0"/>
          </a:p>
          <a:p>
            <a:pPr marL="0" indent="0">
              <a:buNone/>
            </a:pPr>
            <a:endParaRPr lang="en-US" sz="1600" dirty="0"/>
          </a:p>
          <a:p>
            <a:endParaRPr lang="en-US" dirty="0"/>
          </a:p>
        </p:txBody>
      </p:sp>
      <p:pic>
        <p:nvPicPr>
          <p:cNvPr id="3" name="Picture 2">
            <a:extLst>
              <a:ext uri="{FF2B5EF4-FFF2-40B4-BE49-F238E27FC236}">
                <a16:creationId xmlns:a16="http://schemas.microsoft.com/office/drawing/2014/main" id="{65F97B2B-8BDA-427D-9FA0-7876E89FD7CE}"/>
              </a:ext>
            </a:extLst>
          </p:cNvPr>
          <p:cNvPicPr>
            <a:picLocks noChangeAspect="1"/>
          </p:cNvPicPr>
          <p:nvPr/>
        </p:nvPicPr>
        <p:blipFill>
          <a:blip r:embed="rId3"/>
          <a:stretch>
            <a:fillRect/>
          </a:stretch>
        </p:blipFill>
        <p:spPr>
          <a:xfrm>
            <a:off x="1584946" y="4868757"/>
            <a:ext cx="6241321" cy="1539373"/>
          </a:xfrm>
          <a:prstGeom prst="rect">
            <a:avLst/>
          </a:prstGeom>
        </p:spPr>
      </p:pic>
      <p:sp>
        <p:nvSpPr>
          <p:cNvPr id="6" name="Oval 5">
            <a:extLst>
              <a:ext uri="{FF2B5EF4-FFF2-40B4-BE49-F238E27FC236}">
                <a16:creationId xmlns:a16="http://schemas.microsoft.com/office/drawing/2014/main" id="{5CC91B4F-D330-4F16-8747-643828F9FEA2}"/>
              </a:ext>
            </a:extLst>
          </p:cNvPr>
          <p:cNvSpPr/>
          <p:nvPr/>
        </p:nvSpPr>
        <p:spPr>
          <a:xfrm>
            <a:off x="5715000" y="5706957"/>
            <a:ext cx="2111267" cy="846243"/>
          </a:xfrm>
          <a:prstGeom prst="ellipse">
            <a:avLst/>
          </a:prstGeom>
          <a:noFill/>
          <a:ln w="25400">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
        <p:nvSpPr>
          <p:cNvPr id="8" name="Oval 7">
            <a:extLst>
              <a:ext uri="{FF2B5EF4-FFF2-40B4-BE49-F238E27FC236}">
                <a16:creationId xmlns:a16="http://schemas.microsoft.com/office/drawing/2014/main" id="{BC32E2B7-4467-4F19-B9BB-623663132450}"/>
              </a:ext>
            </a:extLst>
          </p:cNvPr>
          <p:cNvSpPr/>
          <p:nvPr/>
        </p:nvSpPr>
        <p:spPr>
          <a:xfrm>
            <a:off x="1607806" y="4809596"/>
            <a:ext cx="1806467" cy="270722"/>
          </a:xfrm>
          <a:prstGeom prst="ellipse">
            <a:avLst/>
          </a:prstGeom>
          <a:noFill/>
          <a:ln w="25400">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grpSp>
        <p:nvGrpSpPr>
          <p:cNvPr id="9" name="Group 8">
            <a:extLst>
              <a:ext uri="{FF2B5EF4-FFF2-40B4-BE49-F238E27FC236}">
                <a16:creationId xmlns:a16="http://schemas.microsoft.com/office/drawing/2014/main" id="{F3E2C97F-D5CB-43F4-9240-34A6BAD52DCD}"/>
              </a:ext>
            </a:extLst>
          </p:cNvPr>
          <p:cNvGrpSpPr/>
          <p:nvPr/>
        </p:nvGrpSpPr>
        <p:grpSpPr>
          <a:xfrm rot="2104547">
            <a:off x="5854893" y="2805747"/>
            <a:ext cx="3204530" cy="855107"/>
            <a:chOff x="4594144" y="2212641"/>
            <a:chExt cx="3457298" cy="2968960"/>
          </a:xfrm>
        </p:grpSpPr>
        <p:grpSp>
          <p:nvGrpSpPr>
            <p:cNvPr id="10" name="Group 9">
              <a:extLst>
                <a:ext uri="{FF2B5EF4-FFF2-40B4-BE49-F238E27FC236}">
                  <a16:creationId xmlns:a16="http://schemas.microsoft.com/office/drawing/2014/main" id="{DAE2033D-2A67-447B-A3D7-FE5C2857827D}"/>
                </a:ext>
              </a:extLst>
            </p:cNvPr>
            <p:cNvGrpSpPr/>
            <p:nvPr/>
          </p:nvGrpSpPr>
          <p:grpSpPr>
            <a:xfrm>
              <a:off x="4636671" y="2286000"/>
              <a:ext cx="2743201" cy="2895601"/>
              <a:chOff x="4636671" y="2286000"/>
              <a:chExt cx="2743201" cy="2895601"/>
            </a:xfrm>
          </p:grpSpPr>
          <p:pic>
            <p:nvPicPr>
              <p:cNvPr id="12" name="Picture 2">
                <a:extLst>
                  <a:ext uri="{FF2B5EF4-FFF2-40B4-BE49-F238E27FC236}">
                    <a16:creationId xmlns:a16="http://schemas.microsoft.com/office/drawing/2014/main" id="{7B179EA5-F149-4670-8EA3-394ACEB9C08F}"/>
                  </a:ext>
                </a:extLst>
              </p:cNvPr>
              <p:cNvPicPr>
                <a:picLocks noChangeAspect="1" noChangeArrowheads="1"/>
              </p:cNvPicPr>
              <p:nvPr/>
            </p:nvPicPr>
            <p:blipFill>
              <a:blip r:embed="rId4" cstate="print"/>
              <a:srcRect/>
              <a:stretch>
                <a:fillRect/>
              </a:stretch>
            </p:blipFill>
            <p:spPr bwMode="auto">
              <a:xfrm>
                <a:off x="4636671" y="2414589"/>
                <a:ext cx="2743201" cy="2767012"/>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3" name="Oval 12">
                <a:extLst>
                  <a:ext uri="{FF2B5EF4-FFF2-40B4-BE49-F238E27FC236}">
                    <a16:creationId xmlns:a16="http://schemas.microsoft.com/office/drawing/2014/main" id="{B52D44CC-81EA-40EE-AEB1-9CADE5ECD4C8}"/>
                  </a:ext>
                </a:extLst>
              </p:cNvPr>
              <p:cNvSpPr/>
              <p:nvPr/>
            </p:nvSpPr>
            <p:spPr>
              <a:xfrm>
                <a:off x="5627270" y="2286000"/>
                <a:ext cx="228600" cy="228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ZoneTexte 30">
              <a:extLst>
                <a:ext uri="{FF2B5EF4-FFF2-40B4-BE49-F238E27FC236}">
                  <a16:creationId xmlns:a16="http://schemas.microsoft.com/office/drawing/2014/main" id="{6DFD2F78-F365-4E7F-9FDE-42F750CDE030}"/>
                </a:ext>
              </a:extLst>
            </p:cNvPr>
            <p:cNvSpPr txBox="1"/>
            <p:nvPr/>
          </p:nvSpPr>
          <p:spPr>
            <a:xfrm rot="21177897">
              <a:off x="4594144" y="2212641"/>
              <a:ext cx="3457298" cy="2885250"/>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1600" b="1" u="sng" dirty="0">
                  <a:solidFill>
                    <a:srgbClr val="2C2FD4"/>
                  </a:solidFill>
                  <a:latin typeface="Arial" panose="020B0604020202020204" pitchFamily="34" charset="0"/>
                  <a:cs typeface="Arial" panose="020B0604020202020204" pitchFamily="34" charset="0"/>
                </a:rPr>
                <a:t>BAD idea schedule</a:t>
              </a:r>
              <a:r>
                <a:rPr lang="en-US" sz="1600" b="1" dirty="0">
                  <a:solidFill>
                    <a:srgbClr val="2C2FD4"/>
                  </a:solidFill>
                  <a:latin typeface="Arial" panose="020B0604020202020204" pitchFamily="34" charset="0"/>
                  <a:cs typeface="Arial" panose="020B0604020202020204" pitchFamily="34" charset="0"/>
                </a:rPr>
                <a:t>: Active Sync windows Task:5:00</a:t>
              </a:r>
            </a:p>
            <a:p>
              <a:pPr algn="l"/>
              <a:r>
                <a:rPr lang="en-US" sz="1600" b="1" dirty="0">
                  <a:solidFill>
                    <a:srgbClr val="2C2FD4"/>
                  </a:solidFill>
                  <a:latin typeface="Arial" panose="020B0604020202020204" pitchFamily="34" charset="0"/>
                  <a:cs typeface="Arial" panose="020B0604020202020204" pitchFamily="34" charset="0"/>
                </a:rPr>
                <a:t>Channel in collector:5:01</a:t>
              </a:r>
            </a:p>
          </p:txBody>
        </p:sp>
      </p:grpSp>
    </p:spTree>
    <p:extLst>
      <p:ext uri="{BB962C8B-B14F-4D97-AF65-F5344CB8AC3E}">
        <p14:creationId xmlns:p14="http://schemas.microsoft.com/office/powerpoint/2010/main" val="3332733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Archiver</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762000"/>
            <a:ext cx="9143999" cy="5867400"/>
          </a:xfrm>
        </p:spPr>
        <p:txBody>
          <a:bodyPr/>
          <a:lstStyle/>
          <a:p>
            <a:pPr marL="0" indent="0">
              <a:buNone/>
            </a:pPr>
            <a:r>
              <a:rPr lang="en-US" sz="2400" dirty="0">
                <a:solidFill>
                  <a:srgbClr val="FF0000"/>
                </a:solidFill>
              </a:rPr>
              <a:t>Restart Archiver Interface… you have 10 min now before </a:t>
            </a:r>
            <a:r>
              <a:rPr lang="en-US" sz="2400" dirty="0" err="1">
                <a:solidFill>
                  <a:srgbClr val="FF0000"/>
                </a:solidFill>
              </a:rPr>
              <a:t>DynAMoSyncQueue</a:t>
            </a:r>
            <a:r>
              <a:rPr lang="en-US" sz="2400" dirty="0">
                <a:solidFill>
                  <a:srgbClr val="FF0000"/>
                </a:solidFill>
              </a:rPr>
              <a:t> will be processed </a:t>
            </a:r>
          </a:p>
          <a:p>
            <a:pPr marL="0" indent="0">
              <a:buNone/>
            </a:pPr>
            <a:r>
              <a:rPr lang="en-US" sz="2400" dirty="0">
                <a:solidFill>
                  <a:srgbClr val="00B0F0"/>
                </a:solidFill>
              </a:rPr>
              <a:t>Step 5  (</a:t>
            </a:r>
            <a:r>
              <a:rPr lang="en-US" sz="2400" dirty="0" err="1">
                <a:solidFill>
                  <a:srgbClr val="00B0F0"/>
                </a:solidFill>
              </a:rPr>
              <a:t>DynAMoSyncQueue</a:t>
            </a:r>
            <a:r>
              <a:rPr lang="en-US" sz="2400" dirty="0">
                <a:solidFill>
                  <a:srgbClr val="00B0F0"/>
                </a:solidFill>
              </a:rPr>
              <a:t>): </a:t>
            </a:r>
            <a:r>
              <a:rPr lang="en-US" sz="2400" dirty="0"/>
              <a:t>Before you process </a:t>
            </a:r>
            <a:r>
              <a:rPr lang="en-US" sz="2400" dirty="0" err="1"/>
              <a:t>DynAMoSyncQueue</a:t>
            </a:r>
            <a:endParaRPr lang="en-US" sz="2400" dirty="0"/>
          </a:p>
          <a:p>
            <a:pPr marL="182880" lvl="1" indent="0">
              <a:buNone/>
            </a:pPr>
            <a:r>
              <a:rPr lang="en-US" sz="2400" dirty="0"/>
              <a:t>Suppression sync or\and Active sync can damage</a:t>
            </a:r>
          </a:p>
          <a:p>
            <a:r>
              <a:rPr lang="en-US" sz="2400" b="1" dirty="0"/>
              <a:t>Priority (Alternative sync can damage priority)</a:t>
            </a:r>
          </a:p>
          <a:p>
            <a:r>
              <a:rPr lang="en-US" sz="2400" b="1" dirty="0"/>
              <a:t>path</a:t>
            </a:r>
          </a:p>
          <a:p>
            <a:pPr marL="0" indent="0">
              <a:buNone/>
            </a:pPr>
            <a:endParaRPr lang="en-US" dirty="0"/>
          </a:p>
          <a:p>
            <a:pPr marL="182880" lvl="1" indent="0">
              <a:buNone/>
            </a:pPr>
            <a:r>
              <a:rPr lang="en-US" sz="1800" dirty="0"/>
              <a:t>Select distinct path from </a:t>
            </a:r>
            <a:r>
              <a:rPr lang="en-US" sz="1800" dirty="0" err="1"/>
              <a:t>DynAMoSyncQueue</a:t>
            </a:r>
            <a:r>
              <a:rPr lang="en-US" sz="1800" dirty="0"/>
              <a:t> </a:t>
            </a:r>
          </a:p>
          <a:p>
            <a:pPr marL="182880" lvl="1" indent="0">
              <a:buNone/>
            </a:pPr>
            <a:r>
              <a:rPr lang="en-US" sz="1800" dirty="0"/>
              <a:t>where path not in (select path from </a:t>
            </a:r>
            <a:r>
              <a:rPr lang="en-US" sz="1800" dirty="0" err="1"/>
              <a:t>DynAssets</a:t>
            </a:r>
            <a:r>
              <a:rPr lang="en-US" sz="1800" dirty="0"/>
              <a:t>)</a:t>
            </a:r>
          </a:p>
          <a:p>
            <a:pPr marL="182880" lvl="1" indent="0">
              <a:buNone/>
            </a:pPr>
            <a:r>
              <a:rPr lang="en-US" sz="1800" dirty="0"/>
              <a:t>Select distinct priority from </a:t>
            </a:r>
            <a:r>
              <a:rPr lang="en-US" sz="1800" dirty="0" err="1"/>
              <a:t>DynAMoSyncQueue</a:t>
            </a:r>
            <a:endParaRPr lang="en-US" sz="1800" dirty="0"/>
          </a:p>
          <a:p>
            <a:pPr marL="0" indent="0">
              <a:buNone/>
            </a:pPr>
            <a:r>
              <a:rPr lang="en-US" dirty="0">
                <a:solidFill>
                  <a:srgbClr val="FF0000"/>
                </a:solidFill>
              </a:rPr>
              <a:t>You do not like something just …</a:t>
            </a:r>
          </a:p>
          <a:p>
            <a:pPr marL="0" indent="0">
              <a:buNone/>
            </a:pPr>
            <a:r>
              <a:rPr lang="en-US" sz="1800" dirty="0">
                <a:solidFill>
                  <a:srgbClr val="FF0000"/>
                </a:solidFill>
              </a:rPr>
              <a:t>Delete from </a:t>
            </a:r>
            <a:r>
              <a:rPr lang="en-US" sz="1800" dirty="0" err="1">
                <a:solidFill>
                  <a:srgbClr val="FF0000"/>
                </a:solidFill>
              </a:rPr>
              <a:t>DynAMoSyncQueue</a:t>
            </a:r>
            <a:r>
              <a:rPr lang="en-US" sz="1800" dirty="0">
                <a:solidFill>
                  <a:srgbClr val="FF0000"/>
                </a:solidFill>
              </a:rPr>
              <a:t> </a:t>
            </a:r>
          </a:p>
          <a:p>
            <a:pPr marL="0" indent="0">
              <a:buNone/>
            </a:pPr>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8072A1BC-C809-4B20-8373-8F117D4714DE}"/>
              </a:ext>
            </a:extLst>
          </p:cNvPr>
          <p:cNvPicPr>
            <a:picLocks noChangeAspect="1"/>
          </p:cNvPicPr>
          <p:nvPr/>
        </p:nvPicPr>
        <p:blipFill>
          <a:blip r:embed="rId2"/>
          <a:stretch>
            <a:fillRect/>
          </a:stretch>
        </p:blipFill>
        <p:spPr>
          <a:xfrm>
            <a:off x="7696200" y="3235751"/>
            <a:ext cx="1219200" cy="3393649"/>
          </a:xfrm>
          <a:prstGeom prst="rect">
            <a:avLst/>
          </a:prstGeom>
        </p:spPr>
      </p:pic>
    </p:spTree>
    <p:extLst>
      <p:ext uri="{BB962C8B-B14F-4D97-AF65-F5344CB8AC3E}">
        <p14:creationId xmlns:p14="http://schemas.microsoft.com/office/powerpoint/2010/main" val="183313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is Sync reasonable?</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2602468"/>
          </a:xfrm>
        </p:spPr>
        <p:txBody>
          <a:bodyPr/>
          <a:lstStyle/>
          <a:p>
            <a:pPr marL="182880" lvl="1" indent="0">
              <a:buNone/>
            </a:pPr>
            <a:r>
              <a:rPr lang="en-US" dirty="0">
                <a:solidFill>
                  <a:srgbClr val="00B0F0"/>
                </a:solidFill>
              </a:rPr>
              <a:t>Step: (Reporting)</a:t>
            </a:r>
            <a:r>
              <a:rPr lang="en-US" dirty="0"/>
              <a:t>: Check if Active\Suppression Sync  status is reasonable </a:t>
            </a:r>
          </a:p>
          <a:p>
            <a:pPr marL="182880" lvl="1" indent="0">
              <a:buNone/>
            </a:pPr>
            <a:r>
              <a:rPr lang="en-US" dirty="0"/>
              <a:t>Is this “reasonable”? No</a:t>
            </a:r>
          </a:p>
          <a:p>
            <a:pPr marL="182880" lvl="1" indent="0">
              <a:buNone/>
            </a:pPr>
            <a:r>
              <a:rPr lang="en-US" dirty="0"/>
              <a:t>… you should see more </a:t>
            </a:r>
            <a:r>
              <a:rPr lang="en-US" dirty="0" err="1"/>
              <a:t>ReturnToNormal</a:t>
            </a:r>
            <a:r>
              <a:rPr lang="en-US" dirty="0"/>
              <a:t> than Alarms</a:t>
            </a:r>
          </a:p>
          <a:p>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75B32B84-BA55-44BA-A1D7-704B4385A1DA}"/>
              </a:ext>
            </a:extLst>
          </p:cNvPr>
          <p:cNvPicPr>
            <a:picLocks noChangeAspect="1"/>
          </p:cNvPicPr>
          <p:nvPr/>
        </p:nvPicPr>
        <p:blipFill>
          <a:blip r:embed="rId2"/>
          <a:stretch>
            <a:fillRect/>
          </a:stretch>
        </p:blipFill>
        <p:spPr>
          <a:xfrm>
            <a:off x="-1" y="3200400"/>
            <a:ext cx="9144000" cy="1285354"/>
          </a:xfrm>
          <a:prstGeom prst="rect">
            <a:avLst/>
          </a:prstGeom>
        </p:spPr>
      </p:pic>
    </p:spTree>
    <p:extLst>
      <p:ext uri="{BB962C8B-B14F-4D97-AF65-F5344CB8AC3E}">
        <p14:creationId xmlns:p14="http://schemas.microsoft.com/office/powerpoint/2010/main" val="3838607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7" y="2584966"/>
            <a:ext cx="8876783" cy="1688068"/>
          </a:xfrm>
        </p:spPr>
        <p:txBody>
          <a:bodyPr/>
          <a:lstStyle/>
          <a:p>
            <a:pPr marL="0" indent="0" algn="ctr">
              <a:buNone/>
            </a:pPr>
            <a:r>
              <a:rPr lang="en-US" sz="4000" b="1" dirty="0"/>
              <a:t>Web\Reports test</a:t>
            </a:r>
          </a:p>
        </p:txBody>
      </p:sp>
    </p:spTree>
    <p:extLst>
      <p:ext uri="{BB962C8B-B14F-4D97-AF65-F5344CB8AC3E}">
        <p14:creationId xmlns:p14="http://schemas.microsoft.com/office/powerpoint/2010/main" val="15115017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is Sync reasonable?</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2602468"/>
          </a:xfrm>
        </p:spPr>
        <p:txBody>
          <a:bodyPr/>
          <a:lstStyle/>
          <a:p>
            <a:pPr marL="182880" lvl="1" indent="0">
              <a:buNone/>
            </a:pPr>
            <a:r>
              <a:rPr lang="en-US" dirty="0"/>
              <a:t>Is this reasonable? No</a:t>
            </a:r>
          </a:p>
          <a:p>
            <a:endParaRPr lang="en-US" dirty="0"/>
          </a:p>
          <a:p>
            <a:pPr marL="0" indent="0">
              <a:buNone/>
            </a:pPr>
            <a:endParaRPr lang="en-US" sz="1600" dirty="0"/>
          </a:p>
          <a:p>
            <a:endParaRPr lang="en-US" dirty="0"/>
          </a:p>
        </p:txBody>
      </p:sp>
      <p:pic>
        <p:nvPicPr>
          <p:cNvPr id="8" name="Picture 7">
            <a:extLst>
              <a:ext uri="{FF2B5EF4-FFF2-40B4-BE49-F238E27FC236}">
                <a16:creationId xmlns:a16="http://schemas.microsoft.com/office/drawing/2014/main" id="{1C2121BE-9C31-4AB5-930D-745EE8A5A20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6199" y="1470922"/>
            <a:ext cx="8991600" cy="4419600"/>
          </a:xfrm>
          <a:prstGeom prst="rect">
            <a:avLst/>
          </a:prstGeom>
          <a:noFill/>
          <a:ln>
            <a:noFill/>
          </a:ln>
        </p:spPr>
      </p:pic>
    </p:spTree>
    <p:extLst>
      <p:ext uri="{BB962C8B-B14F-4D97-AF65-F5344CB8AC3E}">
        <p14:creationId xmlns:p14="http://schemas.microsoft.com/office/powerpoint/2010/main" val="1883226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is Sync reasonable?</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2602468"/>
          </a:xfrm>
        </p:spPr>
        <p:txBody>
          <a:bodyPr/>
          <a:lstStyle/>
          <a:p>
            <a:pPr marL="182880" lvl="1" indent="0">
              <a:buNone/>
            </a:pPr>
            <a:r>
              <a:rPr lang="en-US" dirty="0"/>
              <a:t>Is this reasonable? Yes for Utility </a:t>
            </a:r>
          </a:p>
          <a:p>
            <a:pPr marL="182880" lvl="1" indent="0">
              <a:buNone/>
            </a:pPr>
            <a:r>
              <a:rPr lang="en-US" dirty="0"/>
              <a:t>(for Utility many CHOFST alarms closed)</a:t>
            </a:r>
          </a:p>
          <a:p>
            <a:endParaRPr lang="en-US" dirty="0"/>
          </a:p>
        </p:txBody>
      </p:sp>
      <p:pic>
        <p:nvPicPr>
          <p:cNvPr id="4" name="Picture 3">
            <a:extLst>
              <a:ext uri="{FF2B5EF4-FFF2-40B4-BE49-F238E27FC236}">
                <a16:creationId xmlns:a16="http://schemas.microsoft.com/office/drawing/2014/main" id="{AC057B36-F909-41F6-980B-6BBF8CB1C1CC}"/>
              </a:ext>
            </a:extLst>
          </p:cNvPr>
          <p:cNvPicPr>
            <a:picLocks noChangeAspect="1"/>
          </p:cNvPicPr>
          <p:nvPr/>
        </p:nvPicPr>
        <p:blipFill>
          <a:blip r:embed="rId2"/>
          <a:stretch>
            <a:fillRect/>
          </a:stretch>
        </p:blipFill>
        <p:spPr>
          <a:xfrm>
            <a:off x="304800" y="2200963"/>
            <a:ext cx="7962063" cy="4580837"/>
          </a:xfrm>
          <a:prstGeom prst="rect">
            <a:avLst/>
          </a:prstGeom>
        </p:spPr>
      </p:pic>
      <p:pic>
        <p:nvPicPr>
          <p:cNvPr id="14" name="Picture 13">
            <a:extLst>
              <a:ext uri="{FF2B5EF4-FFF2-40B4-BE49-F238E27FC236}">
                <a16:creationId xmlns:a16="http://schemas.microsoft.com/office/drawing/2014/main" id="{FE87E8EC-2858-42B8-BFD1-99D15ADCB6E0}"/>
              </a:ext>
            </a:extLst>
          </p:cNvPr>
          <p:cNvPicPr>
            <a:picLocks noChangeAspect="1"/>
          </p:cNvPicPr>
          <p:nvPr/>
        </p:nvPicPr>
        <p:blipFill>
          <a:blip r:embed="rId3"/>
          <a:stretch>
            <a:fillRect/>
          </a:stretch>
        </p:blipFill>
        <p:spPr>
          <a:xfrm>
            <a:off x="7772400" y="2854929"/>
            <a:ext cx="1219200" cy="3393649"/>
          </a:xfrm>
          <a:prstGeom prst="rect">
            <a:avLst/>
          </a:prstGeom>
        </p:spPr>
      </p:pic>
    </p:spTree>
    <p:extLst>
      <p:ext uri="{BB962C8B-B14F-4D97-AF65-F5344CB8AC3E}">
        <p14:creationId xmlns:p14="http://schemas.microsoft.com/office/powerpoint/2010/main" val="295764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14"/>
                                        </p:tgtEl>
                                      </p:cBhvr>
                                    </p:animEffect>
                                    <p:animScale>
                                      <p:cBhvr>
                                        <p:cTn id="7"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Before final test… understand this…</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498068"/>
          </a:xfrm>
        </p:spPr>
        <p:txBody>
          <a:bodyPr/>
          <a:lstStyle/>
          <a:p>
            <a:r>
              <a:rPr lang="en-US" dirty="0"/>
              <a:t>“</a:t>
            </a:r>
            <a:r>
              <a:rPr lang="en-US" dirty="0">
                <a:solidFill>
                  <a:srgbClr val="00B0F0"/>
                </a:solidFill>
              </a:rPr>
              <a:t>Confusion period</a:t>
            </a:r>
            <a:r>
              <a:rPr lang="en-US" dirty="0"/>
              <a:t>”</a:t>
            </a:r>
          </a:p>
          <a:p>
            <a:pPr marL="0" indent="0">
              <a:buNone/>
            </a:pPr>
            <a:r>
              <a:rPr lang="en-US" dirty="0">
                <a:solidFill>
                  <a:srgbClr val="00B0F0"/>
                </a:solidFill>
              </a:rPr>
              <a:t>Confusion 1:</a:t>
            </a:r>
          </a:p>
          <a:p>
            <a:pPr marL="0" indent="0">
              <a:buNone/>
            </a:pPr>
            <a:r>
              <a:rPr lang="en-US" dirty="0"/>
              <a:t>	~1-3 min for Active Sync</a:t>
            </a:r>
          </a:p>
          <a:p>
            <a:pPr marL="0" indent="0">
              <a:buNone/>
            </a:pPr>
            <a:r>
              <a:rPr lang="en-US" dirty="0"/>
              <a:t>	~ 10 min for Suppression Sync</a:t>
            </a:r>
          </a:p>
          <a:p>
            <a:pPr marL="0" indent="0">
              <a:buNone/>
            </a:pPr>
            <a:r>
              <a:rPr lang="en-US" dirty="0"/>
              <a:t>What is “Confusion period”?</a:t>
            </a:r>
          </a:p>
          <a:p>
            <a:pPr marL="0" indent="0">
              <a:buNone/>
            </a:pPr>
            <a:r>
              <a:rPr lang="en-US" dirty="0"/>
              <a:t>e.g. Suppression Sync takes 10 min to read all params</a:t>
            </a:r>
          </a:p>
          <a:p>
            <a:r>
              <a:rPr lang="en-US" sz="1600" dirty="0"/>
              <a:t>At 5 min mark…It reads 7HY264.alenbst as DISABLE</a:t>
            </a:r>
          </a:p>
          <a:p>
            <a:r>
              <a:rPr lang="en-US" sz="1600" dirty="0"/>
              <a:t>At 8 min mark…7HY264 is set to ENABLE by operator</a:t>
            </a:r>
          </a:p>
          <a:p>
            <a:pPr marL="0" indent="0">
              <a:buNone/>
            </a:pPr>
            <a:endParaRPr lang="en-US" sz="1600" dirty="0"/>
          </a:p>
          <a:p>
            <a:pPr marL="0" indent="0">
              <a:buNone/>
            </a:pPr>
            <a:r>
              <a:rPr lang="en-US" sz="1600" dirty="0"/>
              <a:t>Quiz: How Sync would sync… ENABLE or DISABLE?</a:t>
            </a:r>
          </a:p>
          <a:p>
            <a:pPr marL="0" indent="0">
              <a:buNone/>
            </a:pPr>
            <a:r>
              <a:rPr lang="en-US" dirty="0">
                <a:solidFill>
                  <a:srgbClr val="00B0F0"/>
                </a:solidFill>
              </a:rPr>
              <a:t>Confusion 2:</a:t>
            </a:r>
          </a:p>
          <a:p>
            <a:pPr marL="0" indent="0">
              <a:buNone/>
            </a:pPr>
            <a:r>
              <a:rPr lang="en-US" dirty="0"/>
              <a:t>Another confusion – events are not collected yet but… we are syncing</a:t>
            </a:r>
          </a:p>
        </p:txBody>
      </p:sp>
    </p:spTree>
    <p:extLst>
      <p:ext uri="{BB962C8B-B14F-4D97-AF65-F5344CB8AC3E}">
        <p14:creationId xmlns:p14="http://schemas.microsoft.com/office/powerpoint/2010/main" val="31378935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Final Test</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498068"/>
          </a:xfrm>
        </p:spPr>
        <p:txBody>
          <a:bodyPr/>
          <a:lstStyle/>
          <a:p>
            <a:pPr marL="514350" indent="-514350">
              <a:buAutoNum type="arabicPeriod"/>
            </a:pPr>
            <a:r>
              <a:rPr lang="en-US" dirty="0"/>
              <a:t>Assign properly to Operating positions.</a:t>
            </a:r>
          </a:p>
          <a:p>
            <a:pPr marL="514350" indent="-514350">
              <a:buAutoNum type="arabicPeriod"/>
            </a:pPr>
            <a:r>
              <a:rPr lang="en-US" dirty="0"/>
              <a:t>Check “Unassigned” assets</a:t>
            </a:r>
          </a:p>
          <a:p>
            <a:pPr marL="514350" indent="-514350">
              <a:buAutoNum type="arabicPeriod"/>
            </a:pPr>
            <a:r>
              <a:rPr lang="en-US" dirty="0"/>
              <a:t>Look at </a:t>
            </a:r>
            <a:r>
              <a:rPr lang="en-US" dirty="0" err="1"/>
              <a:t>DynAssets</a:t>
            </a:r>
            <a:r>
              <a:rPr lang="en-US" dirty="0"/>
              <a:t>… (do the paths look right?)</a:t>
            </a:r>
          </a:p>
          <a:p>
            <a:pPr marL="514350" indent="-514350">
              <a:buAutoNum type="arabicPeriod"/>
            </a:pPr>
            <a:endParaRPr lang="en-US" dirty="0"/>
          </a:p>
          <a:p>
            <a:pPr marL="514350" indent="-514350">
              <a:buAutoNum type="arabicPeriod"/>
            </a:pPr>
            <a:endParaRPr lang="en-US" dirty="0"/>
          </a:p>
          <a:p>
            <a:pPr marL="0" indent="0">
              <a:buNone/>
            </a:pPr>
            <a:r>
              <a:rPr lang="en-US" dirty="0"/>
              <a:t>Do not expect perfect for Active Alarms (due to time delay </a:t>
            </a:r>
            <a:r>
              <a:rPr lang="en-US" dirty="0" err="1"/>
              <a:t>etc</a:t>
            </a:r>
            <a:r>
              <a:rPr lang="en-US" dirty="0"/>
              <a:t>) but stale Alarms should be perfect</a:t>
            </a:r>
          </a:p>
          <a:p>
            <a:pPr marL="0" indent="0">
              <a:buNone/>
            </a:pPr>
            <a:r>
              <a:rPr lang="en-US" dirty="0"/>
              <a:t>(we still have unfortunately limitation with standard functionality and few stale alarms may be still an issue….)!</a:t>
            </a:r>
          </a:p>
        </p:txBody>
      </p:sp>
    </p:spTree>
    <p:extLst>
      <p:ext uri="{BB962C8B-B14F-4D97-AF65-F5344CB8AC3E}">
        <p14:creationId xmlns:p14="http://schemas.microsoft.com/office/powerpoint/2010/main" val="12189039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Project Checklist – FINAL CHECK?</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5574268"/>
          </a:xfrm>
        </p:spPr>
        <p:txBody>
          <a:bodyPr/>
          <a:lstStyle/>
          <a:p>
            <a:pPr marL="182880" lvl="1" indent="0">
              <a:buNone/>
            </a:pPr>
            <a:r>
              <a:rPr lang="en-US" dirty="0"/>
              <a:t>Final CHECK…</a:t>
            </a:r>
          </a:p>
          <a:p>
            <a:pPr marL="365760" lvl="2" indent="0">
              <a:buNone/>
            </a:pPr>
            <a:r>
              <a:rPr lang="en-US" dirty="0">
                <a:solidFill>
                  <a:srgbClr val="FF0000"/>
                </a:solidFill>
              </a:rPr>
              <a:t>1. Active Alarms report</a:t>
            </a:r>
          </a:p>
          <a:p>
            <a:pPr marL="365760" lvl="2" indent="0">
              <a:buNone/>
            </a:pPr>
            <a:endParaRPr lang="en-US" dirty="0"/>
          </a:p>
          <a:p>
            <a:pPr marL="365760" lvl="2" indent="0">
              <a:buNone/>
            </a:pPr>
            <a:r>
              <a:rPr lang="en-US" dirty="0"/>
              <a:t>2. Suppressed Report</a:t>
            </a:r>
          </a:p>
          <a:p>
            <a:pPr lvl="2">
              <a:buFontTx/>
              <a:buChar char="-"/>
            </a:pPr>
            <a:r>
              <a:rPr lang="en-US" dirty="0"/>
              <a:t>Skip checking or… do not get frustrated about  “Priority”, “DAS”, “Asset” suppression, or System alarms quality</a:t>
            </a:r>
          </a:p>
          <a:p>
            <a:pPr lvl="2">
              <a:buFontTx/>
              <a:buChar char="-"/>
            </a:pPr>
            <a:r>
              <a:rPr lang="en-US" dirty="0"/>
              <a:t>Check at least few (“”, “</a:t>
            </a:r>
            <a:r>
              <a:rPr lang="en-US" dirty="0" err="1"/>
              <a:t>journalonly</a:t>
            </a:r>
            <a:r>
              <a:rPr lang="en-US" dirty="0"/>
              <a:t>”) with the longest duration</a:t>
            </a:r>
          </a:p>
          <a:p>
            <a:pPr marL="365760" lvl="2" indent="0">
              <a:buNone/>
            </a:pPr>
            <a:r>
              <a:rPr lang="en-US" dirty="0"/>
              <a:t>	- can detail the point to validate or…</a:t>
            </a:r>
          </a:p>
          <a:p>
            <a:pPr marL="365760" lvl="2" indent="0">
              <a:buNone/>
            </a:pPr>
            <a:r>
              <a:rPr lang="en-US" dirty="0"/>
              <a:t>	- Use ACM Enforcements results or…</a:t>
            </a:r>
          </a:p>
          <a:p>
            <a:pPr marL="365760" lvl="2" indent="0">
              <a:buNone/>
            </a:pPr>
            <a:r>
              <a:rPr lang="en-US" dirty="0"/>
              <a:t>	- Reports in Experion</a:t>
            </a:r>
          </a:p>
          <a:p>
            <a:pPr marL="365760" lvl="2" indent="0">
              <a:buNone/>
            </a:pPr>
            <a:r>
              <a:rPr lang="en-US" dirty="0"/>
              <a:t>3. Shelved Report</a:t>
            </a:r>
          </a:p>
          <a:p>
            <a:pPr lvl="2">
              <a:buFontTx/>
              <a:buChar char="-"/>
            </a:pPr>
            <a:r>
              <a:rPr lang="en-US" dirty="0"/>
              <a:t>Likely it will not be accurate for non-Active alarms…. </a:t>
            </a:r>
          </a:p>
          <a:p>
            <a:pPr lvl="2">
              <a:buFontTx/>
              <a:buChar char="-"/>
            </a:pPr>
            <a:endParaRPr lang="en-US" dirty="0"/>
          </a:p>
          <a:p>
            <a:pPr marL="365760" lvl="2" indent="0">
              <a:buNone/>
            </a:pPr>
            <a:r>
              <a:rPr lang="en-US" dirty="0"/>
              <a:t>Make sure all execute properly </a:t>
            </a:r>
            <a:r>
              <a:rPr lang="en-US" b="1" u="sng" dirty="0"/>
              <a:t>on schedule</a:t>
            </a:r>
          </a:p>
          <a:p>
            <a:pPr marL="365760" lvl="2" indent="0">
              <a:buNone/>
            </a:pPr>
            <a:endParaRPr lang="en-US" dirty="0"/>
          </a:p>
          <a:p>
            <a:pPr marL="182880" lvl="1" indent="0">
              <a:buNone/>
            </a:pPr>
            <a:endParaRPr lang="en-US" dirty="0"/>
          </a:p>
          <a:p>
            <a:endParaRPr lang="en-US" dirty="0"/>
          </a:p>
          <a:p>
            <a:pPr marL="0" indent="0">
              <a:buNone/>
            </a:pPr>
            <a:endParaRPr lang="en-US" sz="1600" dirty="0"/>
          </a:p>
          <a:p>
            <a:endParaRPr lang="en-US" dirty="0"/>
          </a:p>
        </p:txBody>
      </p:sp>
      <p:pic>
        <p:nvPicPr>
          <p:cNvPr id="4" name="Picture 4" descr="Operator's Guide">
            <a:extLst>
              <a:ext uri="{FF2B5EF4-FFF2-40B4-BE49-F238E27FC236}">
                <a16:creationId xmlns:a16="http://schemas.microsoft.com/office/drawing/2014/main" id="{371D7617-624C-418B-8EA4-A9CF240234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826083"/>
            <a:ext cx="2921570" cy="175900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A7DA2F1-B8BD-42D1-A1A6-D8F3F12D738D}"/>
              </a:ext>
            </a:extLst>
          </p:cNvPr>
          <p:cNvPicPr>
            <a:picLocks noChangeAspect="1"/>
          </p:cNvPicPr>
          <p:nvPr/>
        </p:nvPicPr>
        <p:blipFill>
          <a:blip r:embed="rId3"/>
          <a:stretch>
            <a:fillRect/>
          </a:stretch>
        </p:blipFill>
        <p:spPr>
          <a:xfrm>
            <a:off x="6248400" y="3886200"/>
            <a:ext cx="1836579" cy="1531753"/>
          </a:xfrm>
          <a:prstGeom prst="rect">
            <a:avLst/>
          </a:prstGeom>
        </p:spPr>
      </p:pic>
    </p:spTree>
    <p:extLst>
      <p:ext uri="{BB962C8B-B14F-4D97-AF65-F5344CB8AC3E}">
        <p14:creationId xmlns:p14="http://schemas.microsoft.com/office/powerpoint/2010/main" val="3786781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Active\suppressed\shelved</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5574268"/>
          </a:xfrm>
        </p:spPr>
        <p:txBody>
          <a:bodyPr/>
          <a:lstStyle/>
          <a:p>
            <a:pPr marL="182880" lvl="1" indent="0">
              <a:buNone/>
            </a:pPr>
            <a:r>
              <a:rPr lang="en-US" dirty="0"/>
              <a:t>Run on Operator station or… on server for OPC Standard Active Sync.</a:t>
            </a:r>
            <a:endParaRPr lang="en-US" dirty="0">
              <a:solidFill>
                <a:srgbClr val="FF0000"/>
              </a:solidFill>
            </a:endParaRPr>
          </a:p>
          <a:p>
            <a:pPr marL="365760" lvl="2" indent="0">
              <a:buNone/>
            </a:pPr>
            <a:endParaRPr lang="en-US" dirty="0"/>
          </a:p>
          <a:p>
            <a:pPr marL="365760" lvl="2" indent="0">
              <a:buNone/>
            </a:pPr>
            <a:endParaRPr lang="en-US" dirty="0"/>
          </a:p>
          <a:p>
            <a:pPr marL="182880" lvl="1" indent="0">
              <a:buNone/>
            </a:pPr>
            <a:endParaRPr lang="en-US" dirty="0"/>
          </a:p>
          <a:p>
            <a:endParaRPr lang="en-US" dirty="0"/>
          </a:p>
          <a:p>
            <a:pPr marL="0" indent="0">
              <a:buNone/>
            </a:pPr>
            <a:endParaRPr lang="en-US" sz="1600" dirty="0"/>
          </a:p>
          <a:p>
            <a:endParaRPr lang="en-US" dirty="0"/>
          </a:p>
        </p:txBody>
      </p:sp>
      <p:pic>
        <p:nvPicPr>
          <p:cNvPr id="8" name="Picture 7">
            <a:extLst>
              <a:ext uri="{FF2B5EF4-FFF2-40B4-BE49-F238E27FC236}">
                <a16:creationId xmlns:a16="http://schemas.microsoft.com/office/drawing/2014/main" id="{763D813C-29B2-4D0B-B294-ECC0722FA6F7}"/>
              </a:ext>
            </a:extLst>
          </p:cNvPr>
          <p:cNvPicPr>
            <a:picLocks noChangeAspect="1"/>
          </p:cNvPicPr>
          <p:nvPr/>
        </p:nvPicPr>
        <p:blipFill>
          <a:blip r:embed="rId2"/>
          <a:stretch>
            <a:fillRect/>
          </a:stretch>
        </p:blipFill>
        <p:spPr>
          <a:xfrm>
            <a:off x="838200" y="1744748"/>
            <a:ext cx="6771836" cy="4656052"/>
          </a:xfrm>
          <a:prstGeom prst="rect">
            <a:avLst/>
          </a:prstGeom>
        </p:spPr>
      </p:pic>
    </p:spTree>
    <p:extLst>
      <p:ext uri="{BB962C8B-B14F-4D97-AF65-F5344CB8AC3E}">
        <p14:creationId xmlns:p14="http://schemas.microsoft.com/office/powerpoint/2010/main" val="34442322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Suppressed</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5574268"/>
          </a:xfrm>
        </p:spPr>
        <p:txBody>
          <a:bodyPr/>
          <a:lstStyle/>
          <a:p>
            <a:pPr marL="182880" lvl="1" indent="0">
              <a:buNone/>
            </a:pPr>
            <a:r>
              <a:rPr lang="en-US" dirty="0"/>
              <a:t>Detail the point (can be done on EAS)</a:t>
            </a:r>
          </a:p>
          <a:p>
            <a:pPr marL="365760" lvl="2" indent="0">
              <a:buNone/>
            </a:pPr>
            <a:endParaRPr lang="en-US" dirty="0"/>
          </a:p>
          <a:p>
            <a:pPr marL="365760" lvl="2" indent="0">
              <a:buNone/>
            </a:pPr>
            <a:endParaRPr lang="en-US" dirty="0"/>
          </a:p>
          <a:p>
            <a:pPr marL="182880" lvl="1" indent="0">
              <a:buNone/>
            </a:pPr>
            <a:endParaRPr lang="en-US" dirty="0"/>
          </a:p>
          <a:p>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EC5A7313-4E50-4812-A5EE-1C90CCE75687}"/>
              </a:ext>
            </a:extLst>
          </p:cNvPr>
          <p:cNvPicPr>
            <a:picLocks noChangeAspect="1"/>
          </p:cNvPicPr>
          <p:nvPr/>
        </p:nvPicPr>
        <p:blipFill>
          <a:blip r:embed="rId2"/>
          <a:stretch>
            <a:fillRect/>
          </a:stretch>
        </p:blipFill>
        <p:spPr>
          <a:xfrm>
            <a:off x="534924" y="1600200"/>
            <a:ext cx="7795936" cy="4587638"/>
          </a:xfrm>
          <a:prstGeom prst="rect">
            <a:avLst/>
          </a:prstGeom>
        </p:spPr>
      </p:pic>
    </p:spTree>
    <p:extLst>
      <p:ext uri="{BB962C8B-B14F-4D97-AF65-F5344CB8AC3E}">
        <p14:creationId xmlns:p14="http://schemas.microsoft.com/office/powerpoint/2010/main" val="1193072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Suppressed</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5574268"/>
          </a:xfrm>
        </p:spPr>
        <p:txBody>
          <a:bodyPr/>
          <a:lstStyle/>
          <a:p>
            <a:pPr marL="182880" lvl="1" indent="0">
              <a:buNone/>
            </a:pPr>
            <a:r>
              <a:rPr lang="en-US" dirty="0"/>
              <a:t>Run Reports on operator station or server</a:t>
            </a:r>
          </a:p>
          <a:p>
            <a:pPr marL="365760" lvl="2" indent="0">
              <a:buNone/>
            </a:pPr>
            <a:endParaRPr lang="en-US" dirty="0"/>
          </a:p>
          <a:p>
            <a:pPr marL="365760" lvl="2" indent="0">
              <a:buNone/>
            </a:pPr>
            <a:endParaRPr lang="en-US" dirty="0"/>
          </a:p>
          <a:p>
            <a:pPr marL="182880" lvl="1" indent="0">
              <a:buNone/>
            </a:pPr>
            <a:endParaRPr lang="en-US" dirty="0"/>
          </a:p>
          <a:p>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EE06F5ED-7061-4A5A-8CD0-D98972DBBC12}"/>
              </a:ext>
            </a:extLst>
          </p:cNvPr>
          <p:cNvPicPr>
            <a:picLocks noChangeAspect="1"/>
          </p:cNvPicPr>
          <p:nvPr/>
        </p:nvPicPr>
        <p:blipFill>
          <a:blip r:embed="rId2"/>
          <a:stretch>
            <a:fillRect/>
          </a:stretch>
        </p:blipFill>
        <p:spPr>
          <a:xfrm>
            <a:off x="499157" y="1447800"/>
            <a:ext cx="4221846" cy="2804403"/>
          </a:xfrm>
          <a:prstGeom prst="rect">
            <a:avLst/>
          </a:prstGeom>
        </p:spPr>
      </p:pic>
      <p:pic>
        <p:nvPicPr>
          <p:cNvPr id="8" name="Picture 7">
            <a:extLst>
              <a:ext uri="{FF2B5EF4-FFF2-40B4-BE49-F238E27FC236}">
                <a16:creationId xmlns:a16="http://schemas.microsoft.com/office/drawing/2014/main" id="{6471C601-D630-4870-BD2B-ADC6221E431A}"/>
              </a:ext>
            </a:extLst>
          </p:cNvPr>
          <p:cNvPicPr>
            <a:picLocks noChangeAspect="1"/>
          </p:cNvPicPr>
          <p:nvPr/>
        </p:nvPicPr>
        <p:blipFill>
          <a:blip r:embed="rId3"/>
          <a:stretch>
            <a:fillRect/>
          </a:stretch>
        </p:blipFill>
        <p:spPr>
          <a:xfrm>
            <a:off x="3992349" y="2945101"/>
            <a:ext cx="4686706" cy="3086367"/>
          </a:xfrm>
          <a:prstGeom prst="rect">
            <a:avLst/>
          </a:prstGeom>
        </p:spPr>
      </p:pic>
    </p:spTree>
    <p:extLst>
      <p:ext uri="{BB962C8B-B14F-4D97-AF65-F5344CB8AC3E}">
        <p14:creationId xmlns:p14="http://schemas.microsoft.com/office/powerpoint/2010/main" val="9636940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ChangeArrowheads="1"/>
          </p:cNvSpPr>
          <p:nvPr/>
        </p:nvSpPr>
        <p:spPr bwMode="auto">
          <a:xfrm>
            <a:off x="685800" y="1087438"/>
            <a:ext cx="7772400" cy="1905000"/>
          </a:xfrm>
          <a:prstGeom prst="rect">
            <a:avLst/>
          </a:prstGeom>
          <a:noFill/>
          <a:ln w="12700">
            <a:noFill/>
            <a:miter lim="800000"/>
            <a:headEnd/>
            <a:tailEnd/>
          </a:ln>
        </p:spPr>
        <p:txBody>
          <a:bodyPr lIns="90488" tIns="44450" rIns="90488" bIns="44450"/>
          <a:lstStyle/>
          <a:p>
            <a:pPr algn="ctr"/>
            <a:endParaRPr lang="en-US" sz="4400" dirty="0">
              <a:solidFill>
                <a:schemeClr val="tx2"/>
              </a:solidFill>
            </a:endParaRPr>
          </a:p>
        </p:txBody>
      </p:sp>
      <p:sp>
        <p:nvSpPr>
          <p:cNvPr id="4100" name="Rectangle 5"/>
          <p:cNvSpPr>
            <a:spLocks noChangeArrowheads="1"/>
          </p:cNvSpPr>
          <p:nvPr/>
        </p:nvSpPr>
        <p:spPr bwMode="auto">
          <a:xfrm>
            <a:off x="1905683" y="5181600"/>
            <a:ext cx="5410200" cy="1220787"/>
          </a:xfrm>
          <a:prstGeom prst="rect">
            <a:avLst/>
          </a:prstGeom>
          <a:noFill/>
          <a:ln w="12700">
            <a:noFill/>
            <a:miter lim="800000"/>
            <a:headEnd/>
            <a:tailEnd/>
          </a:ln>
        </p:spPr>
        <p:txBody>
          <a:bodyPr lIns="90488" tIns="44450" rIns="90488" bIns="44450"/>
          <a:lstStyle/>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By</a:t>
            </a:r>
          </a:p>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Barbara Schubert</a:t>
            </a:r>
          </a:p>
        </p:txBody>
      </p:sp>
      <p:sp>
        <p:nvSpPr>
          <p:cNvPr id="6" name="Rectangle 3"/>
          <p:cNvSpPr>
            <a:spLocks noChangeArrowheads="1"/>
          </p:cNvSpPr>
          <p:nvPr/>
        </p:nvSpPr>
        <p:spPr bwMode="auto">
          <a:xfrm>
            <a:off x="533400" y="762000"/>
            <a:ext cx="7997825" cy="1447800"/>
          </a:xfrm>
          <a:prstGeom prst="rect">
            <a:avLst/>
          </a:prstGeom>
          <a:noFill/>
          <a:ln w="12700">
            <a:noFill/>
            <a:miter lim="800000"/>
            <a:headEnd/>
            <a:tailEnd/>
          </a:ln>
        </p:spPr>
        <p:txBody>
          <a:bodyPr lIns="90488" tIns="44450" rIns="90488" bIns="44450"/>
          <a:lstStyle/>
          <a:p>
            <a:pPr algn="ctr"/>
            <a:endParaRPr lang="en-US" sz="4400" b="1" dirty="0">
              <a:solidFill>
                <a:schemeClr val="tx2"/>
              </a:solidFill>
              <a:latin typeface="Arial" panose="020B0604020202020204" pitchFamily="34" charset="0"/>
              <a:cs typeface="Arial" panose="020B0604020202020204" pitchFamily="34" charset="0"/>
            </a:endParaRPr>
          </a:p>
        </p:txBody>
      </p:sp>
      <p:sp>
        <p:nvSpPr>
          <p:cNvPr id="5" name="Title 4">
            <a:extLst>
              <a:ext uri="{FF2B5EF4-FFF2-40B4-BE49-F238E27FC236}">
                <a16:creationId xmlns:a16="http://schemas.microsoft.com/office/drawing/2014/main" id="{FF2364C8-423F-46FA-95D6-664C2353B7C5}"/>
              </a:ext>
            </a:extLst>
          </p:cNvPr>
          <p:cNvSpPr>
            <a:spLocks noGrp="1"/>
          </p:cNvSpPr>
          <p:nvPr>
            <p:ph type="title"/>
          </p:nvPr>
        </p:nvSpPr>
        <p:spPr>
          <a:xfrm>
            <a:off x="0" y="1262750"/>
            <a:ext cx="9144000" cy="3233050"/>
          </a:xfrm>
        </p:spPr>
        <p:txBody>
          <a:bodyPr/>
          <a:lstStyle/>
          <a:p>
            <a:br>
              <a:rPr lang="en-US" sz="4400" dirty="0"/>
            </a:br>
            <a:r>
              <a:rPr lang="en-US" sz="4400" dirty="0"/>
              <a:t>Troubleshooting+</a:t>
            </a:r>
            <a:br>
              <a:rPr lang="en-US" sz="4400" dirty="0"/>
            </a:br>
            <a:r>
              <a:rPr lang="en-US" sz="4400" dirty="0"/>
              <a:t>“Magic query”</a:t>
            </a:r>
            <a:br>
              <a:rPr lang="en-US" sz="4400" dirty="0"/>
            </a:br>
            <a:br>
              <a:rPr lang="en-US" sz="4400" dirty="0"/>
            </a:br>
            <a:br>
              <a:rPr lang="en-US" sz="4400" dirty="0"/>
            </a:br>
            <a:br>
              <a:rPr lang="en-US" sz="4400" dirty="0"/>
            </a:br>
            <a:endParaRPr lang="en-US" sz="4400" dirty="0"/>
          </a:p>
        </p:txBody>
      </p:sp>
    </p:spTree>
    <p:extLst>
      <p:ext uri="{BB962C8B-B14F-4D97-AF65-F5344CB8AC3E}">
        <p14:creationId xmlns:p14="http://schemas.microsoft.com/office/powerpoint/2010/main" val="3520523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“Magic Query” vs Event Investigator</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6107668"/>
          </a:xfrm>
        </p:spPr>
        <p:txBody>
          <a:bodyPr/>
          <a:lstStyle/>
          <a:p>
            <a:pPr marL="514350" indent="-514350">
              <a:buAutoNum type="arabicPeriod"/>
            </a:pPr>
            <a:r>
              <a:rPr lang="en-US" sz="2400" dirty="0"/>
              <a:t>Guaranteed to return </a:t>
            </a:r>
            <a:r>
              <a:rPr lang="en-US" sz="2400" b="1" u="sng" dirty="0"/>
              <a:t>all events </a:t>
            </a:r>
            <a:r>
              <a:rPr lang="en-US" sz="2400" dirty="0"/>
              <a:t>(even with incorrect path)</a:t>
            </a:r>
          </a:p>
          <a:p>
            <a:pPr marL="514350" indent="-514350">
              <a:buAutoNum type="arabicPeriod"/>
            </a:pPr>
            <a:r>
              <a:rPr lang="en-US" sz="2400" dirty="0"/>
              <a:t>Shows the columns:</a:t>
            </a:r>
          </a:p>
          <a:p>
            <a:pPr marL="697230" lvl="1" indent="-514350">
              <a:buAutoNum type="arabicPeriod"/>
            </a:pPr>
            <a:r>
              <a:rPr lang="en-US" sz="2400" dirty="0"/>
              <a:t>“</a:t>
            </a:r>
            <a:r>
              <a:rPr lang="en-US" sz="2400" dirty="0" err="1"/>
              <a:t>eventid</a:t>
            </a:r>
            <a:r>
              <a:rPr lang="en-US" sz="2400" dirty="0"/>
              <a:t>” </a:t>
            </a:r>
          </a:p>
          <a:p>
            <a:pPr marL="697230" lvl="1" indent="-514350">
              <a:buAutoNum type="arabicPeriod"/>
            </a:pPr>
            <a:r>
              <a:rPr lang="en-US" sz="2400" dirty="0"/>
              <a:t>“</a:t>
            </a:r>
            <a:r>
              <a:rPr lang="en-US" sz="2400" dirty="0" err="1"/>
              <a:t>system_all</a:t>
            </a:r>
            <a:r>
              <a:rPr lang="en-US" sz="2400" dirty="0"/>
              <a:t>” - original message </a:t>
            </a:r>
          </a:p>
          <a:p>
            <a:pPr marL="697230" lvl="1" indent="-514350">
              <a:buAutoNum type="arabicPeriod"/>
            </a:pPr>
            <a:r>
              <a:rPr lang="en-US" sz="2400" dirty="0"/>
              <a:t>“</a:t>
            </a:r>
            <a:r>
              <a:rPr lang="en-US" sz="2400" dirty="0" err="1"/>
              <a:t>vt_end</a:t>
            </a:r>
            <a:r>
              <a:rPr lang="en-US" sz="2400" dirty="0"/>
              <a:t>”</a:t>
            </a:r>
          </a:p>
          <a:p>
            <a:pPr marL="514350" indent="-514350">
              <a:buAutoNum type="arabicPeriod"/>
            </a:pPr>
            <a:r>
              <a:rPr lang="en-US" sz="2400" dirty="0"/>
              <a:t>Easy sort (by </a:t>
            </a:r>
            <a:r>
              <a:rPr lang="en-US" sz="2400" dirty="0" err="1"/>
              <a:t>eventid</a:t>
            </a:r>
            <a:r>
              <a:rPr lang="en-US" sz="2400" dirty="0"/>
              <a:t>!)</a:t>
            </a:r>
          </a:p>
          <a:p>
            <a:pPr marL="514350" indent="-514350">
              <a:buAutoNum type="arabicPeriod"/>
            </a:pPr>
            <a:r>
              <a:rPr lang="en-US" sz="2400" dirty="0"/>
              <a:t>Easy filtering and sorting</a:t>
            </a:r>
          </a:p>
          <a:p>
            <a:pPr marL="514350" indent="-514350">
              <a:buAutoNum type="arabicPeriod"/>
            </a:pPr>
            <a:r>
              <a:rPr lang="en-US" sz="2400" dirty="0"/>
              <a:t>Easy column ordering\selection</a:t>
            </a:r>
          </a:p>
          <a:p>
            <a:pPr marL="514350" indent="-514350">
              <a:buAutoNum type="arabicPeriod"/>
            </a:pPr>
            <a:r>
              <a:rPr lang="en-US" sz="2400" dirty="0"/>
              <a:t>More records returned</a:t>
            </a:r>
          </a:p>
          <a:p>
            <a:pPr marL="514350" indent="-514350">
              <a:buAutoNum type="arabicPeriod"/>
            </a:pPr>
            <a:r>
              <a:rPr lang="en-US" sz="2400" dirty="0"/>
              <a:t>Easy to see columns coming from “</a:t>
            </a:r>
            <a:r>
              <a:rPr lang="en-US" sz="2400" dirty="0" err="1"/>
              <a:t>DynTagData</a:t>
            </a:r>
            <a:r>
              <a:rPr lang="en-US" sz="2400" dirty="0"/>
              <a:t>” </a:t>
            </a:r>
          </a:p>
          <a:p>
            <a:pPr marL="514350" indent="-514350">
              <a:buAutoNum type="arabicPeriod"/>
            </a:pPr>
            <a:r>
              <a:rPr lang="en-US" sz="2400" dirty="0"/>
              <a:t>Easy scrolling\view</a:t>
            </a:r>
          </a:p>
          <a:p>
            <a:pPr marL="514350" indent="-514350">
              <a:buAutoNum type="arabicPeriod"/>
            </a:pPr>
            <a:r>
              <a:rPr lang="en-US" sz="2400" dirty="0"/>
              <a:t>No timeouts</a:t>
            </a:r>
          </a:p>
          <a:p>
            <a:pPr marL="514350" indent="-514350">
              <a:buAutoNum type="arabicPeriod"/>
            </a:pPr>
            <a:r>
              <a:rPr lang="en-US" sz="2400" dirty="0"/>
              <a:t>No locking tables</a:t>
            </a:r>
          </a:p>
          <a:p>
            <a:endParaRPr lang="en-US" dirty="0"/>
          </a:p>
          <a:p>
            <a:pPr marL="0" indent="0">
              <a:buNone/>
            </a:pPr>
            <a:endParaRPr lang="en-US" sz="1600" dirty="0"/>
          </a:p>
          <a:p>
            <a:endParaRPr lang="en-US" dirty="0"/>
          </a:p>
        </p:txBody>
      </p:sp>
      <p:pic>
        <p:nvPicPr>
          <p:cNvPr id="4" name="Picture 2">
            <a:extLst>
              <a:ext uri="{FF2B5EF4-FFF2-40B4-BE49-F238E27FC236}">
                <a16:creationId xmlns:a16="http://schemas.microsoft.com/office/drawing/2014/main" id="{77ACBB00-60AB-49AE-9F3D-F04630592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00200"/>
            <a:ext cx="2095232"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432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228600" y="76200"/>
            <a:ext cx="8915400" cy="498610"/>
          </a:xfrm>
        </p:spPr>
        <p:txBody>
          <a:bodyPr/>
          <a:lstStyle/>
          <a:p>
            <a:r>
              <a:rPr lang="en-US" dirty="0"/>
              <a:t>Active Sync </a:t>
            </a:r>
            <a:r>
              <a:rPr lang="en-US" dirty="0" err="1"/>
              <a:t>DataFlow</a:t>
            </a:r>
            <a:endParaRPr lang="en-US" dirty="0"/>
          </a:p>
        </p:txBody>
      </p:sp>
      <p:grpSp>
        <p:nvGrpSpPr>
          <p:cNvPr id="4" name="Canvas 21515">
            <a:extLst>
              <a:ext uri="{FF2B5EF4-FFF2-40B4-BE49-F238E27FC236}">
                <a16:creationId xmlns:a16="http://schemas.microsoft.com/office/drawing/2014/main" id="{31F4AD09-C8A8-468F-82B4-A351CCBC0500}"/>
              </a:ext>
            </a:extLst>
          </p:cNvPr>
          <p:cNvGrpSpPr/>
          <p:nvPr/>
        </p:nvGrpSpPr>
        <p:grpSpPr>
          <a:xfrm>
            <a:off x="533400" y="1295400"/>
            <a:ext cx="8229599" cy="4953000"/>
            <a:chOff x="0" y="0"/>
            <a:chExt cx="6125210" cy="3094355"/>
          </a:xfrm>
        </p:grpSpPr>
        <p:sp>
          <p:nvSpPr>
            <p:cNvPr id="6" name="Rectangle 5">
              <a:extLst>
                <a:ext uri="{FF2B5EF4-FFF2-40B4-BE49-F238E27FC236}">
                  <a16:creationId xmlns:a16="http://schemas.microsoft.com/office/drawing/2014/main" id="{8B8DA68F-C46F-4D9E-804A-8BF626E3716D}"/>
                </a:ext>
              </a:extLst>
            </p:cNvPr>
            <p:cNvSpPr/>
            <p:nvPr/>
          </p:nvSpPr>
          <p:spPr>
            <a:xfrm>
              <a:off x="0" y="0"/>
              <a:ext cx="6125210" cy="3094355"/>
            </a:xfrm>
            <a:prstGeom prst="rect">
              <a:avLst/>
            </a:prstGeom>
          </p:spPr>
        </p:sp>
        <p:sp>
          <p:nvSpPr>
            <p:cNvPr id="8" name="Flowchart: Internal Storage 7">
              <a:extLst>
                <a:ext uri="{FF2B5EF4-FFF2-40B4-BE49-F238E27FC236}">
                  <a16:creationId xmlns:a16="http://schemas.microsoft.com/office/drawing/2014/main" id="{C2534469-BD12-4D79-8F24-6E3077ECEEDF}"/>
                </a:ext>
              </a:extLst>
            </p:cNvPr>
            <p:cNvSpPr/>
            <p:nvPr/>
          </p:nvSpPr>
          <p:spPr>
            <a:xfrm>
              <a:off x="1463" y="225127"/>
              <a:ext cx="1704246" cy="533400"/>
            </a:xfrm>
            <a:prstGeom prst="flowChartInternalStorage">
              <a:avLst/>
            </a:prstGeom>
            <a:solidFill>
              <a:schemeClr val="accent1"/>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0"/>
                </a:spcAft>
              </a:pPr>
              <a:r>
                <a:rPr lang="pl-PL" sz="1100" dirty="0">
                  <a:effectLst/>
                  <a:ea typeface="Calibri" panose="020F0502020204030204" pitchFamily="34" charset="0"/>
                  <a:cs typeface="Times New Roman" panose="02020603050405020304" pitchFamily="18" charset="0"/>
                </a:rPr>
                <a:t>DynSyncQueue</a:t>
              </a:r>
              <a:endParaRPr lang="en-US" sz="1100" dirty="0">
                <a:effectLst/>
                <a:ea typeface="Calibri" panose="020F0502020204030204" pitchFamily="34" charset="0"/>
                <a:cs typeface="Times New Roman" panose="02020603050405020304" pitchFamily="18" charset="0"/>
              </a:endParaRPr>
            </a:p>
            <a:p>
              <a:pPr marL="0" marR="0">
                <a:spcBef>
                  <a:spcPts val="0"/>
                </a:spcBef>
                <a:spcAft>
                  <a:spcPts val="0"/>
                </a:spcAft>
              </a:pPr>
              <a:r>
                <a:rPr lang="pl-PL" sz="1100" dirty="0">
                  <a:effectLst/>
                  <a:ea typeface="Calibri" panose="020F0502020204030204" pitchFamily="34" charset="0"/>
                  <a:cs typeface="Times New Roman" panose="02020603050405020304" pitchFamily="18" charset="0"/>
                </a:rPr>
                <a:t>DynSyncBatchInfo rmation</a:t>
              </a:r>
              <a:endParaRPr lang="en-US" sz="1100" dirty="0">
                <a:effectLst/>
                <a:ea typeface="Calibri" panose="020F0502020204030204" pitchFamily="34" charset="0"/>
                <a:cs typeface="Times New Roman" panose="02020603050405020304" pitchFamily="18" charset="0"/>
              </a:endParaRPr>
            </a:p>
          </p:txBody>
        </p:sp>
        <p:sp>
          <p:nvSpPr>
            <p:cNvPr id="9" name="Flowchart: Internal Storage 8">
              <a:extLst>
                <a:ext uri="{FF2B5EF4-FFF2-40B4-BE49-F238E27FC236}">
                  <a16:creationId xmlns:a16="http://schemas.microsoft.com/office/drawing/2014/main" id="{976C9F62-F15E-4997-9128-06B9DC7CB7EC}"/>
                </a:ext>
              </a:extLst>
            </p:cNvPr>
            <p:cNvSpPr/>
            <p:nvPr/>
          </p:nvSpPr>
          <p:spPr>
            <a:xfrm>
              <a:off x="1598871" y="1624917"/>
              <a:ext cx="1071058" cy="349250"/>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pl-PL" sz="1100">
                  <a:effectLst/>
                  <a:ea typeface="Calibri" panose="020F0502020204030204" pitchFamily="34"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sp>
          <p:nvSpPr>
            <p:cNvPr id="10" name="Flowchart: Internal Storage 9">
              <a:extLst>
                <a:ext uri="{FF2B5EF4-FFF2-40B4-BE49-F238E27FC236}">
                  <a16:creationId xmlns:a16="http://schemas.microsoft.com/office/drawing/2014/main" id="{B3A53240-92FA-45F7-B339-7FB3FB692C47}"/>
                </a:ext>
              </a:extLst>
            </p:cNvPr>
            <p:cNvSpPr/>
            <p:nvPr/>
          </p:nvSpPr>
          <p:spPr>
            <a:xfrm>
              <a:off x="1827465" y="1816536"/>
              <a:ext cx="1134563" cy="349250"/>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dirty="0" err="1">
                  <a:effectLst/>
                  <a:ea typeface="Calibri" panose="020F0502020204030204" pitchFamily="34" charset="0"/>
                  <a:cs typeface="Times New Roman" panose="02020603050405020304" pitchFamily="18" charset="0"/>
                </a:rPr>
                <a:t>DynTagData</a:t>
              </a:r>
              <a:r>
                <a:rPr lang="pl-PL" sz="1100" dirty="0">
                  <a:effectLst/>
                  <a:ea typeface="Calibri" panose="020F0502020204030204" pitchFamily="34" charset="0"/>
                  <a:cs typeface="Times New Roman" panose="02020603050405020304" pitchFamily="18" charset="0"/>
                </a:rPr>
                <a:t> </a:t>
              </a:r>
              <a:endParaRPr lang="en-US" sz="1100" dirty="0">
                <a:effectLst/>
                <a:ea typeface="Calibri" panose="020F0502020204030204" pitchFamily="34" charset="0"/>
                <a:cs typeface="Times New Roman" panose="02020603050405020304" pitchFamily="18" charset="0"/>
              </a:endParaRPr>
            </a:p>
          </p:txBody>
        </p:sp>
        <p:sp>
          <p:nvSpPr>
            <p:cNvPr id="11" name="Flowchart: Internal Storage 10">
              <a:extLst>
                <a:ext uri="{FF2B5EF4-FFF2-40B4-BE49-F238E27FC236}">
                  <a16:creationId xmlns:a16="http://schemas.microsoft.com/office/drawing/2014/main" id="{01B59A49-5B32-4FB4-A7DE-33AAD990D255}"/>
                </a:ext>
              </a:extLst>
            </p:cNvPr>
            <p:cNvSpPr/>
            <p:nvPr/>
          </p:nvSpPr>
          <p:spPr>
            <a:xfrm>
              <a:off x="2134400" y="2084010"/>
              <a:ext cx="1077300" cy="349250"/>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pl-PL" sz="1100" dirty="0">
                  <a:effectLst/>
                  <a:ea typeface="Calibri" panose="020F0502020204030204" pitchFamily="34" charset="0"/>
                  <a:cs typeface="Times New Roman" panose="02020603050405020304" pitchFamily="18" charset="0"/>
                </a:rPr>
                <a:t> DynEvent</a:t>
              </a:r>
              <a:endParaRPr lang="en-US" sz="1100" dirty="0">
                <a:effectLst/>
                <a:ea typeface="Calibri" panose="020F0502020204030204" pitchFamily="34" charset="0"/>
                <a:cs typeface="Times New Roman" panose="02020603050405020304" pitchFamily="18" charset="0"/>
              </a:endParaRPr>
            </a:p>
          </p:txBody>
        </p:sp>
        <p:sp>
          <p:nvSpPr>
            <p:cNvPr id="12" name="Arrow: Right 11">
              <a:extLst>
                <a:ext uri="{FF2B5EF4-FFF2-40B4-BE49-F238E27FC236}">
                  <a16:creationId xmlns:a16="http://schemas.microsoft.com/office/drawing/2014/main" id="{7B930EA3-F6A4-4AD8-8D04-9D1A04937CBA}"/>
                </a:ext>
              </a:extLst>
            </p:cNvPr>
            <p:cNvSpPr/>
            <p:nvPr/>
          </p:nvSpPr>
          <p:spPr>
            <a:xfrm rot="5400000">
              <a:off x="496789" y="933721"/>
              <a:ext cx="419507" cy="174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Flowchart: Internal Storage 12">
              <a:extLst>
                <a:ext uri="{FF2B5EF4-FFF2-40B4-BE49-F238E27FC236}">
                  <a16:creationId xmlns:a16="http://schemas.microsoft.com/office/drawing/2014/main" id="{29D08DF5-261F-431C-9781-4E22DAFBD42E}"/>
                </a:ext>
              </a:extLst>
            </p:cNvPr>
            <p:cNvSpPr/>
            <p:nvPr/>
          </p:nvSpPr>
          <p:spPr>
            <a:xfrm>
              <a:off x="836491" y="961975"/>
              <a:ext cx="2645263" cy="511660"/>
            </a:xfrm>
            <a:prstGeom prst="flowChartInternalStorage">
              <a:avLst/>
            </a:prstGeom>
            <a:solidFill>
              <a:schemeClr val="accent1"/>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0"/>
                </a:spcAft>
              </a:pPr>
              <a:r>
                <a:rPr lang="pl-PL" sz="1100" dirty="0">
                  <a:effectLst/>
                  <a:ea typeface="Calibri" panose="020F0502020204030204" pitchFamily="34" charset="0"/>
                  <a:cs typeface="Times New Roman" panose="02020603050405020304" pitchFamily="18" charset="0"/>
                </a:rPr>
                <a:t>DynOpenAlarmsSyncBatchDetails</a:t>
              </a:r>
              <a:endParaRPr lang="en-US" sz="1100" dirty="0">
                <a:effectLst/>
                <a:ea typeface="Calibri" panose="020F0502020204030204" pitchFamily="34" charset="0"/>
                <a:cs typeface="Times New Roman" panose="02020603050405020304" pitchFamily="18" charset="0"/>
              </a:endParaRPr>
            </a:p>
            <a:p>
              <a:pPr marL="0" marR="0">
                <a:spcBef>
                  <a:spcPts val="0"/>
                </a:spcBef>
                <a:spcAft>
                  <a:spcPts val="0"/>
                </a:spcAft>
              </a:pPr>
              <a:r>
                <a:rPr lang="pl-PL" sz="1100" dirty="0">
                  <a:effectLst/>
                  <a:ea typeface="Calibri" panose="020F0502020204030204" pitchFamily="34" charset="0"/>
                  <a:cs typeface="Times New Roman" panose="02020603050405020304" pitchFamily="18" charset="0"/>
                </a:rPr>
                <a:t>DynOpenAlarmsSyncBatchStatistics</a:t>
              </a:r>
              <a:endParaRPr lang="en-US" sz="1100" dirty="0">
                <a:effectLst/>
                <a:ea typeface="Calibri" panose="020F0502020204030204" pitchFamily="34" charset="0"/>
                <a:cs typeface="Times New Roman" panose="02020603050405020304" pitchFamily="18" charset="0"/>
              </a:endParaRPr>
            </a:p>
            <a:p>
              <a:pPr marL="0" marR="0">
                <a:spcBef>
                  <a:spcPts val="0"/>
                </a:spcBef>
                <a:spcAft>
                  <a:spcPts val="0"/>
                </a:spcAft>
              </a:pPr>
              <a:r>
                <a:rPr lang="pl-PL" sz="1100" dirty="0">
                  <a:effectLst/>
                  <a:ea typeface="Calibri" panose="020F0502020204030204" pitchFamily="34" charset="0"/>
                  <a:cs typeface="Times New Roman" panose="02020603050405020304" pitchFamily="18" charset="0"/>
                </a:rPr>
                <a:t> </a:t>
              </a:r>
              <a:endParaRPr lang="en-US" sz="1100" dirty="0">
                <a:effectLst/>
                <a:ea typeface="Calibri" panose="020F0502020204030204" pitchFamily="34" charset="0"/>
                <a:cs typeface="Times New Roman" panose="02020603050405020304" pitchFamily="18" charset="0"/>
              </a:endParaRPr>
            </a:p>
          </p:txBody>
        </p:sp>
        <p:sp>
          <p:nvSpPr>
            <p:cNvPr id="14" name="Rectangle: Folded Corner 13">
              <a:extLst>
                <a:ext uri="{FF2B5EF4-FFF2-40B4-BE49-F238E27FC236}">
                  <a16:creationId xmlns:a16="http://schemas.microsoft.com/office/drawing/2014/main" id="{22550204-371E-4792-8560-B12280C31ABA}"/>
                </a:ext>
              </a:extLst>
            </p:cNvPr>
            <p:cNvSpPr/>
            <p:nvPr/>
          </p:nvSpPr>
          <p:spPr>
            <a:xfrm>
              <a:off x="2517491" y="2528471"/>
              <a:ext cx="1019908" cy="496084"/>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pl-PL" sz="1100" dirty="0">
                  <a:effectLst/>
                  <a:ea typeface="Calibri" panose="020F0502020204030204" pitchFamily="34" charset="0"/>
                  <a:cs typeface="Times New Roman" panose="02020603050405020304" pitchFamily="18" charset="0"/>
                </a:rPr>
                <a:t>Cache Files</a:t>
              </a:r>
              <a:endParaRPr lang="en-US" sz="1100" dirty="0">
                <a:effectLst/>
                <a:ea typeface="Calibri" panose="020F0502020204030204" pitchFamily="34" charset="0"/>
                <a:cs typeface="Times New Roman" panose="02020603050405020304" pitchFamily="18" charset="0"/>
              </a:endParaRPr>
            </a:p>
          </p:txBody>
        </p:sp>
        <p:sp>
          <p:nvSpPr>
            <p:cNvPr id="15" name="Arrow: Right 14">
              <a:extLst>
                <a:ext uri="{FF2B5EF4-FFF2-40B4-BE49-F238E27FC236}">
                  <a16:creationId xmlns:a16="http://schemas.microsoft.com/office/drawing/2014/main" id="{3B5F375E-ED65-41CF-B4C9-DAC6A78053AE}"/>
                </a:ext>
              </a:extLst>
            </p:cNvPr>
            <p:cNvSpPr/>
            <p:nvPr/>
          </p:nvSpPr>
          <p:spPr>
            <a:xfrm rot="5400000">
              <a:off x="1101367" y="1664075"/>
              <a:ext cx="480129" cy="1423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Arrow: Right 15">
              <a:extLst>
                <a:ext uri="{FF2B5EF4-FFF2-40B4-BE49-F238E27FC236}">
                  <a16:creationId xmlns:a16="http://schemas.microsoft.com/office/drawing/2014/main" id="{332CD4D8-3D60-4B9E-8130-4E8739510357}"/>
                </a:ext>
              </a:extLst>
            </p:cNvPr>
            <p:cNvSpPr/>
            <p:nvPr/>
          </p:nvSpPr>
          <p:spPr>
            <a:xfrm rot="5400000">
              <a:off x="2094159" y="2613545"/>
              <a:ext cx="462629" cy="1670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Text Box 21523">
              <a:extLst>
                <a:ext uri="{FF2B5EF4-FFF2-40B4-BE49-F238E27FC236}">
                  <a16:creationId xmlns:a16="http://schemas.microsoft.com/office/drawing/2014/main" id="{38137F1C-7B3D-4779-B30D-328373D1DE2E}"/>
                </a:ext>
              </a:extLst>
            </p:cNvPr>
            <p:cNvSpPr txBox="1"/>
            <p:nvPr/>
          </p:nvSpPr>
          <p:spPr>
            <a:xfrm>
              <a:off x="3681046" y="1033919"/>
              <a:ext cx="1981109" cy="257908"/>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pl-PL" sz="1100" dirty="0">
                  <a:effectLst/>
                  <a:latin typeface="Calibri" panose="020F0502020204030204" pitchFamily="34" charset="0"/>
                  <a:ea typeface="Calibri" panose="020F0502020204030204" pitchFamily="34" charset="0"/>
                  <a:cs typeface="Times New Roman" panose="02020603050405020304" pitchFamily="18" charset="0"/>
                </a:rPr>
                <a:t>Active Alarm Sync Status Report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 Box 21523">
              <a:extLst>
                <a:ext uri="{FF2B5EF4-FFF2-40B4-BE49-F238E27FC236}">
                  <a16:creationId xmlns:a16="http://schemas.microsoft.com/office/drawing/2014/main" id="{5F7290C7-DCD6-4E1A-9523-ED6C2CF0097B}"/>
                </a:ext>
              </a:extLst>
            </p:cNvPr>
            <p:cNvSpPr txBox="1"/>
            <p:nvPr/>
          </p:nvSpPr>
          <p:spPr>
            <a:xfrm>
              <a:off x="3657601" y="1887914"/>
              <a:ext cx="2049398" cy="25781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pl-PL" sz="1100" dirty="0">
                  <a:effectLst/>
                  <a:latin typeface="Calibri" panose="020F0502020204030204" pitchFamily="34" charset="0"/>
                  <a:ea typeface="Calibri" panose="020F0502020204030204" pitchFamily="34" charset="0"/>
                  <a:cs typeface="Times New Roman" panose="02020603050405020304" pitchFamily="18" charset="0"/>
                </a:rPr>
                <a:t>Event Investigator Report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21523">
              <a:extLst>
                <a:ext uri="{FF2B5EF4-FFF2-40B4-BE49-F238E27FC236}">
                  <a16:creationId xmlns:a16="http://schemas.microsoft.com/office/drawing/2014/main" id="{B1ADF2F8-DA80-4D15-B0B3-584D9A21B10B}"/>
                </a:ext>
              </a:extLst>
            </p:cNvPr>
            <p:cNvSpPr txBox="1"/>
            <p:nvPr/>
          </p:nvSpPr>
          <p:spPr>
            <a:xfrm>
              <a:off x="3645877" y="2606426"/>
              <a:ext cx="2072209" cy="2571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pl-PL" sz="1100" dirty="0">
                  <a:effectLst/>
                  <a:latin typeface="Calibri" panose="020F0502020204030204" pitchFamily="34" charset="0"/>
                  <a:ea typeface="Calibri" panose="020F0502020204030204" pitchFamily="34" charset="0"/>
                  <a:cs typeface="Times New Roman" panose="02020603050405020304" pitchFamily="18" charset="0"/>
                </a:rPr>
                <a:t>Active Alarms Report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3" name="Content Placeholder 2">
            <a:extLst>
              <a:ext uri="{FF2B5EF4-FFF2-40B4-BE49-F238E27FC236}">
                <a16:creationId xmlns:a16="http://schemas.microsoft.com/office/drawing/2014/main" id="{1C9D0110-A4EB-451B-9A97-533FD33A0691}"/>
              </a:ext>
            </a:extLst>
          </p:cNvPr>
          <p:cNvSpPr>
            <a:spLocks noGrp="1"/>
          </p:cNvSpPr>
          <p:nvPr>
            <p:ph sz="quarter" idx="12"/>
          </p:nvPr>
        </p:nvSpPr>
        <p:spPr>
          <a:xfrm>
            <a:off x="228600" y="990600"/>
            <a:ext cx="8405601" cy="538341"/>
          </a:xfrm>
        </p:spPr>
        <p:txBody>
          <a:bodyPr/>
          <a:lstStyle/>
          <a:p>
            <a:pPr marL="0" indent="0">
              <a:buNone/>
            </a:pPr>
            <a:r>
              <a:rPr lang="en-US" dirty="0"/>
              <a:t>In “very rare” scenarios any “move” below may fail</a:t>
            </a:r>
          </a:p>
        </p:txBody>
      </p:sp>
    </p:spTree>
    <p:extLst>
      <p:ext uri="{BB962C8B-B14F-4D97-AF65-F5344CB8AC3E}">
        <p14:creationId xmlns:p14="http://schemas.microsoft.com/office/powerpoint/2010/main" val="14775050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Builder</a:t>
            </a:r>
          </a:p>
        </p:txBody>
      </p:sp>
      <p:sp>
        <p:nvSpPr>
          <p:cNvPr id="7" name="Rectangle 6"/>
          <p:cNvSpPr/>
          <p:nvPr/>
        </p:nvSpPr>
        <p:spPr>
          <a:xfrm>
            <a:off x="152035" y="685800"/>
            <a:ext cx="3886565" cy="1938992"/>
          </a:xfrm>
          <a:prstGeom prst="rect">
            <a:avLst/>
          </a:prstGeom>
        </p:spPr>
        <p:txBody>
          <a:bodyPr wrap="square">
            <a:spAutoFit/>
          </a:bodyPr>
          <a:lstStyle/>
          <a:p>
            <a:r>
              <a:rPr lang="en-US" dirty="0"/>
              <a:t>ESVT provides the following categories</a:t>
            </a:r>
            <a:endParaRPr lang="en-US" dirty="0">
              <a:sym typeface="Wingdings" panose="05000000000000000000" pitchFamily="2" charset="2"/>
            </a:endParaRPr>
          </a:p>
          <a:p>
            <a:endParaRPr lang="en-US" dirty="0"/>
          </a:p>
          <a:p>
            <a:r>
              <a:rPr lang="en-US" dirty="0"/>
              <a:t>First digit in rule name will denote category</a:t>
            </a:r>
          </a:p>
        </p:txBody>
      </p:sp>
      <p:pic>
        <p:nvPicPr>
          <p:cNvPr id="3" name="Picture 2">
            <a:extLst>
              <a:ext uri="{FF2B5EF4-FFF2-40B4-BE49-F238E27FC236}">
                <a16:creationId xmlns:a16="http://schemas.microsoft.com/office/drawing/2014/main" id="{D14B3C83-6BA3-4604-B343-A44CE4459EF0}"/>
              </a:ext>
            </a:extLst>
          </p:cNvPr>
          <p:cNvPicPr>
            <a:picLocks noChangeAspect="1"/>
          </p:cNvPicPr>
          <p:nvPr/>
        </p:nvPicPr>
        <p:blipFill>
          <a:blip r:embed="rId2"/>
          <a:stretch>
            <a:fillRect/>
          </a:stretch>
        </p:blipFill>
        <p:spPr>
          <a:xfrm>
            <a:off x="5410201" y="838200"/>
            <a:ext cx="3343064" cy="5486400"/>
          </a:xfrm>
          <a:prstGeom prst="rect">
            <a:avLst/>
          </a:prstGeom>
        </p:spPr>
      </p:pic>
      <p:pic>
        <p:nvPicPr>
          <p:cNvPr id="4" name="Picture 3">
            <a:extLst>
              <a:ext uri="{FF2B5EF4-FFF2-40B4-BE49-F238E27FC236}">
                <a16:creationId xmlns:a16="http://schemas.microsoft.com/office/drawing/2014/main" id="{B9778798-0AEE-41F8-BB27-FC6BBA18B01F}"/>
              </a:ext>
            </a:extLst>
          </p:cNvPr>
          <p:cNvPicPr>
            <a:picLocks noChangeAspect="1"/>
          </p:cNvPicPr>
          <p:nvPr/>
        </p:nvPicPr>
        <p:blipFill>
          <a:blip r:embed="rId3"/>
          <a:stretch>
            <a:fillRect/>
          </a:stretch>
        </p:blipFill>
        <p:spPr>
          <a:xfrm>
            <a:off x="228600" y="3429000"/>
            <a:ext cx="4777438" cy="2088002"/>
          </a:xfrm>
          <a:prstGeom prst="rect">
            <a:avLst/>
          </a:prstGeom>
        </p:spPr>
      </p:pic>
      <p:cxnSp>
        <p:nvCxnSpPr>
          <p:cNvPr id="6" name="Straight Arrow Connector 5">
            <a:extLst>
              <a:ext uri="{FF2B5EF4-FFF2-40B4-BE49-F238E27FC236}">
                <a16:creationId xmlns:a16="http://schemas.microsoft.com/office/drawing/2014/main" id="{90006071-CE1D-4FA6-AEEF-5D65D7638C6E}"/>
              </a:ext>
            </a:extLst>
          </p:cNvPr>
          <p:cNvCxnSpPr>
            <a:cxnSpLocks/>
          </p:cNvCxnSpPr>
          <p:nvPr/>
        </p:nvCxnSpPr>
        <p:spPr>
          <a:xfrm>
            <a:off x="1905000" y="1340998"/>
            <a:ext cx="3200402" cy="37885"/>
          </a:xfrm>
          <a:prstGeom prst="straightConnector1">
            <a:avLst/>
          </a:prstGeom>
          <a:ln w="5715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CE73D6F3-A073-459F-B564-F16212E85B09}"/>
              </a:ext>
            </a:extLst>
          </p:cNvPr>
          <p:cNvCxnSpPr>
            <a:cxnSpLocks/>
          </p:cNvCxnSpPr>
          <p:nvPr/>
        </p:nvCxnSpPr>
        <p:spPr>
          <a:xfrm flipH="1">
            <a:off x="534592" y="2343928"/>
            <a:ext cx="2056207" cy="1313672"/>
          </a:xfrm>
          <a:prstGeom prst="straightConnector1">
            <a:avLst/>
          </a:prstGeom>
          <a:ln w="5715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23282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Example “Magic query” output</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498068"/>
          </a:xfrm>
        </p:spPr>
        <p:txBody>
          <a:bodyPr/>
          <a:lstStyle/>
          <a:p>
            <a:pPr marL="0" indent="0">
              <a:buNone/>
            </a:pPr>
            <a:endParaRPr lang="en-US" dirty="0"/>
          </a:p>
          <a:p>
            <a:endParaRPr lang="en-US" dirty="0"/>
          </a:p>
          <a:p>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F83840DD-35AE-4B61-B396-CBF6B2100DA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67216" y="2315026"/>
            <a:ext cx="8355476" cy="3581400"/>
          </a:xfrm>
          <a:prstGeom prst="rect">
            <a:avLst/>
          </a:prstGeom>
          <a:noFill/>
          <a:ln>
            <a:noFill/>
          </a:ln>
        </p:spPr>
      </p:pic>
      <p:sp>
        <p:nvSpPr>
          <p:cNvPr id="8" name="TextBox 7">
            <a:extLst>
              <a:ext uri="{FF2B5EF4-FFF2-40B4-BE49-F238E27FC236}">
                <a16:creationId xmlns:a16="http://schemas.microsoft.com/office/drawing/2014/main" id="{4DD1F859-2B36-4217-86B5-721EEF2A2338}"/>
              </a:ext>
            </a:extLst>
          </p:cNvPr>
          <p:cNvSpPr txBox="1"/>
          <p:nvPr/>
        </p:nvSpPr>
        <p:spPr>
          <a:xfrm>
            <a:off x="142824" y="862975"/>
            <a:ext cx="7781975" cy="1200329"/>
          </a:xfrm>
          <a:prstGeom prst="rect">
            <a:avLst/>
          </a:prstGeom>
          <a:noFill/>
        </p:spPr>
        <p:txBody>
          <a:bodyPr wrap="square">
            <a:spAutoFit/>
          </a:bodyPr>
          <a:lstStyle/>
          <a:p>
            <a:pPr marL="182880" lvl="1" indent="0">
              <a:buNone/>
            </a:pPr>
            <a:r>
              <a:rPr lang="en-US" dirty="0">
                <a:solidFill>
                  <a:schemeClr val="bg2"/>
                </a:solidFill>
              </a:rPr>
              <a:t>Maybe execute a Magic Query for some items in the list, ensure it is </a:t>
            </a:r>
            <a:r>
              <a:rPr lang="en-US" b="1" u="sng" dirty="0">
                <a:solidFill>
                  <a:schemeClr val="bg2"/>
                </a:solidFill>
              </a:rPr>
              <a:t>reasonable+</a:t>
            </a:r>
          </a:p>
          <a:p>
            <a:pPr marL="182880" lvl="1" indent="0">
              <a:buNone/>
            </a:pPr>
            <a:r>
              <a:rPr lang="en-US" dirty="0">
                <a:solidFill>
                  <a:schemeClr val="bg2"/>
                </a:solidFill>
              </a:rPr>
              <a:t>And </a:t>
            </a:r>
            <a:r>
              <a:rPr lang="en-US" b="1" u="sng" dirty="0">
                <a:solidFill>
                  <a:schemeClr val="bg2"/>
                </a:solidFill>
              </a:rPr>
              <a:t>verify Active Sync report matches </a:t>
            </a:r>
            <a:r>
              <a:rPr lang="en-US" dirty="0">
                <a:solidFill>
                  <a:schemeClr val="bg2"/>
                </a:solidFill>
              </a:rPr>
              <a:t>the change.</a:t>
            </a:r>
          </a:p>
        </p:txBody>
      </p:sp>
    </p:spTree>
    <p:extLst>
      <p:ext uri="{BB962C8B-B14F-4D97-AF65-F5344CB8AC3E}">
        <p14:creationId xmlns:p14="http://schemas.microsoft.com/office/powerpoint/2010/main" val="8285503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957FB-7D2F-44AE-8842-7F0AA2EF685E}"/>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F0055200-9318-4E8B-8BCD-04FA80DB57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7406442" cy="1350177"/>
          </a:xfrm>
          <a:prstGeom prst="rect">
            <a:avLst/>
          </a:prstGeom>
          <a:noFill/>
          <a:ln>
            <a:noFill/>
          </a:ln>
        </p:spPr>
      </p:pic>
    </p:spTree>
    <p:extLst>
      <p:ext uri="{BB962C8B-B14F-4D97-AF65-F5344CB8AC3E}">
        <p14:creationId xmlns:p14="http://schemas.microsoft.com/office/powerpoint/2010/main" val="33498255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Example “Magic query” output</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5498068"/>
          </a:xfrm>
        </p:spPr>
        <p:txBody>
          <a:bodyPr/>
          <a:lstStyle/>
          <a:p>
            <a:pPr marL="0" indent="0">
              <a:buNone/>
            </a:pPr>
            <a:endParaRPr lang="en-US" dirty="0"/>
          </a:p>
          <a:p>
            <a:endParaRPr lang="en-US" dirty="0"/>
          </a:p>
          <a:p>
            <a:endParaRPr lang="en-US" dirty="0"/>
          </a:p>
          <a:p>
            <a:pPr marL="0" indent="0">
              <a:buNone/>
            </a:pPr>
            <a:endParaRPr lang="en-US" sz="1600" dirty="0"/>
          </a:p>
          <a:p>
            <a:endParaRPr lang="en-US" dirty="0"/>
          </a:p>
        </p:txBody>
      </p:sp>
      <p:pic>
        <p:nvPicPr>
          <p:cNvPr id="6" name="Picture 5">
            <a:extLst>
              <a:ext uri="{FF2B5EF4-FFF2-40B4-BE49-F238E27FC236}">
                <a16:creationId xmlns:a16="http://schemas.microsoft.com/office/drawing/2014/main" id="{ED1AB9F0-DCE7-48CB-A39D-28C1C0A4205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52400" y="914400"/>
            <a:ext cx="8609568" cy="1981200"/>
          </a:xfrm>
          <a:prstGeom prst="rect">
            <a:avLst/>
          </a:prstGeom>
          <a:noFill/>
          <a:ln>
            <a:noFill/>
          </a:ln>
        </p:spPr>
      </p:pic>
    </p:spTree>
    <p:extLst>
      <p:ext uri="{BB962C8B-B14F-4D97-AF65-F5344CB8AC3E}">
        <p14:creationId xmlns:p14="http://schemas.microsoft.com/office/powerpoint/2010/main" val="190816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ChangeArrowheads="1"/>
          </p:cNvSpPr>
          <p:nvPr/>
        </p:nvSpPr>
        <p:spPr bwMode="auto">
          <a:xfrm>
            <a:off x="685800" y="1087438"/>
            <a:ext cx="7772400" cy="1905000"/>
          </a:xfrm>
          <a:prstGeom prst="rect">
            <a:avLst/>
          </a:prstGeom>
          <a:noFill/>
          <a:ln w="12700">
            <a:noFill/>
            <a:miter lim="800000"/>
            <a:headEnd/>
            <a:tailEnd/>
          </a:ln>
        </p:spPr>
        <p:txBody>
          <a:bodyPr lIns="90488" tIns="44450" rIns="90488" bIns="44450"/>
          <a:lstStyle/>
          <a:p>
            <a:pPr algn="ctr"/>
            <a:endParaRPr lang="en-US" sz="4400" dirty="0">
              <a:solidFill>
                <a:schemeClr val="tx2"/>
              </a:solidFill>
            </a:endParaRPr>
          </a:p>
        </p:txBody>
      </p:sp>
      <p:sp>
        <p:nvSpPr>
          <p:cNvPr id="4100" name="Rectangle 5"/>
          <p:cNvSpPr>
            <a:spLocks noChangeArrowheads="1"/>
          </p:cNvSpPr>
          <p:nvPr/>
        </p:nvSpPr>
        <p:spPr bwMode="auto">
          <a:xfrm>
            <a:off x="1827212" y="5770562"/>
            <a:ext cx="5410200" cy="1220787"/>
          </a:xfrm>
          <a:prstGeom prst="rect">
            <a:avLst/>
          </a:prstGeom>
          <a:noFill/>
          <a:ln w="12700">
            <a:noFill/>
            <a:miter lim="800000"/>
            <a:headEnd/>
            <a:tailEnd/>
          </a:ln>
        </p:spPr>
        <p:txBody>
          <a:bodyPr lIns="90488" tIns="44450" rIns="90488" bIns="44450"/>
          <a:lstStyle/>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By</a:t>
            </a:r>
          </a:p>
          <a:p>
            <a:pPr marL="342900" indent="-342900" algn="ctr">
              <a:spcBef>
                <a:spcPct val="20000"/>
              </a:spcBef>
            </a:pPr>
            <a:r>
              <a:rPr lang="en-US" sz="2800" dirty="0">
                <a:solidFill>
                  <a:schemeClr val="bg2"/>
                </a:solidFill>
                <a:latin typeface="Arial" panose="020B0604020202020204" pitchFamily="34" charset="0"/>
                <a:cs typeface="Arial" panose="020B0604020202020204" pitchFamily="34" charset="0"/>
              </a:rPr>
              <a:t>Barbara Schubert</a:t>
            </a:r>
          </a:p>
        </p:txBody>
      </p:sp>
      <p:sp>
        <p:nvSpPr>
          <p:cNvPr id="6" name="Rectangle 3"/>
          <p:cNvSpPr>
            <a:spLocks noChangeArrowheads="1"/>
          </p:cNvSpPr>
          <p:nvPr/>
        </p:nvSpPr>
        <p:spPr bwMode="auto">
          <a:xfrm>
            <a:off x="533400" y="762000"/>
            <a:ext cx="7997825" cy="1447800"/>
          </a:xfrm>
          <a:prstGeom prst="rect">
            <a:avLst/>
          </a:prstGeom>
          <a:noFill/>
          <a:ln w="12700">
            <a:noFill/>
            <a:miter lim="800000"/>
            <a:headEnd/>
            <a:tailEnd/>
          </a:ln>
        </p:spPr>
        <p:txBody>
          <a:bodyPr lIns="90488" tIns="44450" rIns="90488" bIns="44450"/>
          <a:lstStyle/>
          <a:p>
            <a:pPr algn="ctr"/>
            <a:endParaRPr lang="en-US" sz="4400" b="1" dirty="0">
              <a:solidFill>
                <a:schemeClr val="tx2"/>
              </a:solidFill>
              <a:latin typeface="Arial" panose="020B0604020202020204" pitchFamily="34" charset="0"/>
              <a:cs typeface="Arial" panose="020B0604020202020204" pitchFamily="34" charset="0"/>
            </a:endParaRPr>
          </a:p>
        </p:txBody>
      </p:sp>
      <p:sp>
        <p:nvSpPr>
          <p:cNvPr id="5" name="Title 4">
            <a:extLst>
              <a:ext uri="{FF2B5EF4-FFF2-40B4-BE49-F238E27FC236}">
                <a16:creationId xmlns:a16="http://schemas.microsoft.com/office/drawing/2014/main" id="{FF2364C8-423F-46FA-95D6-664C2353B7C5}"/>
              </a:ext>
            </a:extLst>
          </p:cNvPr>
          <p:cNvSpPr>
            <a:spLocks noGrp="1"/>
          </p:cNvSpPr>
          <p:nvPr>
            <p:ph type="title"/>
          </p:nvPr>
        </p:nvSpPr>
        <p:spPr>
          <a:xfrm>
            <a:off x="0" y="0"/>
            <a:ext cx="9144000" cy="4495800"/>
          </a:xfrm>
        </p:spPr>
        <p:txBody>
          <a:bodyPr/>
          <a:lstStyle/>
          <a:p>
            <a:pPr marL="0" marR="0">
              <a:spcBef>
                <a:spcPts val="0"/>
              </a:spcBef>
              <a:spcAft>
                <a:spcPts val="0"/>
              </a:spcAft>
            </a:pPr>
            <a:r>
              <a:rPr lang="en-US" sz="4400" dirty="0"/>
              <a:t>Why Alternative Sync?</a:t>
            </a:r>
            <a:br>
              <a:rPr lang="en-US" sz="4400" dirty="0"/>
            </a:br>
            <a:r>
              <a:rPr lang="en-US" sz="1800" b="1" dirty="0">
                <a:effectLst/>
                <a:latin typeface="Calibri" panose="020F0502020204030204" pitchFamily="34" charset="0"/>
                <a:ea typeface="Calibri" panose="020F0502020204030204" pitchFamily="34" charset="0"/>
                <a:cs typeface="Times New Roman" panose="02020603050405020304" pitchFamily="18" charset="0"/>
              </a:rPr>
              <a:t>It is very simple functionality (one script) developed at the beginning of 2021. All short instructions are inside this one script.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br>
              <a:rPr lang="en-US" sz="1800" b="1"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Calibri" panose="020F0502020204030204" pitchFamily="34" charset="0"/>
                <a:ea typeface="Calibri" panose="020F0502020204030204" pitchFamily="34" charset="0"/>
                <a:cs typeface="Times New Roman" panose="02020603050405020304" pitchFamily="18" charset="0"/>
              </a:rPr>
              <a:t>The extremely detailed internal manual </a:t>
            </a:r>
            <a:r>
              <a:rPr lang="en-US" sz="1800" b="1">
                <a:effectLst/>
                <a:latin typeface="Calibri" panose="020F0502020204030204" pitchFamily="34" charset="0"/>
                <a:ea typeface="Calibri" panose="020F0502020204030204" pitchFamily="34" charset="0"/>
                <a:cs typeface="Times New Roman" panose="02020603050405020304" pitchFamily="18" charset="0"/>
              </a:rPr>
              <a:t>was also created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in 2022 </a:t>
            </a: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only</a:t>
            </a:r>
            <a:r>
              <a:rPr lang="en-US" sz="1800" b="1" dirty="0">
                <a:effectLst/>
                <a:latin typeface="Calibri" panose="020F0502020204030204" pitchFamily="34" charset="0"/>
                <a:ea typeface="Calibri" panose="020F0502020204030204" pitchFamily="34" charset="0"/>
                <a:cs typeface="Times New Roman" panose="02020603050405020304" pitchFamily="18" charset="0"/>
              </a:rPr>
              <a:t> to address still strong un-comfortability with new functionality to hopefully speed up the general deployment.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sz="4400" dirty="0"/>
          </a:p>
        </p:txBody>
      </p:sp>
      <p:pic>
        <p:nvPicPr>
          <p:cNvPr id="7" name="Picture 6">
            <a:extLst>
              <a:ext uri="{FF2B5EF4-FFF2-40B4-BE49-F238E27FC236}">
                <a16:creationId xmlns:a16="http://schemas.microsoft.com/office/drawing/2014/main" id="{ACA7FA4B-DB28-4F32-9139-A8F42F14A1E8}"/>
              </a:ext>
            </a:extLst>
          </p:cNvPr>
          <p:cNvPicPr>
            <a:picLocks noChangeAspect="1"/>
          </p:cNvPicPr>
          <p:nvPr/>
        </p:nvPicPr>
        <p:blipFill>
          <a:blip r:embed="rId3"/>
          <a:stretch>
            <a:fillRect/>
          </a:stretch>
        </p:blipFill>
        <p:spPr>
          <a:xfrm>
            <a:off x="2123302" y="2879627"/>
            <a:ext cx="5002753" cy="2890935"/>
          </a:xfrm>
          <a:prstGeom prst="rect">
            <a:avLst/>
          </a:prstGeom>
        </p:spPr>
      </p:pic>
      <p:sp>
        <p:nvSpPr>
          <p:cNvPr id="8" name="Oval 7">
            <a:extLst>
              <a:ext uri="{FF2B5EF4-FFF2-40B4-BE49-F238E27FC236}">
                <a16:creationId xmlns:a16="http://schemas.microsoft.com/office/drawing/2014/main" id="{91B78228-4CC3-4C69-8173-BE8C9D96A031}"/>
              </a:ext>
            </a:extLst>
          </p:cNvPr>
          <p:cNvSpPr/>
          <p:nvPr/>
        </p:nvSpPr>
        <p:spPr>
          <a:xfrm>
            <a:off x="5310479" y="2253350"/>
            <a:ext cx="1980517" cy="3766450"/>
          </a:xfrm>
          <a:prstGeom prst="ellipse">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Tree>
    <p:extLst>
      <p:ext uri="{BB962C8B-B14F-4D97-AF65-F5344CB8AC3E}">
        <p14:creationId xmlns:p14="http://schemas.microsoft.com/office/powerpoint/2010/main" val="41197306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Explosion 1 47"/>
          <p:cNvSpPr/>
          <p:nvPr/>
        </p:nvSpPr>
        <p:spPr bwMode="auto">
          <a:xfrm>
            <a:off x="4079606" y="2859008"/>
            <a:ext cx="1447800" cy="1828800"/>
          </a:xfrm>
          <a:prstGeom prst="irregularSeal1">
            <a:avLst/>
          </a:prstGeom>
          <a:solidFill>
            <a:schemeClr val="accent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
        <p:nvSpPr>
          <p:cNvPr id="49" name="Explosion 1 48"/>
          <p:cNvSpPr/>
          <p:nvPr/>
        </p:nvSpPr>
        <p:spPr bwMode="auto">
          <a:xfrm>
            <a:off x="3227902" y="4081074"/>
            <a:ext cx="1447800" cy="1828800"/>
          </a:xfrm>
          <a:prstGeom prst="irregularSeal1">
            <a:avLst/>
          </a:prstGeom>
          <a:solidFill>
            <a:schemeClr val="accent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pic>
        <p:nvPicPr>
          <p:cNvPr id="66" name="Picture 8" descr="https://encrypted-tbn1.gstatic.com/images?q=tbn:ANd9GcQnOvsYatFCNTP-u-NE00C1vE-MrLpa8FVHey3wCm7WROlXaOkaZg8HwA">
            <a:hlinkClick r:id="rId3"/>
          </p:cNvPr>
          <p:cNvPicPr>
            <a:picLocks noChangeAspect="1" noChangeArrowheads="1"/>
          </p:cNvPicPr>
          <p:nvPr/>
        </p:nvPicPr>
        <p:blipFill>
          <a:blip r:embed="rId4" cstate="print"/>
          <a:srcRect/>
          <a:stretch>
            <a:fillRect/>
          </a:stretch>
        </p:blipFill>
        <p:spPr bwMode="auto">
          <a:xfrm>
            <a:off x="4495800" y="3429000"/>
            <a:ext cx="609600" cy="609600"/>
          </a:xfrm>
          <a:prstGeom prst="rect">
            <a:avLst/>
          </a:prstGeom>
          <a:noFill/>
        </p:spPr>
      </p:pic>
      <p:cxnSp>
        <p:nvCxnSpPr>
          <p:cNvPr id="76" name="Straight Arrow Connector 75"/>
          <p:cNvCxnSpPr/>
          <p:nvPr/>
        </p:nvCxnSpPr>
        <p:spPr bwMode="auto">
          <a:xfrm flipH="1" flipV="1">
            <a:off x="3352800" y="3276602"/>
            <a:ext cx="3152775" cy="1916198"/>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pic>
        <p:nvPicPr>
          <p:cNvPr id="65" name="Picture 10" descr="#">
            <a:hlinkClick r:id="rId5"/>
          </p:cNvPr>
          <p:cNvPicPr>
            <a:picLocks noChangeAspect="1" noChangeArrowheads="1"/>
          </p:cNvPicPr>
          <p:nvPr/>
        </p:nvPicPr>
        <p:blipFill>
          <a:blip r:embed="rId6" cstate="print"/>
          <a:srcRect/>
          <a:stretch>
            <a:fillRect/>
          </a:stretch>
        </p:blipFill>
        <p:spPr bwMode="auto">
          <a:xfrm>
            <a:off x="6477000" y="5029200"/>
            <a:ext cx="736600" cy="1143000"/>
          </a:xfrm>
          <a:prstGeom prst="rect">
            <a:avLst/>
          </a:prstGeom>
          <a:noFill/>
        </p:spPr>
      </p:pic>
      <p:sp>
        <p:nvSpPr>
          <p:cNvPr id="2" name="Title 1"/>
          <p:cNvSpPr>
            <a:spLocks noGrp="1"/>
          </p:cNvSpPr>
          <p:nvPr>
            <p:ph type="title"/>
          </p:nvPr>
        </p:nvSpPr>
        <p:spPr>
          <a:xfrm>
            <a:off x="534924" y="76200"/>
            <a:ext cx="7986568" cy="498610"/>
          </a:xfrm>
        </p:spPr>
        <p:txBody>
          <a:bodyPr/>
          <a:lstStyle/>
          <a:p>
            <a:r>
              <a:rPr lang="en-US" dirty="0"/>
              <a:t>M&amp;R OPC\File Active Alarms Sync</a:t>
            </a:r>
          </a:p>
        </p:txBody>
      </p:sp>
      <p:sp>
        <p:nvSpPr>
          <p:cNvPr id="24" name="Round Single Corner Rectangle 23"/>
          <p:cNvSpPr/>
          <p:nvPr/>
        </p:nvSpPr>
        <p:spPr bwMode="auto">
          <a:xfrm>
            <a:off x="228600" y="6096000"/>
            <a:ext cx="990600" cy="1524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Collector</a:t>
            </a:r>
          </a:p>
        </p:txBody>
      </p:sp>
      <p:cxnSp>
        <p:nvCxnSpPr>
          <p:cNvPr id="41" name="Straight Arrow Connector 40"/>
          <p:cNvCxnSpPr/>
          <p:nvPr/>
        </p:nvCxnSpPr>
        <p:spPr bwMode="auto">
          <a:xfrm>
            <a:off x="838200" y="5257800"/>
            <a:ext cx="5562600" cy="76200"/>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sp>
        <p:nvSpPr>
          <p:cNvPr id="44" name="Round Single Corner Rectangle 43"/>
          <p:cNvSpPr/>
          <p:nvPr/>
        </p:nvSpPr>
        <p:spPr bwMode="auto">
          <a:xfrm>
            <a:off x="7239000" y="56388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Archiver</a:t>
            </a:r>
          </a:p>
        </p:txBody>
      </p:sp>
      <p:sp>
        <p:nvSpPr>
          <p:cNvPr id="68" name="Rectangle 67"/>
          <p:cNvSpPr/>
          <p:nvPr/>
        </p:nvSpPr>
        <p:spPr bwMode="auto">
          <a:xfrm>
            <a:off x="3733800" y="5638800"/>
            <a:ext cx="2667000" cy="609600"/>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r>
              <a:rPr lang="en-US" sz="1400" b="1" dirty="0">
                <a:solidFill>
                  <a:schemeClr val="bg2"/>
                </a:solidFill>
              </a:rPr>
              <a:t>3. Archiver pulls data and processes using configured rules</a:t>
            </a:r>
          </a:p>
        </p:txBody>
      </p:sp>
      <p:cxnSp>
        <p:nvCxnSpPr>
          <p:cNvPr id="84" name="Straight Connector 83"/>
          <p:cNvCxnSpPr/>
          <p:nvPr/>
        </p:nvCxnSpPr>
        <p:spPr>
          <a:xfrm>
            <a:off x="5715000" y="6553200"/>
            <a:ext cx="3276600" cy="0"/>
          </a:xfrm>
          <a:prstGeom prst="line">
            <a:avLst/>
          </a:prstGeom>
          <a:ln w="19050">
            <a:solidFill>
              <a:srgbClr val="3333CC"/>
            </a:solidFill>
          </a:ln>
        </p:spPr>
        <p:style>
          <a:lnRef idx="1">
            <a:schemeClr val="accent1"/>
          </a:lnRef>
          <a:fillRef idx="0">
            <a:schemeClr val="accent1"/>
          </a:fillRef>
          <a:effectRef idx="0">
            <a:schemeClr val="accent1"/>
          </a:effectRef>
          <a:fontRef idx="minor">
            <a:schemeClr val="tx1"/>
          </a:fontRef>
        </p:style>
      </p:cxnSp>
      <p:pic>
        <p:nvPicPr>
          <p:cNvPr id="589826" name="Picture 2" descr="#">
            <a:hlinkClick r:id="rId7"/>
          </p:cNvPr>
          <p:cNvPicPr>
            <a:picLocks noChangeAspect="1" noChangeArrowheads="1"/>
          </p:cNvPicPr>
          <p:nvPr/>
        </p:nvPicPr>
        <p:blipFill>
          <a:blip r:embed="rId8" cstate="print"/>
          <a:srcRect/>
          <a:stretch>
            <a:fillRect/>
          </a:stretch>
        </p:blipFill>
        <p:spPr bwMode="auto">
          <a:xfrm>
            <a:off x="2819400" y="2438400"/>
            <a:ext cx="927100" cy="1143000"/>
          </a:xfrm>
          <a:prstGeom prst="rect">
            <a:avLst/>
          </a:prstGeom>
          <a:noFill/>
        </p:spPr>
      </p:pic>
      <p:sp>
        <p:nvSpPr>
          <p:cNvPr id="59" name="Round Single Corner Rectangle 58"/>
          <p:cNvSpPr/>
          <p:nvPr/>
        </p:nvSpPr>
        <p:spPr bwMode="auto">
          <a:xfrm>
            <a:off x="2590800" y="35814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Database</a:t>
            </a:r>
          </a:p>
        </p:txBody>
      </p:sp>
      <p:sp>
        <p:nvSpPr>
          <p:cNvPr id="52" name="Round Single Corner Rectangle 51"/>
          <p:cNvSpPr/>
          <p:nvPr/>
        </p:nvSpPr>
        <p:spPr bwMode="auto">
          <a:xfrm>
            <a:off x="914400" y="16764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DCS</a:t>
            </a:r>
          </a:p>
        </p:txBody>
      </p:sp>
      <p:pic>
        <p:nvPicPr>
          <p:cNvPr id="54" name="Picture 10" descr="#">
            <a:hlinkClick r:id="rId5"/>
          </p:cNvPr>
          <p:cNvPicPr>
            <a:picLocks noChangeAspect="1" noChangeArrowheads="1"/>
          </p:cNvPicPr>
          <p:nvPr/>
        </p:nvPicPr>
        <p:blipFill>
          <a:blip r:embed="rId6" cstate="print"/>
          <a:srcRect/>
          <a:stretch>
            <a:fillRect/>
          </a:stretch>
        </p:blipFill>
        <p:spPr bwMode="auto">
          <a:xfrm>
            <a:off x="1752600" y="838200"/>
            <a:ext cx="736600" cy="1143000"/>
          </a:xfrm>
          <a:prstGeom prst="rect">
            <a:avLst/>
          </a:prstGeom>
          <a:noFill/>
        </p:spPr>
      </p:pic>
      <p:sp>
        <p:nvSpPr>
          <p:cNvPr id="64" name="Rectangle 63"/>
          <p:cNvSpPr/>
          <p:nvPr/>
        </p:nvSpPr>
        <p:spPr bwMode="auto">
          <a:xfrm>
            <a:off x="1133763" y="3937087"/>
            <a:ext cx="1880025" cy="939713"/>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pPr marR="0" algn="l" defTabSz="914400" rtl="0" eaLnBrk="1" fontAlgn="base" latinLnBrk="0" hangingPunct="1">
              <a:lnSpc>
                <a:spcPct val="100000"/>
              </a:lnSpc>
              <a:spcBef>
                <a:spcPct val="0"/>
              </a:spcBef>
              <a:spcAft>
                <a:spcPct val="0"/>
              </a:spcAft>
              <a:buClrTx/>
              <a:buSzTx/>
              <a:tabLst/>
            </a:pPr>
            <a:r>
              <a:rPr lang="en-US" sz="1400" b="1" dirty="0">
                <a:solidFill>
                  <a:schemeClr val="bg2"/>
                </a:solidFill>
              </a:rPr>
              <a:t>1.Gets the list of  Open Alarms from DCS (ESVT) or M&amp;R (TPS)</a:t>
            </a: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0" lang="en-US" sz="1400" b="0" i="0" u="none" strike="noStrike" cap="none" normalizeH="0" baseline="0" dirty="0">
              <a:ln>
                <a:noFill/>
              </a:ln>
              <a:solidFill>
                <a:schemeClr val="bg2"/>
              </a:solidFill>
              <a:effectLst/>
            </a:endParaRPr>
          </a:p>
        </p:txBody>
      </p:sp>
      <p:pic>
        <p:nvPicPr>
          <p:cNvPr id="73" name="Picture 4" descr="#">
            <a:hlinkClick r:id="rId9"/>
          </p:cNvPr>
          <p:cNvPicPr>
            <a:picLocks noChangeAspect="1" noChangeArrowheads="1"/>
          </p:cNvPicPr>
          <p:nvPr/>
        </p:nvPicPr>
        <p:blipFill>
          <a:blip r:embed="rId10" cstate="print"/>
          <a:srcRect/>
          <a:stretch>
            <a:fillRect/>
          </a:stretch>
        </p:blipFill>
        <p:spPr bwMode="auto">
          <a:xfrm>
            <a:off x="457200" y="4953000"/>
            <a:ext cx="990600" cy="1143000"/>
          </a:xfrm>
          <a:prstGeom prst="rect">
            <a:avLst/>
          </a:prstGeom>
          <a:noFill/>
        </p:spPr>
      </p:pic>
      <p:pic>
        <p:nvPicPr>
          <p:cNvPr id="90" name="Picture 89" descr="thin client by Anonymous - ">
            <a:hlinkClick r:id="rId11"/>
          </p:cNvPr>
          <p:cNvPicPr>
            <a:picLocks noChangeAspect="1" noChangeArrowheads="1"/>
          </p:cNvPicPr>
          <p:nvPr/>
        </p:nvPicPr>
        <p:blipFill>
          <a:blip r:embed="rId12" cstate="print"/>
          <a:srcRect/>
          <a:stretch>
            <a:fillRect/>
          </a:stretch>
        </p:blipFill>
        <p:spPr bwMode="auto">
          <a:xfrm>
            <a:off x="5791199" y="914400"/>
            <a:ext cx="842357" cy="741276"/>
          </a:xfrm>
          <a:prstGeom prst="rect">
            <a:avLst/>
          </a:prstGeom>
          <a:noFill/>
        </p:spPr>
      </p:pic>
      <p:pic>
        <p:nvPicPr>
          <p:cNvPr id="3100" name="Picture 28" descr="C:\Users\e154578\AppData\Local\Temp\SNAGHTML9ad281b.PNG"/>
          <p:cNvPicPr>
            <a:picLocks noChangeAspect="1" noChangeArrowheads="1"/>
          </p:cNvPicPr>
          <p:nvPr/>
        </p:nvPicPr>
        <p:blipFill>
          <a:blip r:embed="rId13" cstate="print"/>
          <a:srcRect/>
          <a:stretch>
            <a:fillRect/>
          </a:stretch>
        </p:blipFill>
        <p:spPr bwMode="auto">
          <a:xfrm>
            <a:off x="6553200" y="5334000"/>
            <a:ext cx="666750" cy="676276"/>
          </a:xfrm>
          <a:prstGeom prst="rect">
            <a:avLst/>
          </a:prstGeom>
          <a:noFill/>
        </p:spPr>
      </p:pic>
      <p:pic>
        <p:nvPicPr>
          <p:cNvPr id="3102" name="Picture 30" descr="C:\Users\e154578\AppData\Local\Temp\SNAGHTML9ad281b.PNG"/>
          <p:cNvPicPr>
            <a:picLocks noChangeAspect="1" noChangeArrowheads="1"/>
          </p:cNvPicPr>
          <p:nvPr/>
        </p:nvPicPr>
        <p:blipFill>
          <a:blip r:embed="rId13" cstate="print"/>
          <a:srcRect/>
          <a:stretch>
            <a:fillRect/>
          </a:stretch>
        </p:blipFill>
        <p:spPr bwMode="auto">
          <a:xfrm>
            <a:off x="6172200" y="838200"/>
            <a:ext cx="666750" cy="676276"/>
          </a:xfrm>
          <a:prstGeom prst="rect">
            <a:avLst/>
          </a:prstGeom>
          <a:noFill/>
        </p:spPr>
      </p:pic>
      <p:sp>
        <p:nvSpPr>
          <p:cNvPr id="91" name="Round Single Corner Rectangle 90"/>
          <p:cNvSpPr/>
          <p:nvPr/>
        </p:nvSpPr>
        <p:spPr bwMode="auto">
          <a:xfrm>
            <a:off x="5791200" y="16764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Rules Builder</a:t>
            </a:r>
          </a:p>
        </p:txBody>
      </p:sp>
      <p:cxnSp>
        <p:nvCxnSpPr>
          <p:cNvPr id="36" name="Straight Arrow Connector 35"/>
          <p:cNvCxnSpPr/>
          <p:nvPr/>
        </p:nvCxnSpPr>
        <p:spPr bwMode="auto">
          <a:xfrm flipH="1">
            <a:off x="685800" y="1752600"/>
            <a:ext cx="990600" cy="2667000"/>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pic>
        <p:nvPicPr>
          <p:cNvPr id="3121" name="Picture 49" descr="C:\Users\e154578\AppData\Local\Temp\SNAGHTMLde6a491.PNG"/>
          <p:cNvPicPr>
            <a:picLocks noChangeAspect="1" noChangeArrowheads="1"/>
          </p:cNvPicPr>
          <p:nvPr/>
        </p:nvPicPr>
        <p:blipFill>
          <a:blip r:embed="rId14" cstate="print"/>
          <a:srcRect/>
          <a:stretch>
            <a:fillRect/>
          </a:stretch>
        </p:blipFill>
        <p:spPr bwMode="auto">
          <a:xfrm>
            <a:off x="152400" y="4343400"/>
            <a:ext cx="762000" cy="762000"/>
          </a:xfrm>
          <a:prstGeom prst="rect">
            <a:avLst/>
          </a:prstGeom>
          <a:noFill/>
        </p:spPr>
      </p:pic>
      <p:sp>
        <p:nvSpPr>
          <p:cNvPr id="3123" name="AutoShape 51"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25" name="AutoShape 53"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27" name="AutoShape 55"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29" name="AutoShape 57"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31" name="AutoShape 59"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9" name="Rectangle 38"/>
          <p:cNvSpPr/>
          <p:nvPr/>
        </p:nvSpPr>
        <p:spPr bwMode="auto">
          <a:xfrm>
            <a:off x="4495800" y="2362200"/>
            <a:ext cx="2438400" cy="480395"/>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r>
              <a:rPr lang="en-US" sz="1400" b="1" dirty="0">
                <a:solidFill>
                  <a:schemeClr val="bg2"/>
                </a:solidFill>
              </a:rPr>
              <a:t>4. Synchronization + KPI statistics (every 10 min)</a:t>
            </a:r>
          </a:p>
        </p:txBody>
      </p:sp>
      <p:pic>
        <p:nvPicPr>
          <p:cNvPr id="40" name="Picture 39"/>
          <p:cNvPicPr>
            <a:picLocks noChangeAspect="1"/>
          </p:cNvPicPr>
          <p:nvPr/>
        </p:nvPicPr>
        <p:blipFill>
          <a:blip r:embed="rId16" cstate="print"/>
          <a:stretch>
            <a:fillRect/>
          </a:stretch>
        </p:blipFill>
        <p:spPr>
          <a:xfrm>
            <a:off x="3886200" y="2438400"/>
            <a:ext cx="361905" cy="447619"/>
          </a:xfrm>
          <a:prstGeom prst="rect">
            <a:avLst/>
          </a:prstGeom>
        </p:spPr>
      </p:pic>
      <p:sp>
        <p:nvSpPr>
          <p:cNvPr id="42" name="Freeform 41"/>
          <p:cNvSpPr/>
          <p:nvPr/>
        </p:nvSpPr>
        <p:spPr>
          <a:xfrm rot="14995462">
            <a:off x="2827656" y="2891897"/>
            <a:ext cx="2045043" cy="5179478"/>
          </a:xfrm>
          <a:custGeom>
            <a:avLst/>
            <a:gdLst>
              <a:gd name="connsiteX0" fmla="*/ 1276598 w 1478478"/>
              <a:gd name="connsiteY0" fmla="*/ 0 h 2634342"/>
              <a:gd name="connsiteX1" fmla="*/ 1442852 w 1478478"/>
              <a:gd name="connsiteY1" fmla="*/ 605641 h 2634342"/>
              <a:gd name="connsiteX2" fmla="*/ 1062842 w 1478478"/>
              <a:gd name="connsiteY2" fmla="*/ 926275 h 2634342"/>
              <a:gd name="connsiteX3" fmla="*/ 1039091 w 1478478"/>
              <a:gd name="connsiteY3" fmla="*/ 961901 h 2634342"/>
              <a:gd name="connsiteX4" fmla="*/ 1205346 w 1478478"/>
              <a:gd name="connsiteY4" fmla="*/ 1341911 h 2634342"/>
              <a:gd name="connsiteX5" fmla="*/ 837211 w 1478478"/>
              <a:gd name="connsiteY5" fmla="*/ 1460665 h 2634342"/>
              <a:gd name="connsiteX6" fmla="*/ 920338 w 1478478"/>
              <a:gd name="connsiteY6" fmla="*/ 1781298 h 2634342"/>
              <a:gd name="connsiteX7" fmla="*/ 659081 w 1478478"/>
              <a:gd name="connsiteY7" fmla="*/ 1971304 h 2634342"/>
              <a:gd name="connsiteX8" fmla="*/ 89065 w 1478478"/>
              <a:gd name="connsiteY8" fmla="*/ 2541319 h 2634342"/>
              <a:gd name="connsiteX9" fmla="*/ 124691 w 1478478"/>
              <a:gd name="connsiteY9" fmla="*/ 2529444 h 2634342"/>
              <a:gd name="connsiteX0" fmla="*/ 1276598 w 1478478"/>
              <a:gd name="connsiteY0" fmla="*/ 0 h 2634342"/>
              <a:gd name="connsiteX1" fmla="*/ 1442852 w 1478478"/>
              <a:gd name="connsiteY1" fmla="*/ 605641 h 2634342"/>
              <a:gd name="connsiteX2" fmla="*/ 1062842 w 1478478"/>
              <a:gd name="connsiteY2" fmla="*/ 926275 h 2634342"/>
              <a:gd name="connsiteX3" fmla="*/ 1027216 w 1478478"/>
              <a:gd name="connsiteY3" fmla="*/ 1083623 h 2634342"/>
              <a:gd name="connsiteX4" fmla="*/ 1205346 w 1478478"/>
              <a:gd name="connsiteY4" fmla="*/ 1341911 h 2634342"/>
              <a:gd name="connsiteX5" fmla="*/ 837211 w 1478478"/>
              <a:gd name="connsiteY5" fmla="*/ 1460665 h 2634342"/>
              <a:gd name="connsiteX6" fmla="*/ 920338 w 1478478"/>
              <a:gd name="connsiteY6" fmla="*/ 1781298 h 2634342"/>
              <a:gd name="connsiteX7" fmla="*/ 659081 w 1478478"/>
              <a:gd name="connsiteY7" fmla="*/ 1971304 h 2634342"/>
              <a:gd name="connsiteX8" fmla="*/ 89065 w 1478478"/>
              <a:gd name="connsiteY8" fmla="*/ 2541319 h 2634342"/>
              <a:gd name="connsiteX9" fmla="*/ 124691 w 1478478"/>
              <a:gd name="connsiteY9" fmla="*/ 2529444 h 2634342"/>
              <a:gd name="connsiteX0" fmla="*/ 1287154 w 1489034"/>
              <a:gd name="connsiteY0" fmla="*/ 0 h 2604489"/>
              <a:gd name="connsiteX1" fmla="*/ 1453408 w 1489034"/>
              <a:gd name="connsiteY1" fmla="*/ 605641 h 2604489"/>
              <a:gd name="connsiteX2" fmla="*/ 1073398 w 1489034"/>
              <a:gd name="connsiteY2" fmla="*/ 926275 h 2604489"/>
              <a:gd name="connsiteX3" fmla="*/ 1037772 w 1489034"/>
              <a:gd name="connsiteY3" fmla="*/ 1083623 h 2604489"/>
              <a:gd name="connsiteX4" fmla="*/ 1215902 w 1489034"/>
              <a:gd name="connsiteY4" fmla="*/ 1341911 h 2604489"/>
              <a:gd name="connsiteX5" fmla="*/ 847767 w 1489034"/>
              <a:gd name="connsiteY5" fmla="*/ 1460665 h 2604489"/>
              <a:gd name="connsiteX6" fmla="*/ 930894 w 1489034"/>
              <a:gd name="connsiteY6" fmla="*/ 1781298 h 2604489"/>
              <a:gd name="connsiteX7" fmla="*/ 732972 w 1489034"/>
              <a:gd name="connsiteY7" fmla="*/ 2150423 h 2604489"/>
              <a:gd name="connsiteX8" fmla="*/ 99621 w 1489034"/>
              <a:gd name="connsiteY8" fmla="*/ 2541319 h 2604489"/>
              <a:gd name="connsiteX9" fmla="*/ 135247 w 1489034"/>
              <a:gd name="connsiteY9" fmla="*/ 2529444 h 2604489"/>
              <a:gd name="connsiteX0" fmla="*/ 1287154 w 1489034"/>
              <a:gd name="connsiteY0" fmla="*/ 0 h 2604489"/>
              <a:gd name="connsiteX1" fmla="*/ 1453408 w 1489034"/>
              <a:gd name="connsiteY1" fmla="*/ 605641 h 2604489"/>
              <a:gd name="connsiteX2" fmla="*/ 1073398 w 1489034"/>
              <a:gd name="connsiteY2" fmla="*/ 926275 h 2604489"/>
              <a:gd name="connsiteX3" fmla="*/ 1037772 w 1489034"/>
              <a:gd name="connsiteY3" fmla="*/ 1083623 h 2604489"/>
              <a:gd name="connsiteX4" fmla="*/ 1215902 w 1489034"/>
              <a:gd name="connsiteY4" fmla="*/ 1341911 h 2604489"/>
              <a:gd name="connsiteX5" fmla="*/ 847767 w 1489034"/>
              <a:gd name="connsiteY5" fmla="*/ 1460665 h 2604489"/>
              <a:gd name="connsiteX6" fmla="*/ 809172 w 1489034"/>
              <a:gd name="connsiteY6" fmla="*/ 1769424 h 2604489"/>
              <a:gd name="connsiteX7" fmla="*/ 732972 w 1489034"/>
              <a:gd name="connsiteY7" fmla="*/ 2150423 h 2604489"/>
              <a:gd name="connsiteX8" fmla="*/ 99621 w 1489034"/>
              <a:gd name="connsiteY8" fmla="*/ 2541319 h 2604489"/>
              <a:gd name="connsiteX9" fmla="*/ 135247 w 1489034"/>
              <a:gd name="connsiteY9" fmla="*/ 2529444 h 2604489"/>
              <a:gd name="connsiteX0" fmla="*/ 1287154 w 1489034"/>
              <a:gd name="connsiteY0" fmla="*/ 0 h 2604489"/>
              <a:gd name="connsiteX1" fmla="*/ 1453408 w 1489034"/>
              <a:gd name="connsiteY1" fmla="*/ 605641 h 2604489"/>
              <a:gd name="connsiteX2" fmla="*/ 1073398 w 1489034"/>
              <a:gd name="connsiteY2" fmla="*/ 926275 h 2604489"/>
              <a:gd name="connsiteX3" fmla="*/ 1037772 w 1489034"/>
              <a:gd name="connsiteY3" fmla="*/ 1083623 h 2604489"/>
              <a:gd name="connsiteX4" fmla="*/ 1215902 w 1489034"/>
              <a:gd name="connsiteY4" fmla="*/ 1341911 h 2604489"/>
              <a:gd name="connsiteX5" fmla="*/ 847767 w 1489034"/>
              <a:gd name="connsiteY5" fmla="*/ 1460665 h 2604489"/>
              <a:gd name="connsiteX6" fmla="*/ 732972 w 1489034"/>
              <a:gd name="connsiteY6" fmla="*/ 1769424 h 2604489"/>
              <a:gd name="connsiteX7" fmla="*/ 732972 w 1489034"/>
              <a:gd name="connsiteY7" fmla="*/ 2150423 h 2604489"/>
              <a:gd name="connsiteX8" fmla="*/ 99621 w 1489034"/>
              <a:gd name="connsiteY8" fmla="*/ 2541319 h 2604489"/>
              <a:gd name="connsiteX9" fmla="*/ 135247 w 1489034"/>
              <a:gd name="connsiteY9" fmla="*/ 2529444 h 2604489"/>
              <a:gd name="connsiteX0" fmla="*/ 1287154 w 1606798"/>
              <a:gd name="connsiteY0" fmla="*/ 0 h 2604489"/>
              <a:gd name="connsiteX1" fmla="*/ 1571172 w 1606798"/>
              <a:gd name="connsiteY1" fmla="*/ 397824 h 2604489"/>
              <a:gd name="connsiteX2" fmla="*/ 1073398 w 1606798"/>
              <a:gd name="connsiteY2" fmla="*/ 926275 h 2604489"/>
              <a:gd name="connsiteX3" fmla="*/ 1037772 w 1606798"/>
              <a:gd name="connsiteY3" fmla="*/ 1083623 h 2604489"/>
              <a:gd name="connsiteX4" fmla="*/ 1215902 w 1606798"/>
              <a:gd name="connsiteY4" fmla="*/ 1341911 h 2604489"/>
              <a:gd name="connsiteX5" fmla="*/ 847767 w 1606798"/>
              <a:gd name="connsiteY5" fmla="*/ 1460665 h 2604489"/>
              <a:gd name="connsiteX6" fmla="*/ 732972 w 1606798"/>
              <a:gd name="connsiteY6" fmla="*/ 1769424 h 2604489"/>
              <a:gd name="connsiteX7" fmla="*/ 732972 w 1606798"/>
              <a:gd name="connsiteY7" fmla="*/ 2150423 h 2604489"/>
              <a:gd name="connsiteX8" fmla="*/ 99621 w 1606798"/>
              <a:gd name="connsiteY8" fmla="*/ 2541319 h 2604489"/>
              <a:gd name="connsiteX9" fmla="*/ 135247 w 1606798"/>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037772 w 1600036"/>
              <a:gd name="connsiteY3" fmla="*/ 1083623 h 2604489"/>
              <a:gd name="connsiteX4" fmla="*/ 1215902 w 1600036"/>
              <a:gd name="connsiteY4" fmla="*/ 1341911 h 2604489"/>
              <a:gd name="connsiteX5" fmla="*/ 847767 w 1600036"/>
              <a:gd name="connsiteY5" fmla="*/ 1460665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342572 w 1600036"/>
              <a:gd name="connsiteY3" fmla="*/ 1236024 h 2604489"/>
              <a:gd name="connsiteX4" fmla="*/ 1215902 w 1600036"/>
              <a:gd name="connsiteY4" fmla="*/ 1341911 h 2604489"/>
              <a:gd name="connsiteX5" fmla="*/ 847767 w 1600036"/>
              <a:gd name="connsiteY5" fmla="*/ 1460665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342572 w 1600036"/>
              <a:gd name="connsiteY3" fmla="*/ 1236024 h 2604489"/>
              <a:gd name="connsiteX4" fmla="*/ 809172 w 1600036"/>
              <a:gd name="connsiteY4" fmla="*/ 1312224 h 2604489"/>
              <a:gd name="connsiteX5" fmla="*/ 847767 w 1600036"/>
              <a:gd name="connsiteY5" fmla="*/ 1460665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342572 w 1600036"/>
              <a:gd name="connsiteY3" fmla="*/ 1236024 h 2604489"/>
              <a:gd name="connsiteX4" fmla="*/ 809172 w 1600036"/>
              <a:gd name="connsiteY4" fmla="*/ 1312224 h 2604489"/>
              <a:gd name="connsiteX5" fmla="*/ 961572 w 1600036"/>
              <a:gd name="connsiteY5" fmla="*/ 1693224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393372"/>
              <a:gd name="connsiteY0" fmla="*/ 0 h 2604489"/>
              <a:gd name="connsiteX1" fmla="*/ 1342572 w 1393372"/>
              <a:gd name="connsiteY1" fmla="*/ 397824 h 2604489"/>
              <a:gd name="connsiteX2" fmla="*/ 1113972 w 1393372"/>
              <a:gd name="connsiteY2" fmla="*/ 702624 h 2604489"/>
              <a:gd name="connsiteX3" fmla="*/ 1342572 w 1393372"/>
              <a:gd name="connsiteY3" fmla="*/ 1236024 h 2604489"/>
              <a:gd name="connsiteX4" fmla="*/ 809172 w 1393372"/>
              <a:gd name="connsiteY4" fmla="*/ 1312224 h 2604489"/>
              <a:gd name="connsiteX5" fmla="*/ 961572 w 1393372"/>
              <a:gd name="connsiteY5" fmla="*/ 1693224 h 2604489"/>
              <a:gd name="connsiteX6" fmla="*/ 732972 w 1393372"/>
              <a:gd name="connsiteY6" fmla="*/ 1769424 h 2604489"/>
              <a:gd name="connsiteX7" fmla="*/ 732972 w 1393372"/>
              <a:gd name="connsiteY7" fmla="*/ 2150423 h 2604489"/>
              <a:gd name="connsiteX8" fmla="*/ 99621 w 1393372"/>
              <a:gd name="connsiteY8" fmla="*/ 2541319 h 2604489"/>
              <a:gd name="connsiteX9" fmla="*/ 135247 w 1393372"/>
              <a:gd name="connsiteY9" fmla="*/ 2529444 h 2604489"/>
              <a:gd name="connsiteX0" fmla="*/ 1287154 w 1388094"/>
              <a:gd name="connsiteY0" fmla="*/ 0 h 2604489"/>
              <a:gd name="connsiteX1" fmla="*/ 1342572 w 1388094"/>
              <a:gd name="connsiteY1" fmla="*/ 397824 h 2604489"/>
              <a:gd name="connsiteX2" fmla="*/ 1113972 w 1388094"/>
              <a:gd name="connsiteY2" fmla="*/ 702624 h 2604489"/>
              <a:gd name="connsiteX3" fmla="*/ 1113972 w 1388094"/>
              <a:gd name="connsiteY3" fmla="*/ 1159824 h 2604489"/>
              <a:gd name="connsiteX4" fmla="*/ 809172 w 1388094"/>
              <a:gd name="connsiteY4" fmla="*/ 1312224 h 2604489"/>
              <a:gd name="connsiteX5" fmla="*/ 961572 w 1388094"/>
              <a:gd name="connsiteY5" fmla="*/ 1693224 h 2604489"/>
              <a:gd name="connsiteX6" fmla="*/ 732972 w 1388094"/>
              <a:gd name="connsiteY6" fmla="*/ 1769424 h 2604489"/>
              <a:gd name="connsiteX7" fmla="*/ 732972 w 1388094"/>
              <a:gd name="connsiteY7" fmla="*/ 2150423 h 2604489"/>
              <a:gd name="connsiteX8" fmla="*/ 99621 w 1388094"/>
              <a:gd name="connsiteY8" fmla="*/ 2541319 h 2604489"/>
              <a:gd name="connsiteX9" fmla="*/ 135247 w 1388094"/>
              <a:gd name="connsiteY9" fmla="*/ 2529444 h 2604489"/>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796472 w 1375394"/>
              <a:gd name="connsiteY4" fmla="*/ 1312224 h 2581893"/>
              <a:gd name="connsiteX5" fmla="*/ 948872 w 1375394"/>
              <a:gd name="connsiteY5" fmla="*/ 1693224 h 2581893"/>
              <a:gd name="connsiteX6" fmla="*/ 720272 w 1375394"/>
              <a:gd name="connsiteY6" fmla="*/ 1769424 h 2581893"/>
              <a:gd name="connsiteX7" fmla="*/ 644072 w 1375394"/>
              <a:gd name="connsiteY7" fmla="*/ 2302824 h 2581893"/>
              <a:gd name="connsiteX8" fmla="*/ 86921 w 1375394"/>
              <a:gd name="connsiteY8" fmla="*/ 2541319 h 2581893"/>
              <a:gd name="connsiteX9" fmla="*/ 122547 w 1375394"/>
              <a:gd name="connsiteY9" fmla="*/ 2529444 h 2581893"/>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796472 w 1375394"/>
              <a:gd name="connsiteY4" fmla="*/ 1312224 h 2581893"/>
              <a:gd name="connsiteX5" fmla="*/ 948872 w 1375394"/>
              <a:gd name="connsiteY5" fmla="*/ 1693224 h 2581893"/>
              <a:gd name="connsiteX6" fmla="*/ 644072 w 1375394"/>
              <a:gd name="connsiteY6" fmla="*/ 1998024 h 2581893"/>
              <a:gd name="connsiteX7" fmla="*/ 644072 w 1375394"/>
              <a:gd name="connsiteY7" fmla="*/ 2302824 h 2581893"/>
              <a:gd name="connsiteX8" fmla="*/ 86921 w 1375394"/>
              <a:gd name="connsiteY8" fmla="*/ 2541319 h 2581893"/>
              <a:gd name="connsiteX9" fmla="*/ 122547 w 1375394"/>
              <a:gd name="connsiteY9" fmla="*/ 2529444 h 2581893"/>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872672 w 1375394"/>
              <a:gd name="connsiteY4" fmla="*/ 1236024 h 2581893"/>
              <a:gd name="connsiteX5" fmla="*/ 948872 w 1375394"/>
              <a:gd name="connsiteY5" fmla="*/ 1693224 h 2581893"/>
              <a:gd name="connsiteX6" fmla="*/ 644072 w 1375394"/>
              <a:gd name="connsiteY6" fmla="*/ 1998024 h 2581893"/>
              <a:gd name="connsiteX7" fmla="*/ 644072 w 1375394"/>
              <a:gd name="connsiteY7" fmla="*/ 2302824 h 2581893"/>
              <a:gd name="connsiteX8" fmla="*/ 86921 w 1375394"/>
              <a:gd name="connsiteY8" fmla="*/ 2541319 h 2581893"/>
              <a:gd name="connsiteX9" fmla="*/ 122547 w 1375394"/>
              <a:gd name="connsiteY9" fmla="*/ 2529444 h 2581893"/>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872672 w 1375394"/>
              <a:gd name="connsiteY4" fmla="*/ 1312224 h 2581893"/>
              <a:gd name="connsiteX5" fmla="*/ 948872 w 1375394"/>
              <a:gd name="connsiteY5" fmla="*/ 1693224 h 2581893"/>
              <a:gd name="connsiteX6" fmla="*/ 644072 w 1375394"/>
              <a:gd name="connsiteY6" fmla="*/ 1998024 h 2581893"/>
              <a:gd name="connsiteX7" fmla="*/ 644072 w 1375394"/>
              <a:gd name="connsiteY7" fmla="*/ 2302824 h 2581893"/>
              <a:gd name="connsiteX8" fmla="*/ 86921 w 1375394"/>
              <a:gd name="connsiteY8" fmla="*/ 2541319 h 2581893"/>
              <a:gd name="connsiteX9" fmla="*/ 122547 w 1375394"/>
              <a:gd name="connsiteY9" fmla="*/ 2529444 h 2581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5394" h="2581893">
                <a:moveTo>
                  <a:pt x="1274454" y="0"/>
                </a:moveTo>
                <a:cubicBezTo>
                  <a:pt x="1375394" y="225631"/>
                  <a:pt x="1358736" y="280720"/>
                  <a:pt x="1329872" y="397824"/>
                </a:cubicBezTo>
                <a:cubicBezTo>
                  <a:pt x="1301008" y="514928"/>
                  <a:pt x="1139372" y="575624"/>
                  <a:pt x="1101272" y="702624"/>
                </a:cubicBezTo>
                <a:cubicBezTo>
                  <a:pt x="1063172" y="829624"/>
                  <a:pt x="1139372" y="1058224"/>
                  <a:pt x="1101272" y="1159824"/>
                </a:cubicBezTo>
                <a:cubicBezTo>
                  <a:pt x="1063172" y="1261424"/>
                  <a:pt x="898072" y="1223324"/>
                  <a:pt x="872672" y="1312224"/>
                </a:cubicBezTo>
                <a:cubicBezTo>
                  <a:pt x="847272" y="1401124"/>
                  <a:pt x="986972" y="1578924"/>
                  <a:pt x="948872" y="1693224"/>
                </a:cubicBezTo>
                <a:cubicBezTo>
                  <a:pt x="910772" y="1807524"/>
                  <a:pt x="694872" y="1896424"/>
                  <a:pt x="644072" y="1998024"/>
                </a:cubicBezTo>
                <a:cubicBezTo>
                  <a:pt x="593272" y="2099624"/>
                  <a:pt x="736930" y="2212275"/>
                  <a:pt x="644072" y="2302824"/>
                </a:cubicBezTo>
                <a:cubicBezTo>
                  <a:pt x="551214" y="2393373"/>
                  <a:pt x="173842" y="2503549"/>
                  <a:pt x="86921" y="2541319"/>
                </a:cubicBezTo>
                <a:cubicBezTo>
                  <a:pt x="0" y="2579089"/>
                  <a:pt x="60201" y="2581893"/>
                  <a:pt x="122547" y="2529444"/>
                </a:cubicBezTo>
              </a:path>
            </a:pathLst>
          </a:custGeom>
          <a:ln w="34925">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3" name="TextBox 42"/>
          <p:cNvSpPr txBox="1"/>
          <p:nvPr/>
        </p:nvSpPr>
        <p:spPr>
          <a:xfrm>
            <a:off x="3265353" y="4583668"/>
            <a:ext cx="1295400" cy="369332"/>
          </a:xfrm>
          <a:prstGeom prst="rect">
            <a:avLst/>
          </a:prstGeom>
        </p:spPr>
        <p:txBody>
          <a:bodyPr wrap="square" rtlCol="0">
            <a:spAutoFit/>
          </a:bodyPr>
          <a:lstStyle/>
          <a:p>
            <a:pPr algn="ctr"/>
            <a:r>
              <a:rPr lang="en-US" sz="1800" kern="0" dirty="0">
                <a:solidFill>
                  <a:schemeClr val="accent2">
                    <a:lumMod val="75000"/>
                  </a:schemeClr>
                </a:solidFill>
                <a:latin typeface="Bauhaus 93" pitchFamily="82" charset="0"/>
                <a:ea typeface="+mj-ea"/>
                <a:cs typeface="+mj-cs"/>
              </a:rPr>
              <a:t>Messages</a:t>
            </a:r>
          </a:p>
        </p:txBody>
      </p:sp>
      <p:pic>
        <p:nvPicPr>
          <p:cNvPr id="171010" name="Picture 2" descr="C:\Users\E154578\AppData\Local\Temp\SNAGHTML1c287ae.PNG"/>
          <p:cNvPicPr>
            <a:picLocks noChangeAspect="1" noChangeArrowheads="1"/>
          </p:cNvPicPr>
          <p:nvPr/>
        </p:nvPicPr>
        <p:blipFill>
          <a:blip r:embed="rId17" cstate="print"/>
          <a:srcRect/>
          <a:stretch>
            <a:fillRect/>
          </a:stretch>
        </p:blipFill>
        <p:spPr bwMode="auto">
          <a:xfrm>
            <a:off x="2819400" y="2066306"/>
            <a:ext cx="762000" cy="732313"/>
          </a:xfrm>
          <a:prstGeom prst="rect">
            <a:avLst/>
          </a:prstGeom>
          <a:noFill/>
        </p:spPr>
      </p:pic>
      <p:pic>
        <p:nvPicPr>
          <p:cNvPr id="3" name="Picture 2">
            <a:extLst>
              <a:ext uri="{FF2B5EF4-FFF2-40B4-BE49-F238E27FC236}">
                <a16:creationId xmlns:a16="http://schemas.microsoft.com/office/drawing/2014/main" id="{E4CBD409-34D5-4BA1-8B56-16DD31DDAD04}"/>
              </a:ext>
            </a:extLst>
          </p:cNvPr>
          <p:cNvPicPr>
            <a:picLocks noChangeAspect="1"/>
          </p:cNvPicPr>
          <p:nvPr/>
        </p:nvPicPr>
        <p:blipFill>
          <a:blip r:embed="rId18"/>
          <a:stretch>
            <a:fillRect/>
          </a:stretch>
        </p:blipFill>
        <p:spPr>
          <a:xfrm>
            <a:off x="-6501" y="2194169"/>
            <a:ext cx="1682902" cy="767106"/>
          </a:xfrm>
          <a:prstGeom prst="rect">
            <a:avLst/>
          </a:prstGeom>
          <a:ln>
            <a:solidFill>
              <a:schemeClr val="bg2"/>
            </a:solidFill>
          </a:ln>
        </p:spPr>
      </p:pic>
      <p:pic>
        <p:nvPicPr>
          <p:cNvPr id="17410" name="Picture 2" descr="C:\Users\E154578\AppData\Local\Temp\SNAGHTML90ec866.PNG">
            <a:extLst>
              <a:ext uri="{FF2B5EF4-FFF2-40B4-BE49-F238E27FC236}">
                <a16:creationId xmlns:a16="http://schemas.microsoft.com/office/drawing/2014/main" id="{0EDE91DA-B9BB-4223-9A1C-DA52153DEE8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63500" y="4402681"/>
            <a:ext cx="342900" cy="352425"/>
          </a:xfrm>
          <a:prstGeom prst="rect">
            <a:avLst/>
          </a:prstGeom>
          <a:solidFill>
            <a:schemeClr val="bg1"/>
          </a:solidFill>
          <a:ln w="25400">
            <a:solidFill>
              <a:schemeClr val="tx1"/>
            </a:solidFill>
          </a:ln>
        </p:spPr>
      </p:pic>
      <p:sp>
        <p:nvSpPr>
          <p:cNvPr id="37" name="Rectangle 36">
            <a:extLst>
              <a:ext uri="{FF2B5EF4-FFF2-40B4-BE49-F238E27FC236}">
                <a16:creationId xmlns:a16="http://schemas.microsoft.com/office/drawing/2014/main" id="{5000277B-93D0-4119-83A2-59B12A63598B}"/>
              </a:ext>
            </a:extLst>
          </p:cNvPr>
          <p:cNvSpPr/>
          <p:nvPr/>
        </p:nvSpPr>
        <p:spPr bwMode="auto">
          <a:xfrm>
            <a:off x="1488516" y="5491103"/>
            <a:ext cx="1865539" cy="1062095"/>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pPr marR="0" algn="l" defTabSz="914400" rtl="0" eaLnBrk="1" fontAlgn="base" latinLnBrk="0" hangingPunct="1">
              <a:lnSpc>
                <a:spcPct val="100000"/>
              </a:lnSpc>
              <a:spcBef>
                <a:spcPct val="0"/>
              </a:spcBef>
              <a:spcAft>
                <a:spcPct val="0"/>
              </a:spcAft>
              <a:buClrTx/>
              <a:buSzTx/>
              <a:tabLst/>
            </a:pPr>
            <a:r>
              <a:rPr lang="en-US" sz="1400" b="1" dirty="0">
                <a:solidFill>
                  <a:schemeClr val="bg2"/>
                </a:solidFill>
              </a:rPr>
              <a:t>2. For ESVT\TPS alarms parameters are read to validate them later.</a:t>
            </a: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0" lang="en-US" sz="1400" b="0" i="0" u="none" strike="noStrike" cap="none" normalizeH="0" baseline="0" dirty="0">
              <a:ln>
                <a:noFill/>
              </a:ln>
              <a:solidFill>
                <a:schemeClr val="bg2"/>
              </a:solidFill>
              <a:effectLst/>
            </a:endParaRPr>
          </a:p>
        </p:txBody>
      </p:sp>
    </p:spTree>
    <p:extLst>
      <p:ext uri="{BB962C8B-B14F-4D97-AF65-F5344CB8AC3E}">
        <p14:creationId xmlns:p14="http://schemas.microsoft.com/office/powerpoint/2010/main" val="27520342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accel="50000" decel="50000" fill="hold" nodeType="clickEffect">
                                  <p:stCondLst>
                                    <p:cond delay="0"/>
                                  </p:stCondLst>
                                  <p:childTnLst>
                                    <p:animMotion origin="layout" path="M 0.1467 -0.42315 L 5.55556E-7 -2.59259E-6 " pathEditMode="relative" rAng="0" ptsTypes="AA">
                                      <p:cBhvr>
                                        <p:cTn id="6" dur="3000" fill="hold"/>
                                        <p:tgtEl>
                                          <p:spTgt spid="17410"/>
                                        </p:tgtEl>
                                        <p:attrNameLst>
                                          <p:attrName>ppt_x</p:attrName>
                                          <p:attrName>ppt_y</p:attrName>
                                        </p:attrNameLst>
                                      </p:cBhvr>
                                      <p:rCtr x="-7344" y="21157"/>
                                    </p:animMotion>
                                  </p:childTnLst>
                                </p:cTn>
                              </p:par>
                            </p:childTnLst>
                          </p:cTn>
                        </p:par>
                      </p:childTnLst>
                    </p:cTn>
                  </p:par>
                  <p:par>
                    <p:cTn id="7" fill="hold">
                      <p:stCondLst>
                        <p:cond delay="indefinite"/>
                      </p:stCondLst>
                      <p:childTnLst>
                        <p:par>
                          <p:cTn id="8" fill="hold">
                            <p:stCondLst>
                              <p:cond delay="0"/>
                            </p:stCondLst>
                            <p:childTnLst>
                              <p:par>
                                <p:cTn id="9" presetID="26" presetClass="emph" presetSubtype="0" repeatCount="indefinite" fill="hold" grpId="0" nodeType="clickEffect">
                                  <p:stCondLst>
                                    <p:cond delay="0"/>
                                  </p:stCondLst>
                                  <p:childTnLst>
                                    <p:animEffect transition="out" filter="fade">
                                      <p:cBhvr>
                                        <p:cTn id="10" dur="2000" tmFilter="0, 0; .2, .5; .8, .5; 1, 0"/>
                                        <p:tgtEl>
                                          <p:spTgt spid="42"/>
                                        </p:tgtEl>
                                      </p:cBhvr>
                                    </p:animEffect>
                                    <p:animScale>
                                      <p:cBhvr>
                                        <p:cTn id="11" dur="1000" autoRev="1" fill="hold"/>
                                        <p:tgtEl>
                                          <p:spTgt spid="42"/>
                                        </p:tgtEl>
                                      </p:cBhvr>
                                      <p:by x="105000" y="105000"/>
                                    </p:animScale>
                                  </p:childTnLst>
                                </p:cTn>
                              </p:par>
                            </p:childTnLst>
                          </p:cTn>
                        </p:par>
                        <p:par>
                          <p:cTn id="12" fill="hold">
                            <p:stCondLst>
                              <p:cond delay="2000"/>
                            </p:stCondLst>
                            <p:childTnLst>
                              <p:par>
                                <p:cTn id="13" presetID="55" presetClass="path" presetSubtype="0" repeatCount="indefinite" accel="50000" decel="50000" fill="hold" nodeType="afterEffect">
                                  <p:stCondLst>
                                    <p:cond delay="0"/>
                                  </p:stCondLst>
                                  <p:childTnLst>
                                    <p:animMotion origin="layout" path="M 0.04687 -0.02709 C 0.04757 -0.04167 0.03993 -0.05463 0.02986 -0.05533 C 0.02031 -0.05625 0.01128 -0.04653 0.01059 -0.03241 C 0.01007 -0.01899 0.01614 -0.00672 0.02517 -0.00579 C 0.0335 -0.00487 0.04114 -0.01343 0.04184 -0.0257 C 0.04236 -0.03704 0.03715 -0.04746 0.02951 -0.04838 C 0.02257 -0.04908 0.01597 -0.04213 0.01545 -0.03172 C 0.0151 -0.02269 0.01909 -0.01366 0.02552 -0.01297 C 0.03125 -0.01227 0.03663 -0.01783 0.03698 -0.02616 C 0.03732 -0.03357 0.0342 -0.04098 0.02916 -0.04144 C 0.02482 -0.04167 0.02066 -0.03774 0.02031 -0.03149 C 0.01996 -0.02593 0.02222 -0.02061 0.02569 -0.02014 C 0.02882 -0.01968 0.03194 -0.02223 0.03212 -0.02662 C 0.03246 -0.0301 0.03125 -0.0338 0.02882 -0.03426 C 0.02708 -0.03426 0.02534 -0.03334 0.025 -0.03102 C 0.02482 -0.0294 0.02517 -0.02801 0.02604 -0.02709 C 0.02656 -0.02709 0.02691 -0.02709 0.02725 -0.02709 " pathEditMode="relative" rAng="0" ptsTypes="fffffffffffffffff">
                                      <p:cBhvr>
                                        <p:cTn id="14" dur="5000" fill="hold"/>
                                        <p:tgtEl>
                                          <p:spTgt spid="3100"/>
                                        </p:tgtEl>
                                        <p:attrNameLst>
                                          <p:attrName>ppt_x</p:attrName>
                                          <p:attrName>ppt_y</p:attrName>
                                        </p:attrNameLst>
                                      </p:cBhvr>
                                      <p:rCtr x="-1800" y="-300"/>
                                    </p:animMotion>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56" presetClass="path" presetSubtype="0" repeatCount="indefinite" accel="50000" decel="50000" fill="hold" nodeType="withEffect">
                                  <p:stCondLst>
                                    <p:cond delay="0"/>
                                  </p:stCondLst>
                                  <p:childTnLst>
                                    <p:animMotion origin="layout" path="M 0.25538 0.25533 L -0.21163 -0.10555 " pathEditMode="relative" rAng="0" ptsTypes="AA">
                                      <p:cBhvr>
                                        <p:cTn id="18" dur="5000" fill="hold"/>
                                        <p:tgtEl>
                                          <p:spTgt spid="66"/>
                                        </p:tgtEl>
                                        <p:attrNameLst>
                                          <p:attrName>ppt_x</p:attrName>
                                          <p:attrName>ppt_y</p:attrName>
                                        </p:attrNameLst>
                                      </p:cBhvr>
                                      <p:rCtr x="-23351" y="-18056"/>
                                    </p:animMotion>
                                  </p:childTnLst>
                                </p:cTn>
                              </p:par>
                              <p:par>
                                <p:cTn id="19" presetID="0" presetClass="path" presetSubtype="0" repeatCount="indefinite" accel="50000" decel="50000" fill="hold" nodeType="withEffect">
                                  <p:stCondLst>
                                    <p:cond delay="0"/>
                                  </p:stCondLst>
                                  <p:childTnLst>
                                    <p:animMotion origin="layout" path="M -0.02309 0.07269 C -0.00903 0.05371 0.00504 0.03496 0.00139 0.02107 C -0.00226 0.00718 -0.02361 -0.00162 -0.04479 -0.01041 " pathEditMode="relative" rAng="0" ptsTypes="aaA">
                                      <p:cBhvr>
                                        <p:cTn id="20" dur="3000" fill="hold"/>
                                        <p:tgtEl>
                                          <p:spTgt spid="40"/>
                                        </p:tgtEl>
                                        <p:attrNameLst>
                                          <p:attrName>ppt_x</p:attrName>
                                          <p:attrName>ppt_y</p:attrName>
                                        </p:attrNameLst>
                                      </p:cBhvr>
                                      <p:rCtr x="3" y="-42"/>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Explosion 1 47"/>
          <p:cNvSpPr/>
          <p:nvPr/>
        </p:nvSpPr>
        <p:spPr bwMode="auto">
          <a:xfrm>
            <a:off x="4079606" y="2859008"/>
            <a:ext cx="1447800" cy="1828800"/>
          </a:xfrm>
          <a:prstGeom prst="irregularSeal1">
            <a:avLst/>
          </a:prstGeom>
          <a:solidFill>
            <a:schemeClr val="accent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
        <p:nvSpPr>
          <p:cNvPr id="49" name="Explosion 1 48"/>
          <p:cNvSpPr/>
          <p:nvPr/>
        </p:nvSpPr>
        <p:spPr bwMode="auto">
          <a:xfrm>
            <a:off x="3227902" y="4081074"/>
            <a:ext cx="1447800" cy="1828800"/>
          </a:xfrm>
          <a:prstGeom prst="irregularSeal1">
            <a:avLst/>
          </a:prstGeom>
          <a:solidFill>
            <a:schemeClr val="accent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pic>
        <p:nvPicPr>
          <p:cNvPr id="66" name="Picture 8" descr="https://encrypted-tbn1.gstatic.com/images?q=tbn:ANd9GcQnOvsYatFCNTP-u-NE00C1vE-MrLpa8FVHey3wCm7WROlXaOkaZg8HwA">
            <a:hlinkClick r:id="rId3"/>
          </p:cNvPr>
          <p:cNvPicPr>
            <a:picLocks noChangeAspect="1" noChangeArrowheads="1"/>
          </p:cNvPicPr>
          <p:nvPr/>
        </p:nvPicPr>
        <p:blipFill>
          <a:blip r:embed="rId4" cstate="print"/>
          <a:srcRect/>
          <a:stretch>
            <a:fillRect/>
          </a:stretch>
        </p:blipFill>
        <p:spPr bwMode="auto">
          <a:xfrm>
            <a:off x="4495800" y="3429000"/>
            <a:ext cx="609600" cy="609600"/>
          </a:xfrm>
          <a:prstGeom prst="rect">
            <a:avLst/>
          </a:prstGeom>
          <a:noFill/>
        </p:spPr>
      </p:pic>
      <p:cxnSp>
        <p:nvCxnSpPr>
          <p:cNvPr id="76" name="Straight Arrow Connector 75"/>
          <p:cNvCxnSpPr/>
          <p:nvPr/>
        </p:nvCxnSpPr>
        <p:spPr bwMode="auto">
          <a:xfrm flipH="1" flipV="1">
            <a:off x="3352800" y="3276602"/>
            <a:ext cx="3152775" cy="1916198"/>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pic>
        <p:nvPicPr>
          <p:cNvPr id="65" name="Picture 10" descr="#">
            <a:hlinkClick r:id="rId5"/>
          </p:cNvPr>
          <p:cNvPicPr>
            <a:picLocks noChangeAspect="1" noChangeArrowheads="1"/>
          </p:cNvPicPr>
          <p:nvPr/>
        </p:nvPicPr>
        <p:blipFill>
          <a:blip r:embed="rId6" cstate="print"/>
          <a:srcRect/>
          <a:stretch>
            <a:fillRect/>
          </a:stretch>
        </p:blipFill>
        <p:spPr bwMode="auto">
          <a:xfrm>
            <a:off x="6477000" y="5029200"/>
            <a:ext cx="736600" cy="1143000"/>
          </a:xfrm>
          <a:prstGeom prst="rect">
            <a:avLst/>
          </a:prstGeom>
          <a:noFill/>
        </p:spPr>
      </p:pic>
      <p:sp>
        <p:nvSpPr>
          <p:cNvPr id="2" name="Title 1"/>
          <p:cNvSpPr>
            <a:spLocks noGrp="1"/>
          </p:cNvSpPr>
          <p:nvPr>
            <p:ph type="title"/>
          </p:nvPr>
        </p:nvSpPr>
        <p:spPr>
          <a:xfrm>
            <a:off x="534924" y="76200"/>
            <a:ext cx="7986568" cy="498610"/>
          </a:xfrm>
        </p:spPr>
        <p:txBody>
          <a:bodyPr/>
          <a:lstStyle/>
          <a:p>
            <a:r>
              <a:rPr lang="en-US" dirty="0"/>
              <a:t>M&amp;R NEW Active Alarms Sync</a:t>
            </a:r>
          </a:p>
        </p:txBody>
      </p:sp>
      <p:sp>
        <p:nvSpPr>
          <p:cNvPr id="24" name="Round Single Corner Rectangle 23"/>
          <p:cNvSpPr/>
          <p:nvPr/>
        </p:nvSpPr>
        <p:spPr bwMode="auto">
          <a:xfrm>
            <a:off x="228600" y="6096000"/>
            <a:ext cx="990600" cy="1524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Collector</a:t>
            </a:r>
          </a:p>
        </p:txBody>
      </p:sp>
      <p:cxnSp>
        <p:nvCxnSpPr>
          <p:cNvPr id="41" name="Straight Arrow Connector 40"/>
          <p:cNvCxnSpPr/>
          <p:nvPr/>
        </p:nvCxnSpPr>
        <p:spPr bwMode="auto">
          <a:xfrm>
            <a:off x="838200" y="5257800"/>
            <a:ext cx="5562600" cy="76200"/>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sp>
        <p:nvSpPr>
          <p:cNvPr id="44" name="Round Single Corner Rectangle 43"/>
          <p:cNvSpPr/>
          <p:nvPr/>
        </p:nvSpPr>
        <p:spPr bwMode="auto">
          <a:xfrm>
            <a:off x="7239000" y="56388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Archiver</a:t>
            </a:r>
          </a:p>
        </p:txBody>
      </p:sp>
      <p:sp>
        <p:nvSpPr>
          <p:cNvPr id="68" name="Rectangle 67"/>
          <p:cNvSpPr/>
          <p:nvPr/>
        </p:nvSpPr>
        <p:spPr bwMode="auto">
          <a:xfrm>
            <a:off x="3733800" y="5638800"/>
            <a:ext cx="2667000" cy="609600"/>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r>
              <a:rPr lang="en-US" sz="1400" b="1" dirty="0">
                <a:solidFill>
                  <a:schemeClr val="bg2"/>
                </a:solidFill>
              </a:rPr>
              <a:t>3. Archiver pulls data and processes using configured rules</a:t>
            </a:r>
          </a:p>
        </p:txBody>
      </p:sp>
      <p:cxnSp>
        <p:nvCxnSpPr>
          <p:cNvPr id="84" name="Straight Connector 83"/>
          <p:cNvCxnSpPr/>
          <p:nvPr/>
        </p:nvCxnSpPr>
        <p:spPr>
          <a:xfrm>
            <a:off x="5715000" y="6553200"/>
            <a:ext cx="3276600" cy="0"/>
          </a:xfrm>
          <a:prstGeom prst="line">
            <a:avLst/>
          </a:prstGeom>
          <a:ln w="19050">
            <a:solidFill>
              <a:srgbClr val="3333CC"/>
            </a:solidFill>
          </a:ln>
        </p:spPr>
        <p:style>
          <a:lnRef idx="1">
            <a:schemeClr val="accent1"/>
          </a:lnRef>
          <a:fillRef idx="0">
            <a:schemeClr val="accent1"/>
          </a:fillRef>
          <a:effectRef idx="0">
            <a:schemeClr val="accent1"/>
          </a:effectRef>
          <a:fontRef idx="minor">
            <a:schemeClr val="tx1"/>
          </a:fontRef>
        </p:style>
      </p:cxnSp>
      <p:pic>
        <p:nvPicPr>
          <p:cNvPr id="589826" name="Picture 2" descr="#">
            <a:hlinkClick r:id="rId7"/>
          </p:cNvPr>
          <p:cNvPicPr>
            <a:picLocks noChangeAspect="1" noChangeArrowheads="1"/>
          </p:cNvPicPr>
          <p:nvPr/>
        </p:nvPicPr>
        <p:blipFill>
          <a:blip r:embed="rId8" cstate="print"/>
          <a:srcRect/>
          <a:stretch>
            <a:fillRect/>
          </a:stretch>
        </p:blipFill>
        <p:spPr bwMode="auto">
          <a:xfrm>
            <a:off x="2819400" y="2438400"/>
            <a:ext cx="927100" cy="1143000"/>
          </a:xfrm>
          <a:prstGeom prst="rect">
            <a:avLst/>
          </a:prstGeom>
          <a:noFill/>
        </p:spPr>
      </p:pic>
      <p:sp>
        <p:nvSpPr>
          <p:cNvPr id="59" name="Round Single Corner Rectangle 58"/>
          <p:cNvSpPr/>
          <p:nvPr/>
        </p:nvSpPr>
        <p:spPr bwMode="auto">
          <a:xfrm>
            <a:off x="2590800" y="35814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Database</a:t>
            </a:r>
          </a:p>
        </p:txBody>
      </p:sp>
      <p:sp>
        <p:nvSpPr>
          <p:cNvPr id="52" name="Round Single Corner Rectangle 51"/>
          <p:cNvSpPr/>
          <p:nvPr/>
        </p:nvSpPr>
        <p:spPr bwMode="auto">
          <a:xfrm>
            <a:off x="914400" y="16764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DCS</a:t>
            </a:r>
          </a:p>
        </p:txBody>
      </p:sp>
      <p:sp>
        <p:nvSpPr>
          <p:cNvPr id="64" name="Rectangle 63"/>
          <p:cNvSpPr/>
          <p:nvPr/>
        </p:nvSpPr>
        <p:spPr bwMode="auto">
          <a:xfrm>
            <a:off x="1133763" y="3937087"/>
            <a:ext cx="1880025" cy="570661"/>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pPr marR="0" algn="l" defTabSz="914400" rtl="0" eaLnBrk="1" fontAlgn="base" latinLnBrk="0" hangingPunct="1">
              <a:lnSpc>
                <a:spcPct val="100000"/>
              </a:lnSpc>
              <a:spcBef>
                <a:spcPct val="0"/>
              </a:spcBef>
              <a:spcAft>
                <a:spcPct val="0"/>
              </a:spcAft>
              <a:buClrTx/>
              <a:buSzTx/>
              <a:tabLst/>
            </a:pPr>
            <a:r>
              <a:rPr lang="en-US" sz="1400" b="1" dirty="0">
                <a:solidFill>
                  <a:schemeClr val="bg2"/>
                </a:solidFill>
              </a:rPr>
              <a:t>1.Notifdump files from every station</a:t>
            </a: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0" lang="en-US" sz="1400" b="0" i="0" u="none" strike="noStrike" cap="none" normalizeH="0" baseline="0" dirty="0">
              <a:ln>
                <a:noFill/>
              </a:ln>
              <a:solidFill>
                <a:schemeClr val="bg2"/>
              </a:solidFill>
              <a:effectLst/>
            </a:endParaRPr>
          </a:p>
        </p:txBody>
      </p:sp>
      <p:pic>
        <p:nvPicPr>
          <p:cNvPr id="73" name="Picture 4" descr="#">
            <a:hlinkClick r:id="rId9"/>
          </p:cNvPr>
          <p:cNvPicPr>
            <a:picLocks noChangeAspect="1" noChangeArrowheads="1"/>
          </p:cNvPicPr>
          <p:nvPr/>
        </p:nvPicPr>
        <p:blipFill>
          <a:blip r:embed="rId10" cstate="print"/>
          <a:srcRect/>
          <a:stretch>
            <a:fillRect/>
          </a:stretch>
        </p:blipFill>
        <p:spPr bwMode="auto">
          <a:xfrm>
            <a:off x="371027" y="4589031"/>
            <a:ext cx="990600" cy="1143000"/>
          </a:xfrm>
          <a:prstGeom prst="rect">
            <a:avLst/>
          </a:prstGeom>
          <a:noFill/>
        </p:spPr>
      </p:pic>
      <p:pic>
        <p:nvPicPr>
          <p:cNvPr id="90" name="Picture 89" descr="thin client by Anonymous - ">
            <a:hlinkClick r:id="rId11"/>
          </p:cNvPr>
          <p:cNvPicPr>
            <a:picLocks noChangeAspect="1" noChangeArrowheads="1"/>
          </p:cNvPicPr>
          <p:nvPr/>
        </p:nvPicPr>
        <p:blipFill>
          <a:blip r:embed="rId12" cstate="print"/>
          <a:srcRect/>
          <a:stretch>
            <a:fillRect/>
          </a:stretch>
        </p:blipFill>
        <p:spPr bwMode="auto">
          <a:xfrm>
            <a:off x="5791199" y="914400"/>
            <a:ext cx="842357" cy="741276"/>
          </a:xfrm>
          <a:prstGeom prst="rect">
            <a:avLst/>
          </a:prstGeom>
          <a:noFill/>
        </p:spPr>
      </p:pic>
      <p:pic>
        <p:nvPicPr>
          <p:cNvPr id="3100" name="Picture 28" descr="C:\Users\e154578\AppData\Local\Temp\SNAGHTML9ad281b.PNG"/>
          <p:cNvPicPr>
            <a:picLocks noChangeAspect="1" noChangeArrowheads="1"/>
          </p:cNvPicPr>
          <p:nvPr/>
        </p:nvPicPr>
        <p:blipFill>
          <a:blip r:embed="rId13" cstate="print"/>
          <a:srcRect/>
          <a:stretch>
            <a:fillRect/>
          </a:stretch>
        </p:blipFill>
        <p:spPr bwMode="auto">
          <a:xfrm>
            <a:off x="6553200" y="5334000"/>
            <a:ext cx="666750" cy="676276"/>
          </a:xfrm>
          <a:prstGeom prst="rect">
            <a:avLst/>
          </a:prstGeom>
          <a:noFill/>
        </p:spPr>
      </p:pic>
      <p:pic>
        <p:nvPicPr>
          <p:cNvPr id="3102" name="Picture 30" descr="C:\Users\e154578\AppData\Local\Temp\SNAGHTML9ad281b.PNG"/>
          <p:cNvPicPr>
            <a:picLocks noChangeAspect="1" noChangeArrowheads="1"/>
          </p:cNvPicPr>
          <p:nvPr/>
        </p:nvPicPr>
        <p:blipFill>
          <a:blip r:embed="rId13" cstate="print"/>
          <a:srcRect/>
          <a:stretch>
            <a:fillRect/>
          </a:stretch>
        </p:blipFill>
        <p:spPr bwMode="auto">
          <a:xfrm>
            <a:off x="6172200" y="838200"/>
            <a:ext cx="666750" cy="676276"/>
          </a:xfrm>
          <a:prstGeom prst="rect">
            <a:avLst/>
          </a:prstGeom>
          <a:noFill/>
        </p:spPr>
      </p:pic>
      <p:sp>
        <p:nvSpPr>
          <p:cNvPr id="91" name="Round Single Corner Rectangle 90"/>
          <p:cNvSpPr/>
          <p:nvPr/>
        </p:nvSpPr>
        <p:spPr bwMode="auto">
          <a:xfrm>
            <a:off x="5791200" y="1676400"/>
            <a:ext cx="990600" cy="304800"/>
          </a:xfrm>
          <a:prstGeom prst="round1Rect">
            <a:avLst/>
          </a:prstGeom>
          <a:noFill/>
          <a:ln w="9525" cap="flat" cmpd="sng" algn="ctr">
            <a:no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Rules Builder</a:t>
            </a:r>
          </a:p>
        </p:txBody>
      </p:sp>
      <p:cxnSp>
        <p:nvCxnSpPr>
          <p:cNvPr id="36" name="Straight Arrow Connector 35"/>
          <p:cNvCxnSpPr>
            <a:cxnSpLocks/>
          </p:cNvCxnSpPr>
          <p:nvPr/>
        </p:nvCxnSpPr>
        <p:spPr bwMode="auto">
          <a:xfrm flipH="1">
            <a:off x="706969" y="1752600"/>
            <a:ext cx="969431" cy="2103204"/>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pic>
        <p:nvPicPr>
          <p:cNvPr id="3121" name="Picture 49" descr="C:\Users\e154578\AppData\Local\Temp\SNAGHTMLde6a491.PNG"/>
          <p:cNvPicPr>
            <a:picLocks noChangeAspect="1" noChangeArrowheads="1"/>
          </p:cNvPicPr>
          <p:nvPr/>
        </p:nvPicPr>
        <p:blipFill>
          <a:blip r:embed="rId14" cstate="print"/>
          <a:srcRect/>
          <a:stretch>
            <a:fillRect/>
          </a:stretch>
        </p:blipFill>
        <p:spPr bwMode="auto">
          <a:xfrm>
            <a:off x="762000" y="6016601"/>
            <a:ext cx="762000" cy="762000"/>
          </a:xfrm>
          <a:prstGeom prst="rect">
            <a:avLst/>
          </a:prstGeom>
          <a:noFill/>
        </p:spPr>
      </p:pic>
      <p:sp>
        <p:nvSpPr>
          <p:cNvPr id="3123" name="AutoShape 51"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25" name="AutoShape 53"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27" name="AutoShape 55"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29" name="AutoShape 57"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131" name="AutoShape 59" descr="data:image/jpeg;base64,/9j/4AAQSkZJRgABAQAAAQABAAD/2wCEAAkGBggPDxAUEhQKFQ8QDRQYFw8VDRQVGxAWFBQWFR8UFxQYHTIeGBkjHhgYITUgJCcpLCwtFR8xNTAqNSYsLCkBCQoKDgwOFg8PGDUcHhwuMSwpKSwpKSwpKSwpLCspKSksKSktKSksKSkpKSkpKSwpLCkpMikpKSkpKSwuKSkpKf/AABEIAE8ATwMBIgACEQEDEQH/xAAbAAACAgMBAAAAAAAAAAAAAAADBgECAAQFB//EAEMQAAEBBQMGCAsGBwAAAAAAAAECAAMEBREGMdESIUFRUlMTFRZxdJKTlBQjJDNCkaGywcLSYXKBgrHhIiUyNDWipP/EABcBAQEBAQAAAAAAAAAAAAAAAAEAAgP/xAAbEQEBAAMBAQEAAAAAAAAAAAAAAQIRITFRQf/aAAwDAQACEQMRAD8A9xZCk8jcxAeKUp4kpekUAHPpZ9ZVskPFvukfK2oxkpyOhd4/9ScGnkbC7yI9ScGKu1svBIIf1BI/pToNNbRyxlup/wBVOLPWVORkLvIj1JwaeRULvIj1Jwa/LKW6n/VT9Tb8rnkLElQRwlUJBOUALzTQWOnhVh0xUNEPi5qrgFUUD6aK6QL/AMLr2dZVNXES7CkH7ydKDqOLcGVJrGxv3h7zDjYKIhXnDw/53WgjSaavs0Xhq9Uuje2NpSqauIl2Fo/MnSg6ji262XRjK1kR4t90j4M0sr2PHi33SPlZjOSV2ikwJBSahRB8nTeDQtHKWSbJ7slrLnUhBIKUVCiD5NpBz6NbZx5Z/ZR3X9mWVeU0k2f+ZLdCUTWAflYdChSkE+KCcxP2Xto8eWf2Ud1/ZiObSyNFcn+Gt+S4Ir6g0WnEwU2cP3zx34OA+Wc6lA1F9xGZhmIn59KF/wBcG6ptdKdp52SmLCWilr1aUIKspVaAuiLgTf8Ag0tT6XJUmKcxrqpQkvVZwgihBrmoMwzirPbLM2A4wg7rj7xZmYpxYyxY4eLfdJ+DM7LNjPNvuk/K1FfYquaWcCiCh1UKNfJSc9c+emto42szsOu6nBjLmdnATVLioUa+TG+pr6Oto40szsw/dT9LIC42szsOu6nBp42sxsOu6nBicaWZ2Yfup+lo40s1sw/dT9LSU43szsOu6nBjy+YyJT1AdJdh4SckiHKaZj6VM2arCM0s1sw/dT9LGgY+RqeJDoOeEJOTSHyTcdNM2arS2DNT/MIPmPvKZmZXmf8AkIPmPvKZoYpxYy1Yvzb7pB/QMystWK82/wCkH9A1+G+xLx/ZjKNRC5WUa+LVfXPo1tHhFltUL2asGq9eWWylVDjKyjX+B5fU10a2qXlldUP1HmDLK/hFltUL2asGjwizGqE7JWDD4Sy2qH6jzBo4Sy+qH6j1oCeEWZ1QnZqwY0G/kReJ4IQ/CVOTku1A3G401VbU4SzGqH6j1jQS5FwieCDnhKnJolYNx15rqsjasxP8wg+b5lM0sqx/9/Cc3xUzU2a3ixlqxnm33SD7oZlbz+VWhXCh4kISrKek1KyKaNTUVujWuQSskkunVSSTfeTXW1DIJXuXXtxbict326d9qcGg21e7p32hwZ1Wdx2jIpXunXtxapkUs3Tr24txeWb3dO+0ODRyye7p32hwZ0NuyZHLN069uLWdSuBQoKS7dhQuIrm0a24Ztg93TvtDg0crnu6d9ocGg3o0+XwnN8VM1shwczVERsMSlKclVKBRNbyz4xW8PH//2Q==">
            <a:hlinkClick r:id="rId15"/>
          </p:cNvPr>
          <p:cNvSpPr>
            <a:spLocks noChangeAspect="1" noChangeArrowheads="1"/>
          </p:cNvSpPr>
          <p:nvPr/>
        </p:nvSpPr>
        <p:spPr bwMode="auto">
          <a:xfrm>
            <a:off x="109538" y="-427038"/>
            <a:ext cx="895350" cy="8953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9" name="Rectangle 38"/>
          <p:cNvSpPr/>
          <p:nvPr/>
        </p:nvSpPr>
        <p:spPr bwMode="auto">
          <a:xfrm>
            <a:off x="4495800" y="2362200"/>
            <a:ext cx="2438400" cy="480395"/>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r>
              <a:rPr lang="en-US" sz="1400" b="1" dirty="0">
                <a:solidFill>
                  <a:schemeClr val="bg2"/>
                </a:solidFill>
              </a:rPr>
              <a:t>4. Synchronization + KPI statistics (every 10 min)</a:t>
            </a:r>
          </a:p>
        </p:txBody>
      </p:sp>
      <p:pic>
        <p:nvPicPr>
          <p:cNvPr id="40" name="Picture 39"/>
          <p:cNvPicPr>
            <a:picLocks noChangeAspect="1"/>
          </p:cNvPicPr>
          <p:nvPr/>
        </p:nvPicPr>
        <p:blipFill>
          <a:blip r:embed="rId16" cstate="print"/>
          <a:stretch>
            <a:fillRect/>
          </a:stretch>
        </p:blipFill>
        <p:spPr>
          <a:xfrm>
            <a:off x="3886200" y="2438400"/>
            <a:ext cx="361905" cy="447619"/>
          </a:xfrm>
          <a:prstGeom prst="rect">
            <a:avLst/>
          </a:prstGeom>
        </p:spPr>
      </p:pic>
      <p:sp>
        <p:nvSpPr>
          <p:cNvPr id="42" name="Freeform 41"/>
          <p:cNvSpPr/>
          <p:nvPr/>
        </p:nvSpPr>
        <p:spPr>
          <a:xfrm rot="14995462">
            <a:off x="2827656" y="2891897"/>
            <a:ext cx="2045043" cy="5179478"/>
          </a:xfrm>
          <a:custGeom>
            <a:avLst/>
            <a:gdLst>
              <a:gd name="connsiteX0" fmla="*/ 1276598 w 1478478"/>
              <a:gd name="connsiteY0" fmla="*/ 0 h 2634342"/>
              <a:gd name="connsiteX1" fmla="*/ 1442852 w 1478478"/>
              <a:gd name="connsiteY1" fmla="*/ 605641 h 2634342"/>
              <a:gd name="connsiteX2" fmla="*/ 1062842 w 1478478"/>
              <a:gd name="connsiteY2" fmla="*/ 926275 h 2634342"/>
              <a:gd name="connsiteX3" fmla="*/ 1039091 w 1478478"/>
              <a:gd name="connsiteY3" fmla="*/ 961901 h 2634342"/>
              <a:gd name="connsiteX4" fmla="*/ 1205346 w 1478478"/>
              <a:gd name="connsiteY4" fmla="*/ 1341911 h 2634342"/>
              <a:gd name="connsiteX5" fmla="*/ 837211 w 1478478"/>
              <a:gd name="connsiteY5" fmla="*/ 1460665 h 2634342"/>
              <a:gd name="connsiteX6" fmla="*/ 920338 w 1478478"/>
              <a:gd name="connsiteY6" fmla="*/ 1781298 h 2634342"/>
              <a:gd name="connsiteX7" fmla="*/ 659081 w 1478478"/>
              <a:gd name="connsiteY7" fmla="*/ 1971304 h 2634342"/>
              <a:gd name="connsiteX8" fmla="*/ 89065 w 1478478"/>
              <a:gd name="connsiteY8" fmla="*/ 2541319 h 2634342"/>
              <a:gd name="connsiteX9" fmla="*/ 124691 w 1478478"/>
              <a:gd name="connsiteY9" fmla="*/ 2529444 h 2634342"/>
              <a:gd name="connsiteX0" fmla="*/ 1276598 w 1478478"/>
              <a:gd name="connsiteY0" fmla="*/ 0 h 2634342"/>
              <a:gd name="connsiteX1" fmla="*/ 1442852 w 1478478"/>
              <a:gd name="connsiteY1" fmla="*/ 605641 h 2634342"/>
              <a:gd name="connsiteX2" fmla="*/ 1062842 w 1478478"/>
              <a:gd name="connsiteY2" fmla="*/ 926275 h 2634342"/>
              <a:gd name="connsiteX3" fmla="*/ 1027216 w 1478478"/>
              <a:gd name="connsiteY3" fmla="*/ 1083623 h 2634342"/>
              <a:gd name="connsiteX4" fmla="*/ 1205346 w 1478478"/>
              <a:gd name="connsiteY4" fmla="*/ 1341911 h 2634342"/>
              <a:gd name="connsiteX5" fmla="*/ 837211 w 1478478"/>
              <a:gd name="connsiteY5" fmla="*/ 1460665 h 2634342"/>
              <a:gd name="connsiteX6" fmla="*/ 920338 w 1478478"/>
              <a:gd name="connsiteY6" fmla="*/ 1781298 h 2634342"/>
              <a:gd name="connsiteX7" fmla="*/ 659081 w 1478478"/>
              <a:gd name="connsiteY7" fmla="*/ 1971304 h 2634342"/>
              <a:gd name="connsiteX8" fmla="*/ 89065 w 1478478"/>
              <a:gd name="connsiteY8" fmla="*/ 2541319 h 2634342"/>
              <a:gd name="connsiteX9" fmla="*/ 124691 w 1478478"/>
              <a:gd name="connsiteY9" fmla="*/ 2529444 h 2634342"/>
              <a:gd name="connsiteX0" fmla="*/ 1287154 w 1489034"/>
              <a:gd name="connsiteY0" fmla="*/ 0 h 2604489"/>
              <a:gd name="connsiteX1" fmla="*/ 1453408 w 1489034"/>
              <a:gd name="connsiteY1" fmla="*/ 605641 h 2604489"/>
              <a:gd name="connsiteX2" fmla="*/ 1073398 w 1489034"/>
              <a:gd name="connsiteY2" fmla="*/ 926275 h 2604489"/>
              <a:gd name="connsiteX3" fmla="*/ 1037772 w 1489034"/>
              <a:gd name="connsiteY3" fmla="*/ 1083623 h 2604489"/>
              <a:gd name="connsiteX4" fmla="*/ 1215902 w 1489034"/>
              <a:gd name="connsiteY4" fmla="*/ 1341911 h 2604489"/>
              <a:gd name="connsiteX5" fmla="*/ 847767 w 1489034"/>
              <a:gd name="connsiteY5" fmla="*/ 1460665 h 2604489"/>
              <a:gd name="connsiteX6" fmla="*/ 930894 w 1489034"/>
              <a:gd name="connsiteY6" fmla="*/ 1781298 h 2604489"/>
              <a:gd name="connsiteX7" fmla="*/ 732972 w 1489034"/>
              <a:gd name="connsiteY7" fmla="*/ 2150423 h 2604489"/>
              <a:gd name="connsiteX8" fmla="*/ 99621 w 1489034"/>
              <a:gd name="connsiteY8" fmla="*/ 2541319 h 2604489"/>
              <a:gd name="connsiteX9" fmla="*/ 135247 w 1489034"/>
              <a:gd name="connsiteY9" fmla="*/ 2529444 h 2604489"/>
              <a:gd name="connsiteX0" fmla="*/ 1287154 w 1489034"/>
              <a:gd name="connsiteY0" fmla="*/ 0 h 2604489"/>
              <a:gd name="connsiteX1" fmla="*/ 1453408 w 1489034"/>
              <a:gd name="connsiteY1" fmla="*/ 605641 h 2604489"/>
              <a:gd name="connsiteX2" fmla="*/ 1073398 w 1489034"/>
              <a:gd name="connsiteY2" fmla="*/ 926275 h 2604489"/>
              <a:gd name="connsiteX3" fmla="*/ 1037772 w 1489034"/>
              <a:gd name="connsiteY3" fmla="*/ 1083623 h 2604489"/>
              <a:gd name="connsiteX4" fmla="*/ 1215902 w 1489034"/>
              <a:gd name="connsiteY4" fmla="*/ 1341911 h 2604489"/>
              <a:gd name="connsiteX5" fmla="*/ 847767 w 1489034"/>
              <a:gd name="connsiteY5" fmla="*/ 1460665 h 2604489"/>
              <a:gd name="connsiteX6" fmla="*/ 809172 w 1489034"/>
              <a:gd name="connsiteY6" fmla="*/ 1769424 h 2604489"/>
              <a:gd name="connsiteX7" fmla="*/ 732972 w 1489034"/>
              <a:gd name="connsiteY7" fmla="*/ 2150423 h 2604489"/>
              <a:gd name="connsiteX8" fmla="*/ 99621 w 1489034"/>
              <a:gd name="connsiteY8" fmla="*/ 2541319 h 2604489"/>
              <a:gd name="connsiteX9" fmla="*/ 135247 w 1489034"/>
              <a:gd name="connsiteY9" fmla="*/ 2529444 h 2604489"/>
              <a:gd name="connsiteX0" fmla="*/ 1287154 w 1489034"/>
              <a:gd name="connsiteY0" fmla="*/ 0 h 2604489"/>
              <a:gd name="connsiteX1" fmla="*/ 1453408 w 1489034"/>
              <a:gd name="connsiteY1" fmla="*/ 605641 h 2604489"/>
              <a:gd name="connsiteX2" fmla="*/ 1073398 w 1489034"/>
              <a:gd name="connsiteY2" fmla="*/ 926275 h 2604489"/>
              <a:gd name="connsiteX3" fmla="*/ 1037772 w 1489034"/>
              <a:gd name="connsiteY3" fmla="*/ 1083623 h 2604489"/>
              <a:gd name="connsiteX4" fmla="*/ 1215902 w 1489034"/>
              <a:gd name="connsiteY4" fmla="*/ 1341911 h 2604489"/>
              <a:gd name="connsiteX5" fmla="*/ 847767 w 1489034"/>
              <a:gd name="connsiteY5" fmla="*/ 1460665 h 2604489"/>
              <a:gd name="connsiteX6" fmla="*/ 732972 w 1489034"/>
              <a:gd name="connsiteY6" fmla="*/ 1769424 h 2604489"/>
              <a:gd name="connsiteX7" fmla="*/ 732972 w 1489034"/>
              <a:gd name="connsiteY7" fmla="*/ 2150423 h 2604489"/>
              <a:gd name="connsiteX8" fmla="*/ 99621 w 1489034"/>
              <a:gd name="connsiteY8" fmla="*/ 2541319 h 2604489"/>
              <a:gd name="connsiteX9" fmla="*/ 135247 w 1489034"/>
              <a:gd name="connsiteY9" fmla="*/ 2529444 h 2604489"/>
              <a:gd name="connsiteX0" fmla="*/ 1287154 w 1606798"/>
              <a:gd name="connsiteY0" fmla="*/ 0 h 2604489"/>
              <a:gd name="connsiteX1" fmla="*/ 1571172 w 1606798"/>
              <a:gd name="connsiteY1" fmla="*/ 397824 h 2604489"/>
              <a:gd name="connsiteX2" fmla="*/ 1073398 w 1606798"/>
              <a:gd name="connsiteY2" fmla="*/ 926275 h 2604489"/>
              <a:gd name="connsiteX3" fmla="*/ 1037772 w 1606798"/>
              <a:gd name="connsiteY3" fmla="*/ 1083623 h 2604489"/>
              <a:gd name="connsiteX4" fmla="*/ 1215902 w 1606798"/>
              <a:gd name="connsiteY4" fmla="*/ 1341911 h 2604489"/>
              <a:gd name="connsiteX5" fmla="*/ 847767 w 1606798"/>
              <a:gd name="connsiteY5" fmla="*/ 1460665 h 2604489"/>
              <a:gd name="connsiteX6" fmla="*/ 732972 w 1606798"/>
              <a:gd name="connsiteY6" fmla="*/ 1769424 h 2604489"/>
              <a:gd name="connsiteX7" fmla="*/ 732972 w 1606798"/>
              <a:gd name="connsiteY7" fmla="*/ 2150423 h 2604489"/>
              <a:gd name="connsiteX8" fmla="*/ 99621 w 1606798"/>
              <a:gd name="connsiteY8" fmla="*/ 2541319 h 2604489"/>
              <a:gd name="connsiteX9" fmla="*/ 135247 w 1606798"/>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037772 w 1600036"/>
              <a:gd name="connsiteY3" fmla="*/ 1083623 h 2604489"/>
              <a:gd name="connsiteX4" fmla="*/ 1215902 w 1600036"/>
              <a:gd name="connsiteY4" fmla="*/ 1341911 h 2604489"/>
              <a:gd name="connsiteX5" fmla="*/ 847767 w 1600036"/>
              <a:gd name="connsiteY5" fmla="*/ 1460665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342572 w 1600036"/>
              <a:gd name="connsiteY3" fmla="*/ 1236024 h 2604489"/>
              <a:gd name="connsiteX4" fmla="*/ 1215902 w 1600036"/>
              <a:gd name="connsiteY4" fmla="*/ 1341911 h 2604489"/>
              <a:gd name="connsiteX5" fmla="*/ 847767 w 1600036"/>
              <a:gd name="connsiteY5" fmla="*/ 1460665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342572 w 1600036"/>
              <a:gd name="connsiteY3" fmla="*/ 1236024 h 2604489"/>
              <a:gd name="connsiteX4" fmla="*/ 809172 w 1600036"/>
              <a:gd name="connsiteY4" fmla="*/ 1312224 h 2604489"/>
              <a:gd name="connsiteX5" fmla="*/ 847767 w 1600036"/>
              <a:gd name="connsiteY5" fmla="*/ 1460665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600036"/>
              <a:gd name="connsiteY0" fmla="*/ 0 h 2604489"/>
              <a:gd name="connsiteX1" fmla="*/ 1571172 w 1600036"/>
              <a:gd name="connsiteY1" fmla="*/ 397824 h 2604489"/>
              <a:gd name="connsiteX2" fmla="*/ 1113972 w 1600036"/>
              <a:gd name="connsiteY2" fmla="*/ 702624 h 2604489"/>
              <a:gd name="connsiteX3" fmla="*/ 1342572 w 1600036"/>
              <a:gd name="connsiteY3" fmla="*/ 1236024 h 2604489"/>
              <a:gd name="connsiteX4" fmla="*/ 809172 w 1600036"/>
              <a:gd name="connsiteY4" fmla="*/ 1312224 h 2604489"/>
              <a:gd name="connsiteX5" fmla="*/ 961572 w 1600036"/>
              <a:gd name="connsiteY5" fmla="*/ 1693224 h 2604489"/>
              <a:gd name="connsiteX6" fmla="*/ 732972 w 1600036"/>
              <a:gd name="connsiteY6" fmla="*/ 1769424 h 2604489"/>
              <a:gd name="connsiteX7" fmla="*/ 732972 w 1600036"/>
              <a:gd name="connsiteY7" fmla="*/ 2150423 h 2604489"/>
              <a:gd name="connsiteX8" fmla="*/ 99621 w 1600036"/>
              <a:gd name="connsiteY8" fmla="*/ 2541319 h 2604489"/>
              <a:gd name="connsiteX9" fmla="*/ 135247 w 1600036"/>
              <a:gd name="connsiteY9" fmla="*/ 2529444 h 2604489"/>
              <a:gd name="connsiteX0" fmla="*/ 1287154 w 1393372"/>
              <a:gd name="connsiteY0" fmla="*/ 0 h 2604489"/>
              <a:gd name="connsiteX1" fmla="*/ 1342572 w 1393372"/>
              <a:gd name="connsiteY1" fmla="*/ 397824 h 2604489"/>
              <a:gd name="connsiteX2" fmla="*/ 1113972 w 1393372"/>
              <a:gd name="connsiteY2" fmla="*/ 702624 h 2604489"/>
              <a:gd name="connsiteX3" fmla="*/ 1342572 w 1393372"/>
              <a:gd name="connsiteY3" fmla="*/ 1236024 h 2604489"/>
              <a:gd name="connsiteX4" fmla="*/ 809172 w 1393372"/>
              <a:gd name="connsiteY4" fmla="*/ 1312224 h 2604489"/>
              <a:gd name="connsiteX5" fmla="*/ 961572 w 1393372"/>
              <a:gd name="connsiteY5" fmla="*/ 1693224 h 2604489"/>
              <a:gd name="connsiteX6" fmla="*/ 732972 w 1393372"/>
              <a:gd name="connsiteY6" fmla="*/ 1769424 h 2604489"/>
              <a:gd name="connsiteX7" fmla="*/ 732972 w 1393372"/>
              <a:gd name="connsiteY7" fmla="*/ 2150423 h 2604489"/>
              <a:gd name="connsiteX8" fmla="*/ 99621 w 1393372"/>
              <a:gd name="connsiteY8" fmla="*/ 2541319 h 2604489"/>
              <a:gd name="connsiteX9" fmla="*/ 135247 w 1393372"/>
              <a:gd name="connsiteY9" fmla="*/ 2529444 h 2604489"/>
              <a:gd name="connsiteX0" fmla="*/ 1287154 w 1388094"/>
              <a:gd name="connsiteY0" fmla="*/ 0 h 2604489"/>
              <a:gd name="connsiteX1" fmla="*/ 1342572 w 1388094"/>
              <a:gd name="connsiteY1" fmla="*/ 397824 h 2604489"/>
              <a:gd name="connsiteX2" fmla="*/ 1113972 w 1388094"/>
              <a:gd name="connsiteY2" fmla="*/ 702624 h 2604489"/>
              <a:gd name="connsiteX3" fmla="*/ 1113972 w 1388094"/>
              <a:gd name="connsiteY3" fmla="*/ 1159824 h 2604489"/>
              <a:gd name="connsiteX4" fmla="*/ 809172 w 1388094"/>
              <a:gd name="connsiteY4" fmla="*/ 1312224 h 2604489"/>
              <a:gd name="connsiteX5" fmla="*/ 961572 w 1388094"/>
              <a:gd name="connsiteY5" fmla="*/ 1693224 h 2604489"/>
              <a:gd name="connsiteX6" fmla="*/ 732972 w 1388094"/>
              <a:gd name="connsiteY6" fmla="*/ 1769424 h 2604489"/>
              <a:gd name="connsiteX7" fmla="*/ 732972 w 1388094"/>
              <a:gd name="connsiteY7" fmla="*/ 2150423 h 2604489"/>
              <a:gd name="connsiteX8" fmla="*/ 99621 w 1388094"/>
              <a:gd name="connsiteY8" fmla="*/ 2541319 h 2604489"/>
              <a:gd name="connsiteX9" fmla="*/ 135247 w 1388094"/>
              <a:gd name="connsiteY9" fmla="*/ 2529444 h 2604489"/>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796472 w 1375394"/>
              <a:gd name="connsiteY4" fmla="*/ 1312224 h 2581893"/>
              <a:gd name="connsiteX5" fmla="*/ 948872 w 1375394"/>
              <a:gd name="connsiteY5" fmla="*/ 1693224 h 2581893"/>
              <a:gd name="connsiteX6" fmla="*/ 720272 w 1375394"/>
              <a:gd name="connsiteY6" fmla="*/ 1769424 h 2581893"/>
              <a:gd name="connsiteX7" fmla="*/ 644072 w 1375394"/>
              <a:gd name="connsiteY7" fmla="*/ 2302824 h 2581893"/>
              <a:gd name="connsiteX8" fmla="*/ 86921 w 1375394"/>
              <a:gd name="connsiteY8" fmla="*/ 2541319 h 2581893"/>
              <a:gd name="connsiteX9" fmla="*/ 122547 w 1375394"/>
              <a:gd name="connsiteY9" fmla="*/ 2529444 h 2581893"/>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796472 w 1375394"/>
              <a:gd name="connsiteY4" fmla="*/ 1312224 h 2581893"/>
              <a:gd name="connsiteX5" fmla="*/ 948872 w 1375394"/>
              <a:gd name="connsiteY5" fmla="*/ 1693224 h 2581893"/>
              <a:gd name="connsiteX6" fmla="*/ 644072 w 1375394"/>
              <a:gd name="connsiteY6" fmla="*/ 1998024 h 2581893"/>
              <a:gd name="connsiteX7" fmla="*/ 644072 w 1375394"/>
              <a:gd name="connsiteY7" fmla="*/ 2302824 h 2581893"/>
              <a:gd name="connsiteX8" fmla="*/ 86921 w 1375394"/>
              <a:gd name="connsiteY8" fmla="*/ 2541319 h 2581893"/>
              <a:gd name="connsiteX9" fmla="*/ 122547 w 1375394"/>
              <a:gd name="connsiteY9" fmla="*/ 2529444 h 2581893"/>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872672 w 1375394"/>
              <a:gd name="connsiteY4" fmla="*/ 1236024 h 2581893"/>
              <a:gd name="connsiteX5" fmla="*/ 948872 w 1375394"/>
              <a:gd name="connsiteY5" fmla="*/ 1693224 h 2581893"/>
              <a:gd name="connsiteX6" fmla="*/ 644072 w 1375394"/>
              <a:gd name="connsiteY6" fmla="*/ 1998024 h 2581893"/>
              <a:gd name="connsiteX7" fmla="*/ 644072 w 1375394"/>
              <a:gd name="connsiteY7" fmla="*/ 2302824 h 2581893"/>
              <a:gd name="connsiteX8" fmla="*/ 86921 w 1375394"/>
              <a:gd name="connsiteY8" fmla="*/ 2541319 h 2581893"/>
              <a:gd name="connsiteX9" fmla="*/ 122547 w 1375394"/>
              <a:gd name="connsiteY9" fmla="*/ 2529444 h 2581893"/>
              <a:gd name="connsiteX0" fmla="*/ 1274454 w 1375394"/>
              <a:gd name="connsiteY0" fmla="*/ 0 h 2581893"/>
              <a:gd name="connsiteX1" fmla="*/ 1329872 w 1375394"/>
              <a:gd name="connsiteY1" fmla="*/ 397824 h 2581893"/>
              <a:gd name="connsiteX2" fmla="*/ 1101272 w 1375394"/>
              <a:gd name="connsiteY2" fmla="*/ 702624 h 2581893"/>
              <a:gd name="connsiteX3" fmla="*/ 1101272 w 1375394"/>
              <a:gd name="connsiteY3" fmla="*/ 1159824 h 2581893"/>
              <a:gd name="connsiteX4" fmla="*/ 872672 w 1375394"/>
              <a:gd name="connsiteY4" fmla="*/ 1312224 h 2581893"/>
              <a:gd name="connsiteX5" fmla="*/ 948872 w 1375394"/>
              <a:gd name="connsiteY5" fmla="*/ 1693224 h 2581893"/>
              <a:gd name="connsiteX6" fmla="*/ 644072 w 1375394"/>
              <a:gd name="connsiteY6" fmla="*/ 1998024 h 2581893"/>
              <a:gd name="connsiteX7" fmla="*/ 644072 w 1375394"/>
              <a:gd name="connsiteY7" fmla="*/ 2302824 h 2581893"/>
              <a:gd name="connsiteX8" fmla="*/ 86921 w 1375394"/>
              <a:gd name="connsiteY8" fmla="*/ 2541319 h 2581893"/>
              <a:gd name="connsiteX9" fmla="*/ 122547 w 1375394"/>
              <a:gd name="connsiteY9" fmla="*/ 2529444 h 2581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5394" h="2581893">
                <a:moveTo>
                  <a:pt x="1274454" y="0"/>
                </a:moveTo>
                <a:cubicBezTo>
                  <a:pt x="1375394" y="225631"/>
                  <a:pt x="1358736" y="280720"/>
                  <a:pt x="1329872" y="397824"/>
                </a:cubicBezTo>
                <a:cubicBezTo>
                  <a:pt x="1301008" y="514928"/>
                  <a:pt x="1139372" y="575624"/>
                  <a:pt x="1101272" y="702624"/>
                </a:cubicBezTo>
                <a:cubicBezTo>
                  <a:pt x="1063172" y="829624"/>
                  <a:pt x="1139372" y="1058224"/>
                  <a:pt x="1101272" y="1159824"/>
                </a:cubicBezTo>
                <a:cubicBezTo>
                  <a:pt x="1063172" y="1261424"/>
                  <a:pt x="898072" y="1223324"/>
                  <a:pt x="872672" y="1312224"/>
                </a:cubicBezTo>
                <a:cubicBezTo>
                  <a:pt x="847272" y="1401124"/>
                  <a:pt x="986972" y="1578924"/>
                  <a:pt x="948872" y="1693224"/>
                </a:cubicBezTo>
                <a:cubicBezTo>
                  <a:pt x="910772" y="1807524"/>
                  <a:pt x="694872" y="1896424"/>
                  <a:pt x="644072" y="1998024"/>
                </a:cubicBezTo>
                <a:cubicBezTo>
                  <a:pt x="593272" y="2099624"/>
                  <a:pt x="736930" y="2212275"/>
                  <a:pt x="644072" y="2302824"/>
                </a:cubicBezTo>
                <a:cubicBezTo>
                  <a:pt x="551214" y="2393373"/>
                  <a:pt x="173842" y="2503549"/>
                  <a:pt x="86921" y="2541319"/>
                </a:cubicBezTo>
                <a:cubicBezTo>
                  <a:pt x="0" y="2579089"/>
                  <a:pt x="60201" y="2581893"/>
                  <a:pt x="122547" y="2529444"/>
                </a:cubicBezTo>
              </a:path>
            </a:pathLst>
          </a:custGeom>
          <a:ln w="34925">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3" name="TextBox 42"/>
          <p:cNvSpPr txBox="1"/>
          <p:nvPr/>
        </p:nvSpPr>
        <p:spPr>
          <a:xfrm>
            <a:off x="3265353" y="4583668"/>
            <a:ext cx="1295400" cy="369332"/>
          </a:xfrm>
          <a:prstGeom prst="rect">
            <a:avLst/>
          </a:prstGeom>
        </p:spPr>
        <p:txBody>
          <a:bodyPr wrap="square" rtlCol="0">
            <a:spAutoFit/>
          </a:bodyPr>
          <a:lstStyle/>
          <a:p>
            <a:pPr algn="ctr"/>
            <a:r>
              <a:rPr lang="en-US" sz="1800" kern="0" dirty="0">
                <a:solidFill>
                  <a:schemeClr val="accent2">
                    <a:lumMod val="75000"/>
                  </a:schemeClr>
                </a:solidFill>
                <a:latin typeface="Bauhaus 93" pitchFamily="82" charset="0"/>
                <a:ea typeface="+mj-ea"/>
                <a:cs typeface="+mj-cs"/>
              </a:rPr>
              <a:t>Messages</a:t>
            </a:r>
          </a:p>
        </p:txBody>
      </p:sp>
      <p:pic>
        <p:nvPicPr>
          <p:cNvPr id="171010" name="Picture 2" descr="C:\Users\E154578\AppData\Local\Temp\SNAGHTML1c287ae.PNG"/>
          <p:cNvPicPr>
            <a:picLocks noChangeAspect="1" noChangeArrowheads="1"/>
          </p:cNvPicPr>
          <p:nvPr/>
        </p:nvPicPr>
        <p:blipFill>
          <a:blip r:embed="rId17" cstate="print"/>
          <a:srcRect/>
          <a:stretch>
            <a:fillRect/>
          </a:stretch>
        </p:blipFill>
        <p:spPr bwMode="auto">
          <a:xfrm>
            <a:off x="2819400" y="2066306"/>
            <a:ext cx="762000" cy="732313"/>
          </a:xfrm>
          <a:prstGeom prst="rect">
            <a:avLst/>
          </a:prstGeom>
          <a:noFill/>
        </p:spPr>
      </p:pic>
      <p:pic>
        <p:nvPicPr>
          <p:cNvPr id="3" name="Picture 2">
            <a:extLst>
              <a:ext uri="{FF2B5EF4-FFF2-40B4-BE49-F238E27FC236}">
                <a16:creationId xmlns:a16="http://schemas.microsoft.com/office/drawing/2014/main" id="{E4CBD409-34D5-4BA1-8B56-16DD31DDAD04}"/>
              </a:ext>
            </a:extLst>
          </p:cNvPr>
          <p:cNvPicPr>
            <a:picLocks noChangeAspect="1"/>
          </p:cNvPicPr>
          <p:nvPr/>
        </p:nvPicPr>
        <p:blipFill>
          <a:blip r:embed="rId18"/>
          <a:stretch>
            <a:fillRect/>
          </a:stretch>
        </p:blipFill>
        <p:spPr>
          <a:xfrm>
            <a:off x="-6501" y="2194169"/>
            <a:ext cx="1682902" cy="767106"/>
          </a:xfrm>
          <a:prstGeom prst="rect">
            <a:avLst/>
          </a:prstGeom>
          <a:ln>
            <a:solidFill>
              <a:schemeClr val="bg2"/>
            </a:solidFill>
          </a:ln>
        </p:spPr>
      </p:pic>
      <p:pic>
        <p:nvPicPr>
          <p:cNvPr id="17410" name="Picture 2" descr="C:\Users\E154578\AppData\Local\Temp\SNAGHTML90ec866.PNG">
            <a:extLst>
              <a:ext uri="{FF2B5EF4-FFF2-40B4-BE49-F238E27FC236}">
                <a16:creationId xmlns:a16="http://schemas.microsoft.com/office/drawing/2014/main" id="{0EDE91DA-B9BB-4223-9A1C-DA52153DEE8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9074" y="4038600"/>
            <a:ext cx="383951" cy="402009"/>
          </a:xfrm>
          <a:prstGeom prst="rect">
            <a:avLst/>
          </a:prstGeom>
          <a:solidFill>
            <a:schemeClr val="bg1"/>
          </a:solidFill>
          <a:ln w="25400">
            <a:solidFill>
              <a:schemeClr val="tx1"/>
            </a:solidFill>
          </a:ln>
        </p:spPr>
      </p:pic>
      <p:sp>
        <p:nvSpPr>
          <p:cNvPr id="37" name="Rectangle 36">
            <a:extLst>
              <a:ext uri="{FF2B5EF4-FFF2-40B4-BE49-F238E27FC236}">
                <a16:creationId xmlns:a16="http://schemas.microsoft.com/office/drawing/2014/main" id="{5000277B-93D0-4119-83A2-59B12A63598B}"/>
              </a:ext>
            </a:extLst>
          </p:cNvPr>
          <p:cNvSpPr/>
          <p:nvPr/>
        </p:nvSpPr>
        <p:spPr bwMode="auto">
          <a:xfrm>
            <a:off x="-56470" y="5191095"/>
            <a:ext cx="2342470" cy="819181"/>
          </a:xfrm>
          <a:prstGeom prst="rect">
            <a:avLst/>
          </a:prstGeom>
          <a:solidFill>
            <a:schemeClr val="accent1"/>
          </a:solidFill>
          <a:ln w="9525" cap="flat" cmpd="sng" algn="ctr">
            <a:solidFill>
              <a:srgbClr val="FF0000"/>
            </a:solid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noAutofit/>
          </a:bodyPr>
          <a:lstStyle/>
          <a:p>
            <a:pPr marR="0" algn="l" defTabSz="914400" rtl="0" eaLnBrk="1" fontAlgn="base" latinLnBrk="0" hangingPunct="1">
              <a:lnSpc>
                <a:spcPct val="100000"/>
              </a:lnSpc>
              <a:spcBef>
                <a:spcPct val="0"/>
              </a:spcBef>
              <a:spcAft>
                <a:spcPct val="0"/>
              </a:spcAft>
              <a:buClrTx/>
              <a:buSzTx/>
              <a:tabLst/>
            </a:pPr>
            <a:r>
              <a:rPr lang="en-US" sz="1400" b="1" dirty="0">
                <a:solidFill>
                  <a:schemeClr val="bg2"/>
                </a:solidFill>
              </a:rPr>
              <a:t>2. “Process” the files (</a:t>
            </a:r>
            <a:r>
              <a:rPr lang="en-US" sz="1400" b="1" dirty="0">
                <a:solidFill>
                  <a:srgbClr val="FF0000"/>
                </a:solidFill>
              </a:rPr>
              <a:t>NEW SCRIPT</a:t>
            </a:r>
            <a:r>
              <a:rPr lang="en-US" sz="1400" b="1" dirty="0">
                <a:solidFill>
                  <a:schemeClr val="bg2"/>
                </a:solidFill>
              </a:rPr>
              <a:t>) to create one ACT file to give to collector</a:t>
            </a: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0" lang="en-US" sz="1400" b="0" i="0" u="none" strike="noStrike" cap="none" normalizeH="0" baseline="0" dirty="0">
              <a:ln>
                <a:noFill/>
              </a:ln>
              <a:solidFill>
                <a:schemeClr val="bg2"/>
              </a:solidFill>
              <a:effectLst/>
            </a:endParaRPr>
          </a:p>
        </p:txBody>
      </p:sp>
      <p:pic>
        <p:nvPicPr>
          <p:cNvPr id="38" name="Picture 37" descr="thin client by Anonymous - ">
            <a:hlinkClick r:id="rId11"/>
            <a:extLst>
              <a:ext uri="{FF2B5EF4-FFF2-40B4-BE49-F238E27FC236}">
                <a16:creationId xmlns:a16="http://schemas.microsoft.com/office/drawing/2014/main" id="{5D4013B2-7A61-42F1-9F06-BE851C02F3BC}"/>
              </a:ext>
            </a:extLst>
          </p:cNvPr>
          <p:cNvPicPr>
            <a:picLocks noChangeAspect="1" noChangeArrowheads="1"/>
          </p:cNvPicPr>
          <p:nvPr/>
        </p:nvPicPr>
        <p:blipFill>
          <a:blip r:embed="rId12" cstate="print"/>
          <a:srcRect/>
          <a:stretch>
            <a:fillRect/>
          </a:stretch>
        </p:blipFill>
        <p:spPr bwMode="auto">
          <a:xfrm>
            <a:off x="440677" y="955316"/>
            <a:ext cx="842357" cy="741276"/>
          </a:xfrm>
          <a:prstGeom prst="rect">
            <a:avLst/>
          </a:prstGeom>
          <a:noFill/>
        </p:spPr>
      </p:pic>
      <p:pic>
        <p:nvPicPr>
          <p:cNvPr id="45" name="Picture 44" descr="thin client by Anonymous - ">
            <a:hlinkClick r:id="rId11"/>
            <a:extLst>
              <a:ext uri="{FF2B5EF4-FFF2-40B4-BE49-F238E27FC236}">
                <a16:creationId xmlns:a16="http://schemas.microsoft.com/office/drawing/2014/main" id="{3A9DE29F-0409-486C-94D6-E372C0493E62}"/>
              </a:ext>
            </a:extLst>
          </p:cNvPr>
          <p:cNvPicPr>
            <a:picLocks noChangeAspect="1" noChangeArrowheads="1"/>
          </p:cNvPicPr>
          <p:nvPr/>
        </p:nvPicPr>
        <p:blipFill>
          <a:blip r:embed="rId12" cstate="print"/>
          <a:srcRect/>
          <a:stretch>
            <a:fillRect/>
          </a:stretch>
        </p:blipFill>
        <p:spPr bwMode="auto">
          <a:xfrm>
            <a:off x="1622038" y="966191"/>
            <a:ext cx="842357" cy="741276"/>
          </a:xfrm>
          <a:prstGeom prst="rect">
            <a:avLst/>
          </a:prstGeom>
          <a:noFill/>
        </p:spPr>
      </p:pic>
      <p:pic>
        <p:nvPicPr>
          <p:cNvPr id="46" name="Picture 45" descr="thin client by Anonymous - ">
            <a:hlinkClick r:id="rId11"/>
            <a:extLst>
              <a:ext uri="{FF2B5EF4-FFF2-40B4-BE49-F238E27FC236}">
                <a16:creationId xmlns:a16="http://schemas.microsoft.com/office/drawing/2014/main" id="{E476848B-C1D7-4CFA-99E6-C1F0833177ED}"/>
              </a:ext>
            </a:extLst>
          </p:cNvPr>
          <p:cNvPicPr>
            <a:picLocks noChangeAspect="1" noChangeArrowheads="1"/>
          </p:cNvPicPr>
          <p:nvPr/>
        </p:nvPicPr>
        <p:blipFill>
          <a:blip r:embed="rId12" cstate="print"/>
          <a:srcRect/>
          <a:stretch>
            <a:fillRect/>
          </a:stretch>
        </p:blipFill>
        <p:spPr bwMode="auto">
          <a:xfrm>
            <a:off x="2768590" y="1004968"/>
            <a:ext cx="842357" cy="741276"/>
          </a:xfrm>
          <a:prstGeom prst="rect">
            <a:avLst/>
          </a:prstGeom>
          <a:noFill/>
        </p:spPr>
      </p:pic>
      <p:cxnSp>
        <p:nvCxnSpPr>
          <p:cNvPr id="47" name="Straight Arrow Connector 46">
            <a:extLst>
              <a:ext uri="{FF2B5EF4-FFF2-40B4-BE49-F238E27FC236}">
                <a16:creationId xmlns:a16="http://schemas.microsoft.com/office/drawing/2014/main" id="{91750083-F442-4EE6-9B8B-C6F03E8A902F}"/>
              </a:ext>
            </a:extLst>
          </p:cNvPr>
          <p:cNvCxnSpPr>
            <a:cxnSpLocks/>
            <a:stCxn id="52" idx="1"/>
          </p:cNvCxnSpPr>
          <p:nvPr/>
        </p:nvCxnSpPr>
        <p:spPr bwMode="auto">
          <a:xfrm flipH="1">
            <a:off x="485148" y="1828800"/>
            <a:ext cx="429252" cy="2031957"/>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cxnSp>
        <p:nvCxnSpPr>
          <p:cNvPr id="50" name="Straight Arrow Connector 49">
            <a:extLst>
              <a:ext uri="{FF2B5EF4-FFF2-40B4-BE49-F238E27FC236}">
                <a16:creationId xmlns:a16="http://schemas.microsoft.com/office/drawing/2014/main" id="{084BE261-12C1-4648-BD78-B3CE7F278794}"/>
              </a:ext>
            </a:extLst>
          </p:cNvPr>
          <p:cNvCxnSpPr>
            <a:cxnSpLocks/>
          </p:cNvCxnSpPr>
          <p:nvPr/>
        </p:nvCxnSpPr>
        <p:spPr bwMode="auto">
          <a:xfrm flipH="1">
            <a:off x="914400" y="1828800"/>
            <a:ext cx="2099388" cy="2113240"/>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pic>
        <p:nvPicPr>
          <p:cNvPr id="51" name="Picture 2" descr="C:\Users\E154578\AppData\Local\Temp\SNAGHTML90ec866.PNG">
            <a:extLst>
              <a:ext uri="{FF2B5EF4-FFF2-40B4-BE49-F238E27FC236}">
                <a16:creationId xmlns:a16="http://schemas.microsoft.com/office/drawing/2014/main" id="{240E9A34-29D0-4B88-B248-91E1152564A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1474" y="4191000"/>
            <a:ext cx="383951" cy="402009"/>
          </a:xfrm>
          <a:prstGeom prst="rect">
            <a:avLst/>
          </a:prstGeom>
          <a:solidFill>
            <a:schemeClr val="bg1"/>
          </a:solidFill>
          <a:ln w="25400">
            <a:solidFill>
              <a:schemeClr val="tx1"/>
            </a:solidFill>
          </a:ln>
        </p:spPr>
      </p:pic>
      <p:pic>
        <p:nvPicPr>
          <p:cNvPr id="53" name="Picture 2" descr="C:\Users\E154578\AppData\Local\Temp\SNAGHTML90ec866.PNG">
            <a:extLst>
              <a:ext uri="{FF2B5EF4-FFF2-40B4-BE49-F238E27FC236}">
                <a16:creationId xmlns:a16="http://schemas.microsoft.com/office/drawing/2014/main" id="{0C92DC57-62AA-4559-8C14-6FAACA478AF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3875" y="4343400"/>
            <a:ext cx="342900" cy="359027"/>
          </a:xfrm>
          <a:prstGeom prst="rect">
            <a:avLst/>
          </a:prstGeom>
          <a:solidFill>
            <a:schemeClr val="bg1"/>
          </a:solidFill>
          <a:ln w="25400">
            <a:solidFill>
              <a:schemeClr val="tx1"/>
            </a:solidFill>
          </a:ln>
        </p:spPr>
      </p:pic>
      <p:pic>
        <p:nvPicPr>
          <p:cNvPr id="55" name="Picture 2" descr="C:\Users\E154578\AppData\Local\Temp\SNAGHTMLa30c304.PNG">
            <a:extLst>
              <a:ext uri="{FF2B5EF4-FFF2-40B4-BE49-F238E27FC236}">
                <a16:creationId xmlns:a16="http://schemas.microsoft.com/office/drawing/2014/main" id="{55C6CA91-2AA1-4248-9405-0C61445A931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flipH="1">
            <a:off x="55985" y="5909874"/>
            <a:ext cx="391690" cy="757446"/>
          </a:xfrm>
          <a:prstGeom prst="rect">
            <a:avLst/>
          </a:prstGeom>
          <a:solidFill>
            <a:schemeClr val="bg1"/>
          </a:solidFill>
          <a:ln w="15875">
            <a:solidFill>
              <a:schemeClr val="tx1"/>
            </a:solidFill>
          </a:ln>
        </p:spPr>
      </p:pic>
    </p:spTree>
    <p:extLst>
      <p:ext uri="{BB962C8B-B14F-4D97-AF65-F5344CB8AC3E}">
        <p14:creationId xmlns:p14="http://schemas.microsoft.com/office/powerpoint/2010/main" val="8893845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accel="50000" decel="50000" fill="hold" nodeType="clickEffect">
                                  <p:stCondLst>
                                    <p:cond delay="0"/>
                                  </p:stCondLst>
                                  <p:childTnLst>
                                    <p:animMotion origin="layout" path="M 0.1467 -0.42315 L 5.55556E-7 -2.59259E-6 " pathEditMode="relative" rAng="0" ptsTypes="AA">
                                      <p:cBhvr>
                                        <p:cTn id="6" dur="3000" fill="hold"/>
                                        <p:tgtEl>
                                          <p:spTgt spid="17410"/>
                                        </p:tgtEl>
                                        <p:attrNameLst>
                                          <p:attrName>ppt_x</p:attrName>
                                          <p:attrName>ppt_y</p:attrName>
                                        </p:attrNameLst>
                                      </p:cBhvr>
                                      <p:rCtr x="-7344" y="21157"/>
                                    </p:animMotion>
                                  </p:childTnLst>
                                </p:cTn>
                              </p:par>
                            </p:childTnLst>
                          </p:cTn>
                        </p:par>
                      </p:childTnLst>
                    </p:cTn>
                  </p:par>
                  <p:par>
                    <p:cTn id="7" fill="hold">
                      <p:stCondLst>
                        <p:cond delay="indefinite"/>
                      </p:stCondLst>
                      <p:childTnLst>
                        <p:par>
                          <p:cTn id="8" fill="hold">
                            <p:stCondLst>
                              <p:cond delay="0"/>
                            </p:stCondLst>
                            <p:childTnLst>
                              <p:par>
                                <p:cTn id="9" presetID="26" presetClass="emph" presetSubtype="0" repeatCount="indefinite" fill="hold" grpId="0" nodeType="clickEffect">
                                  <p:stCondLst>
                                    <p:cond delay="0"/>
                                  </p:stCondLst>
                                  <p:childTnLst>
                                    <p:animEffect transition="out" filter="fade">
                                      <p:cBhvr>
                                        <p:cTn id="10" dur="2000" tmFilter="0, 0; .2, .5; .8, .5; 1, 0"/>
                                        <p:tgtEl>
                                          <p:spTgt spid="42"/>
                                        </p:tgtEl>
                                      </p:cBhvr>
                                    </p:animEffect>
                                    <p:animScale>
                                      <p:cBhvr>
                                        <p:cTn id="11" dur="1000" autoRev="1" fill="hold"/>
                                        <p:tgtEl>
                                          <p:spTgt spid="42"/>
                                        </p:tgtEl>
                                      </p:cBhvr>
                                      <p:by x="105000" y="105000"/>
                                    </p:animScale>
                                  </p:childTnLst>
                                </p:cTn>
                              </p:par>
                            </p:childTnLst>
                          </p:cTn>
                        </p:par>
                        <p:par>
                          <p:cTn id="12" fill="hold">
                            <p:stCondLst>
                              <p:cond delay="2000"/>
                            </p:stCondLst>
                            <p:childTnLst>
                              <p:par>
                                <p:cTn id="13" presetID="55" presetClass="path" presetSubtype="0" repeatCount="indefinite" accel="50000" decel="50000" fill="hold" nodeType="afterEffect">
                                  <p:stCondLst>
                                    <p:cond delay="0"/>
                                  </p:stCondLst>
                                  <p:childTnLst>
                                    <p:animMotion origin="layout" path="M 0.04687 -0.02709 C 0.04757 -0.04167 0.03993 -0.05463 0.02986 -0.05533 C 0.02031 -0.05625 0.01128 -0.04653 0.01059 -0.03241 C 0.01007 -0.01899 0.01614 -0.00672 0.02517 -0.00579 C 0.0335 -0.00487 0.04114 -0.01343 0.04184 -0.0257 C 0.04236 -0.03704 0.03715 -0.04746 0.02951 -0.04838 C 0.02257 -0.04908 0.01597 -0.04213 0.01545 -0.03172 C 0.0151 -0.02269 0.01909 -0.01366 0.02552 -0.01297 C 0.03125 -0.01227 0.03663 -0.01783 0.03698 -0.02616 C 0.03732 -0.03357 0.0342 -0.04098 0.02916 -0.04144 C 0.02482 -0.04167 0.02066 -0.03774 0.02031 -0.03149 C 0.01996 -0.02593 0.02222 -0.02061 0.02569 -0.02014 C 0.02882 -0.01968 0.03194 -0.02223 0.03212 -0.02662 C 0.03246 -0.0301 0.03125 -0.0338 0.02882 -0.03426 C 0.02708 -0.03426 0.02534 -0.03334 0.025 -0.03102 C 0.02482 -0.0294 0.02517 -0.02801 0.02604 -0.02709 C 0.02656 -0.02709 0.02691 -0.02709 0.02725 -0.02709 " pathEditMode="relative" rAng="0" ptsTypes="fffffffffffffffff">
                                      <p:cBhvr>
                                        <p:cTn id="14" dur="5000" fill="hold"/>
                                        <p:tgtEl>
                                          <p:spTgt spid="3100"/>
                                        </p:tgtEl>
                                        <p:attrNameLst>
                                          <p:attrName>ppt_x</p:attrName>
                                          <p:attrName>ppt_y</p:attrName>
                                        </p:attrNameLst>
                                      </p:cBhvr>
                                      <p:rCtr x="-1800" y="-300"/>
                                    </p:animMotion>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56" presetClass="path" presetSubtype="0" repeatCount="indefinite" accel="50000" decel="50000" fill="hold" nodeType="withEffect">
                                  <p:stCondLst>
                                    <p:cond delay="0"/>
                                  </p:stCondLst>
                                  <p:childTnLst>
                                    <p:animMotion origin="layout" path="M 0.25538 0.25533 L -0.21163 -0.10555 " pathEditMode="relative" rAng="0" ptsTypes="AA">
                                      <p:cBhvr>
                                        <p:cTn id="18" dur="5000" fill="hold"/>
                                        <p:tgtEl>
                                          <p:spTgt spid="66"/>
                                        </p:tgtEl>
                                        <p:attrNameLst>
                                          <p:attrName>ppt_x</p:attrName>
                                          <p:attrName>ppt_y</p:attrName>
                                        </p:attrNameLst>
                                      </p:cBhvr>
                                      <p:rCtr x="-23351" y="-18056"/>
                                    </p:animMotion>
                                  </p:childTnLst>
                                </p:cTn>
                              </p:par>
                              <p:par>
                                <p:cTn id="19" presetID="0" presetClass="path" presetSubtype="0" repeatCount="indefinite" accel="50000" decel="50000" fill="hold" nodeType="withEffect">
                                  <p:stCondLst>
                                    <p:cond delay="0"/>
                                  </p:stCondLst>
                                  <p:childTnLst>
                                    <p:animMotion origin="layout" path="M -0.02309 0.07269 C -0.00903 0.05371 0.00504 0.03496 0.00139 0.02107 C -0.00226 0.00718 -0.02361 -0.00162 -0.04479 -0.01041 " pathEditMode="relative" rAng="0" ptsTypes="aaA">
                                      <p:cBhvr>
                                        <p:cTn id="20" dur="3000" fill="hold"/>
                                        <p:tgtEl>
                                          <p:spTgt spid="40"/>
                                        </p:tgtEl>
                                        <p:attrNameLst>
                                          <p:attrName>ppt_x</p:attrName>
                                          <p:attrName>ppt_y</p:attrName>
                                        </p:attrNameLst>
                                      </p:cBhvr>
                                      <p:rCtr x="3" y="-42"/>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repeatCount="indefinite" accel="50000" decel="50000" fill="hold" nodeType="clickEffect">
                                  <p:stCondLst>
                                    <p:cond delay="0"/>
                                  </p:stCondLst>
                                  <p:childTnLst>
                                    <p:animMotion origin="layout" path="M 0.1467 -0.42315 L 5.55556E-7 -2.59259E-6 " pathEditMode="relative" rAng="0" ptsTypes="AA">
                                      <p:cBhvr>
                                        <p:cTn id="28" dur="3000" fill="hold"/>
                                        <p:tgtEl>
                                          <p:spTgt spid="51"/>
                                        </p:tgtEl>
                                        <p:attrNameLst>
                                          <p:attrName>ppt_x</p:attrName>
                                          <p:attrName>ppt_y</p:attrName>
                                        </p:attrNameLst>
                                      </p:cBhvr>
                                      <p:rCtr x="-7344" y="21157"/>
                                    </p:animMotion>
                                  </p:childTnLst>
                                </p:cTn>
                              </p:par>
                            </p:childTnLst>
                          </p:cTn>
                        </p:par>
                      </p:childTnLst>
                    </p:cTn>
                  </p:par>
                  <p:par>
                    <p:cTn id="29" fill="hold">
                      <p:stCondLst>
                        <p:cond delay="indefinite"/>
                      </p:stCondLst>
                      <p:childTnLst>
                        <p:par>
                          <p:cTn id="30" fill="hold">
                            <p:stCondLst>
                              <p:cond delay="0"/>
                            </p:stCondLst>
                            <p:childTnLst>
                              <p:par>
                                <p:cTn id="31" presetID="42" presetClass="path" presetSubtype="0" repeatCount="indefinite" accel="50000" decel="50000" fill="hold" nodeType="clickEffect">
                                  <p:stCondLst>
                                    <p:cond delay="0"/>
                                  </p:stCondLst>
                                  <p:childTnLst>
                                    <p:animMotion origin="layout" path="M 0.1467 -0.42315 L 5.55556E-7 -2.59259E-6 " pathEditMode="relative" rAng="0" ptsTypes="AA">
                                      <p:cBhvr>
                                        <p:cTn id="32" dur="3000" fill="hold"/>
                                        <p:tgtEl>
                                          <p:spTgt spid="53"/>
                                        </p:tgtEl>
                                        <p:attrNameLst>
                                          <p:attrName>ppt_x</p:attrName>
                                          <p:attrName>ppt_y</p:attrName>
                                        </p:attrNameLst>
                                      </p:cBhvr>
                                      <p:rCtr x="-7344" y="21157"/>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childTnLst>
                          </p:cTn>
                        </p:par>
                        <p:par>
                          <p:cTn id="37" fill="hold">
                            <p:stCondLst>
                              <p:cond delay="0"/>
                            </p:stCondLst>
                            <p:childTnLst>
                              <p:par>
                                <p:cTn id="38" presetID="42" presetClass="path" presetSubtype="0" accel="50000" decel="50000" fill="hold" nodeType="afterEffect">
                                  <p:stCondLst>
                                    <p:cond delay="0"/>
                                  </p:stCondLst>
                                  <p:childTnLst>
                                    <p:animMotion origin="layout" path="M 5.55556E-7 1.11111E-6 L -0.22656 0.56342 " pathEditMode="relative" rAng="0" ptsTypes="AA">
                                      <p:cBhvr>
                                        <p:cTn id="39" dur="10000" fill="hold"/>
                                        <p:tgtEl>
                                          <p:spTgt spid="55"/>
                                        </p:tgtEl>
                                        <p:attrNameLst>
                                          <p:attrName>ppt_x</p:attrName>
                                          <p:attrName>ppt_y</p:attrName>
                                        </p:attrNameLst>
                                      </p:cBhvr>
                                      <p:rCtr x="-11337" y="281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152400" y="76200"/>
            <a:ext cx="8369092" cy="498610"/>
          </a:xfrm>
        </p:spPr>
        <p:txBody>
          <a:bodyPr/>
          <a:lstStyle/>
          <a:p>
            <a:r>
              <a:rPr lang="en-US" dirty="0"/>
              <a:t>Why new Sync? Can I use standard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304800" y="826532"/>
            <a:ext cx="8839199" cy="4736068"/>
          </a:xfrm>
        </p:spPr>
        <p:txBody>
          <a:bodyPr/>
          <a:lstStyle/>
          <a:p>
            <a:r>
              <a:rPr lang="en-US" b="1" dirty="0">
                <a:solidFill>
                  <a:srgbClr val="0070C0"/>
                </a:solidFill>
              </a:rPr>
              <a:t>Experion</a:t>
            </a:r>
            <a:r>
              <a:rPr lang="en-US" dirty="0"/>
              <a:t> standard OPC Active Sync Issues</a:t>
            </a:r>
          </a:p>
          <a:p>
            <a:pPr marL="697230" lvl="1" indent="-514350">
              <a:buFont typeface="+mj-lt"/>
              <a:buAutoNum type="arabicPeriod"/>
            </a:pPr>
            <a:r>
              <a:rPr lang="en-US" sz="2400" dirty="0">
                <a:solidFill>
                  <a:srgbClr val="FF0000"/>
                </a:solidFill>
              </a:rPr>
              <a:t>Generally we think there are no issues but…</a:t>
            </a:r>
            <a:endParaRPr lang="en-US" sz="1800" dirty="0"/>
          </a:p>
          <a:p>
            <a:pPr marL="640080" lvl="1" indent="-457200">
              <a:buFont typeface="+mj-lt"/>
              <a:buAutoNum type="arabicPeriod" startAt="2"/>
            </a:pPr>
            <a:r>
              <a:rPr lang="en-US" sz="2400" dirty="0"/>
              <a:t>OPC load and connectivity issues</a:t>
            </a:r>
          </a:p>
          <a:p>
            <a:pPr marL="697230" lvl="1" indent="-514350">
              <a:buFont typeface="+mj-lt"/>
              <a:buAutoNum type="arabicPeriod" startAt="2"/>
            </a:pPr>
            <a:r>
              <a:rPr lang="en-US" sz="2400" dirty="0"/>
              <a:t>Timing… sync is processed before all relevant events are collected</a:t>
            </a:r>
          </a:p>
          <a:p>
            <a:pPr marL="697230" lvl="1" indent="-514350">
              <a:buFont typeface="+mj-lt"/>
              <a:buAutoNum type="arabicPeriod" startAt="2"/>
            </a:pPr>
            <a:r>
              <a:rPr lang="en-US" sz="2400" dirty="0"/>
              <a:t>Advanced security on Experion may make deployment unreasonably complicated\impossible</a:t>
            </a:r>
          </a:p>
          <a:p>
            <a:pPr marL="697230" lvl="1" indent="-514350">
              <a:buFont typeface="+mj-lt"/>
              <a:buAutoNum type="arabicPeriod" startAt="2"/>
            </a:pPr>
            <a:r>
              <a:rPr lang="en-US" sz="2400" dirty="0"/>
              <a:t>Dependency on OPC hierarchy settings (what if one day they will change it?)</a:t>
            </a:r>
          </a:p>
          <a:p>
            <a:pPr marL="697230" lvl="1" indent="-514350">
              <a:buFont typeface="+mj-lt"/>
              <a:buAutoNum type="arabicPeriod" startAt="2"/>
            </a:pPr>
            <a:endParaRPr lang="en-US" sz="2400" dirty="0"/>
          </a:p>
          <a:p>
            <a:pPr marL="697230" lvl="1" indent="-514350">
              <a:buFont typeface="+mj-lt"/>
              <a:buAutoNum type="arabicPeriod" startAt="2"/>
            </a:pPr>
            <a:r>
              <a:rPr lang="en-US" sz="2400" dirty="0"/>
              <a:t>No full shelve\DSA sync</a:t>
            </a:r>
          </a:p>
          <a:p>
            <a:pPr marL="182880" lvl="1" indent="0">
              <a:buNone/>
            </a:pPr>
            <a:endParaRPr lang="en-US" sz="1800" dirty="0"/>
          </a:p>
          <a:p>
            <a:endParaRPr lang="en-US" dirty="0"/>
          </a:p>
        </p:txBody>
      </p:sp>
      <p:pic>
        <p:nvPicPr>
          <p:cNvPr id="20" name="Picture 4" descr="Operator's Guide">
            <a:extLst>
              <a:ext uri="{FF2B5EF4-FFF2-40B4-BE49-F238E27FC236}">
                <a16:creationId xmlns:a16="http://schemas.microsoft.com/office/drawing/2014/main" id="{1CEBB043-657D-4305-A9C9-8C289EDD1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6645" y="4419600"/>
            <a:ext cx="3894847" cy="2344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478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152400" y="76200"/>
            <a:ext cx="8369092" cy="498610"/>
          </a:xfrm>
        </p:spPr>
        <p:txBody>
          <a:bodyPr/>
          <a:lstStyle/>
          <a:p>
            <a:r>
              <a:rPr lang="en-US" dirty="0"/>
              <a:t>Why new Sync? Can I use standard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304800" y="826532"/>
            <a:ext cx="8839199" cy="3669268"/>
          </a:xfrm>
        </p:spPr>
        <p:txBody>
          <a:bodyPr/>
          <a:lstStyle/>
          <a:p>
            <a:r>
              <a:rPr lang="en-US" b="1" dirty="0">
                <a:solidFill>
                  <a:srgbClr val="0070C0"/>
                </a:solidFill>
              </a:rPr>
              <a:t>ESVT</a:t>
            </a:r>
            <a:r>
              <a:rPr lang="en-US" dirty="0"/>
              <a:t> standard Active Sync Issues</a:t>
            </a:r>
          </a:p>
          <a:p>
            <a:pPr marL="697230" lvl="1" indent="-514350">
              <a:buFont typeface="+mj-lt"/>
              <a:buAutoNum type="arabicPeriod"/>
            </a:pPr>
            <a:r>
              <a:rPr lang="en-US" sz="2400" dirty="0">
                <a:solidFill>
                  <a:srgbClr val="FF0000"/>
                </a:solidFill>
              </a:rPr>
              <a:t>Deals only with “ghost” alarm but not with “missing” alarms</a:t>
            </a:r>
          </a:p>
          <a:p>
            <a:pPr lvl="2"/>
            <a:r>
              <a:rPr lang="en-US" sz="1800" dirty="0"/>
              <a:t>DE was not aware of this issue! So we were constantly fixing “unfixable”</a:t>
            </a:r>
          </a:p>
          <a:p>
            <a:pPr marL="640080" lvl="1" indent="-457200">
              <a:buFont typeface="+mj-lt"/>
              <a:buAutoNum type="arabicPeriod" startAt="2"/>
            </a:pPr>
            <a:r>
              <a:rPr lang="en-US" sz="2400" dirty="0"/>
              <a:t>OPC load and connectivity issues</a:t>
            </a:r>
          </a:p>
          <a:p>
            <a:pPr marL="697230" lvl="1" indent="-514350">
              <a:buFont typeface="+mj-lt"/>
              <a:buAutoNum type="arabicPeriod" startAt="2"/>
            </a:pPr>
            <a:r>
              <a:rPr lang="en-US" sz="2400" dirty="0"/>
              <a:t>Timing… sync is processed before all relevant events are collected</a:t>
            </a:r>
          </a:p>
          <a:p>
            <a:pPr marL="697230" lvl="1" indent="-514350">
              <a:buFont typeface="+mj-lt"/>
              <a:buAutoNum type="arabicPeriod" startAt="2"/>
            </a:pPr>
            <a:r>
              <a:rPr lang="en-US" sz="2400" b="1" u="sng" dirty="0"/>
              <a:t>Extremely</a:t>
            </a:r>
            <a:r>
              <a:rPr lang="en-US" sz="2400" dirty="0"/>
              <a:t> complicated logic </a:t>
            </a:r>
          </a:p>
          <a:p>
            <a:pPr lvl="2"/>
            <a:r>
              <a:rPr lang="en-US" sz="1800" dirty="0"/>
              <a:t>Realistically impossible to troubleshoot (or understand)…</a:t>
            </a:r>
          </a:p>
          <a:p>
            <a:pPr lvl="2"/>
            <a:r>
              <a:rPr lang="en-US" sz="1800" dirty="0"/>
              <a:t>It is </a:t>
            </a:r>
            <a:r>
              <a:rPr lang="en-US" sz="1800" b="1" u="sng" dirty="0"/>
              <a:t>not</a:t>
            </a:r>
            <a:r>
              <a:rPr lang="en-US" sz="1800" dirty="0"/>
              <a:t> WYSIWYG</a:t>
            </a:r>
          </a:p>
          <a:p>
            <a:endParaRPr lang="en-US" dirty="0"/>
          </a:p>
        </p:txBody>
      </p:sp>
      <p:grpSp>
        <p:nvGrpSpPr>
          <p:cNvPr id="4" name="Group 3">
            <a:extLst>
              <a:ext uri="{FF2B5EF4-FFF2-40B4-BE49-F238E27FC236}">
                <a16:creationId xmlns:a16="http://schemas.microsoft.com/office/drawing/2014/main" id="{69B8ACDC-886E-4229-8CA8-8E6E394FA063}"/>
              </a:ext>
            </a:extLst>
          </p:cNvPr>
          <p:cNvGrpSpPr/>
          <p:nvPr/>
        </p:nvGrpSpPr>
        <p:grpSpPr>
          <a:xfrm rot="158996">
            <a:off x="280746" y="4431914"/>
            <a:ext cx="7383224" cy="2204130"/>
            <a:chOff x="2431710" y="4175570"/>
            <a:chExt cx="2280111" cy="1204764"/>
          </a:xfrm>
        </p:grpSpPr>
        <p:grpSp>
          <p:nvGrpSpPr>
            <p:cNvPr id="6" name="Group 5">
              <a:extLst>
                <a:ext uri="{FF2B5EF4-FFF2-40B4-BE49-F238E27FC236}">
                  <a16:creationId xmlns:a16="http://schemas.microsoft.com/office/drawing/2014/main" id="{E5F6D594-FD6A-4118-9119-EF141405DC90}"/>
                </a:ext>
              </a:extLst>
            </p:cNvPr>
            <p:cNvGrpSpPr/>
            <p:nvPr/>
          </p:nvGrpSpPr>
          <p:grpSpPr>
            <a:xfrm rot="274214">
              <a:off x="2431710" y="4175570"/>
              <a:ext cx="2280111" cy="1204764"/>
              <a:chOff x="4622323" y="2802586"/>
              <a:chExt cx="2817546" cy="2379014"/>
            </a:xfrm>
          </p:grpSpPr>
          <p:grpSp>
            <p:nvGrpSpPr>
              <p:cNvPr id="9" name="Group 8">
                <a:extLst>
                  <a:ext uri="{FF2B5EF4-FFF2-40B4-BE49-F238E27FC236}">
                    <a16:creationId xmlns:a16="http://schemas.microsoft.com/office/drawing/2014/main" id="{1FB9B3EA-071A-4BAF-9075-DD1BF89A228E}"/>
                  </a:ext>
                </a:extLst>
              </p:cNvPr>
              <p:cNvGrpSpPr/>
              <p:nvPr/>
            </p:nvGrpSpPr>
            <p:grpSpPr>
              <a:xfrm>
                <a:off x="4636671" y="2802586"/>
                <a:ext cx="2743201" cy="2379014"/>
                <a:chOff x="4636671" y="2802586"/>
                <a:chExt cx="2743201" cy="2379014"/>
              </a:xfrm>
            </p:grpSpPr>
            <p:pic>
              <p:nvPicPr>
                <p:cNvPr id="11" name="Picture 2">
                  <a:extLst>
                    <a:ext uri="{FF2B5EF4-FFF2-40B4-BE49-F238E27FC236}">
                      <a16:creationId xmlns:a16="http://schemas.microsoft.com/office/drawing/2014/main" id="{0997EBAA-5A0D-43FA-8A70-1019453047BF}"/>
                    </a:ext>
                  </a:extLst>
                </p:cNvPr>
                <p:cNvPicPr>
                  <a:picLocks noChangeAspect="1" noChangeArrowheads="1"/>
                </p:cNvPicPr>
                <p:nvPr/>
              </p:nvPicPr>
              <p:blipFill>
                <a:blip r:embed="rId2" cstate="print"/>
                <a:srcRect/>
                <a:stretch>
                  <a:fillRect/>
                </a:stretch>
              </p:blipFill>
              <p:spPr bwMode="auto">
                <a:xfrm>
                  <a:off x="4636671" y="2985374"/>
                  <a:ext cx="2743201" cy="219622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2" name="Oval 11">
                  <a:extLst>
                    <a:ext uri="{FF2B5EF4-FFF2-40B4-BE49-F238E27FC236}">
                      <a16:creationId xmlns:a16="http://schemas.microsoft.com/office/drawing/2014/main" id="{8C1BC4B3-35C3-4833-9B1B-9208372CED20}"/>
                    </a:ext>
                  </a:extLst>
                </p:cNvPr>
                <p:cNvSpPr/>
                <p:nvPr/>
              </p:nvSpPr>
              <p:spPr>
                <a:xfrm>
                  <a:off x="5838609" y="2802586"/>
                  <a:ext cx="137930" cy="268328"/>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ZoneTexte 30">
                <a:extLst>
                  <a:ext uri="{FF2B5EF4-FFF2-40B4-BE49-F238E27FC236}">
                    <a16:creationId xmlns:a16="http://schemas.microsoft.com/office/drawing/2014/main" id="{FDFAE4F6-CC9D-4F8E-8020-E66DA8616B07}"/>
                  </a:ext>
                </a:extLst>
              </p:cNvPr>
              <p:cNvSpPr txBox="1"/>
              <p:nvPr/>
            </p:nvSpPr>
            <p:spPr>
              <a:xfrm rot="21177897">
                <a:off x="4622323" y="2974179"/>
                <a:ext cx="2817546" cy="2092839"/>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2000" b="1" dirty="0">
                    <a:solidFill>
                      <a:srgbClr val="2C2FD4"/>
                    </a:solidFill>
                    <a:latin typeface="Arial" panose="020B0604020202020204" pitchFamily="34" charset="0"/>
                    <a:cs typeface="Arial" panose="020B0604020202020204" pitchFamily="34" charset="0"/>
                  </a:rPr>
                  <a:t>TPS alarms are only correct on ESTs=station. </a:t>
                </a:r>
              </a:p>
              <a:p>
                <a:pPr algn="l"/>
                <a:r>
                  <a:rPr lang="en-US" sz="2000" b="1" dirty="0">
                    <a:solidFill>
                      <a:srgbClr val="2C2FD4"/>
                    </a:solidFill>
                    <a:latin typeface="Arial" panose="020B0604020202020204" pitchFamily="34" charset="0"/>
                    <a:cs typeface="Arial" panose="020B0604020202020204" pitchFamily="34" charset="0"/>
                  </a:rPr>
                  <a:t>TPS alarm may be “ghost” or “missing” on ESVT=server </a:t>
                </a:r>
              </a:p>
              <a:p>
                <a:pPr algn="l"/>
                <a:r>
                  <a:rPr lang="en-US" sz="2000" b="1" dirty="0">
                    <a:solidFill>
                      <a:srgbClr val="2C2FD4"/>
                    </a:solidFill>
                    <a:latin typeface="Arial" panose="020B0604020202020204" pitchFamily="34" charset="0"/>
                    <a:cs typeface="Arial" panose="020B0604020202020204" pitchFamily="34" charset="0"/>
                  </a:rPr>
                  <a:t>Cannot ask customer to keep ESTs and ESVTs in sync – it is intrusive and will not eliminate “out-of-sync” periods</a:t>
                </a:r>
              </a:p>
              <a:p>
                <a:pPr algn="l"/>
                <a:endParaRPr lang="en-US" sz="2000" b="1" dirty="0">
                  <a:solidFill>
                    <a:srgbClr val="2C2FD4"/>
                  </a:solidFill>
                  <a:latin typeface="Arial" panose="020B0604020202020204" pitchFamily="34" charset="0"/>
                  <a:cs typeface="Arial" panose="020B0604020202020204" pitchFamily="34" charset="0"/>
                </a:endParaRPr>
              </a:p>
              <a:p>
                <a:pPr algn="l"/>
                <a:r>
                  <a:rPr lang="en-US" sz="2000" b="1" dirty="0">
                    <a:solidFill>
                      <a:srgbClr val="2C2FD4"/>
                    </a:solidFill>
                    <a:latin typeface="Arial" panose="020B0604020202020204" pitchFamily="34" charset="0"/>
                    <a:cs typeface="Arial" panose="020B0604020202020204" pitchFamily="34" charset="0"/>
                  </a:rPr>
                  <a:t>Experion alarms will be correct on server and station.</a:t>
                </a:r>
                <a:endParaRPr lang="en-US" sz="1000" b="1" dirty="0">
                  <a:solidFill>
                    <a:srgbClr val="2C2FD4"/>
                  </a:solidFill>
                  <a:latin typeface="Arial" panose="020B0604020202020204" pitchFamily="34" charset="0"/>
                  <a:cs typeface="Arial" panose="020B0604020202020204" pitchFamily="34" charset="0"/>
                </a:endParaRPr>
              </a:p>
            </p:txBody>
          </p:sp>
        </p:grpSp>
        <p:pic>
          <p:nvPicPr>
            <p:cNvPr id="8" name="Picture 4" descr="C:\Users\e154578\AppData\Local\Temp\SNAGHTML265367b.PNG">
              <a:extLst>
                <a:ext uri="{FF2B5EF4-FFF2-40B4-BE49-F238E27FC236}">
                  <a16:creationId xmlns:a16="http://schemas.microsoft.com/office/drawing/2014/main" id="{B2EE8117-A734-421D-9527-F17BC7577F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7662" y="4932795"/>
              <a:ext cx="204780" cy="204780"/>
            </a:xfrm>
            <a:prstGeom prst="rect">
              <a:avLst/>
            </a:prstGeom>
            <a:noFill/>
            <a:extLst>
              <a:ext uri="{909E8E84-426E-40DD-AFC4-6F175D3DCCD1}">
                <a14:hiddenFill xmlns:a14="http://schemas.microsoft.com/office/drawing/2010/main">
                  <a:solidFill>
                    <a:srgbClr val="FFFFFF"/>
                  </a:solidFill>
                </a14:hiddenFill>
              </a:ext>
            </a:extLst>
          </p:spPr>
        </p:pic>
      </p:grpSp>
      <p:pic>
        <p:nvPicPr>
          <p:cNvPr id="13" name="Picture 4" descr="Operator's Guide">
            <a:extLst>
              <a:ext uri="{FF2B5EF4-FFF2-40B4-BE49-F238E27FC236}">
                <a16:creationId xmlns:a16="http://schemas.microsoft.com/office/drawing/2014/main" id="{5FADE420-8303-47AC-B9C1-E9862E491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6272" y="3220168"/>
            <a:ext cx="2256514" cy="135859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D514A02-9C12-408B-80D9-D2670372B7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98284" y="394555"/>
            <a:ext cx="1219200" cy="1219200"/>
          </a:xfrm>
          <a:prstGeom prst="rect">
            <a:avLst/>
          </a:prstGeom>
        </p:spPr>
      </p:pic>
    </p:spTree>
    <p:extLst>
      <p:ext uri="{BB962C8B-B14F-4D97-AF65-F5344CB8AC3E}">
        <p14:creationId xmlns:p14="http://schemas.microsoft.com/office/powerpoint/2010/main" val="24601859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152400" y="76200"/>
            <a:ext cx="8369092" cy="498610"/>
          </a:xfrm>
        </p:spPr>
        <p:txBody>
          <a:bodyPr/>
          <a:lstStyle/>
          <a:p>
            <a:r>
              <a:rPr lang="en-US" dirty="0"/>
              <a:t>Why new Sync? Can I use standard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67216" y="826532"/>
            <a:ext cx="8876783" cy="4964668"/>
          </a:xfrm>
        </p:spPr>
        <p:txBody>
          <a:bodyPr/>
          <a:lstStyle/>
          <a:p>
            <a:r>
              <a:rPr lang="en-US" b="1" dirty="0">
                <a:solidFill>
                  <a:srgbClr val="0070C0"/>
                </a:solidFill>
              </a:rPr>
              <a:t>Hybrid</a:t>
            </a:r>
            <a:r>
              <a:rPr lang="en-US" dirty="0"/>
              <a:t> system</a:t>
            </a:r>
          </a:p>
          <a:p>
            <a:pPr marL="697230" lvl="1" indent="-514350">
              <a:buFont typeface="+mj-lt"/>
              <a:buAutoNum type="arabicPeriod"/>
            </a:pPr>
            <a:r>
              <a:rPr lang="en-US" sz="2400" dirty="0">
                <a:solidFill>
                  <a:srgbClr val="FF0000"/>
                </a:solidFill>
              </a:rPr>
              <a:t>There is no standard sync for Hybrid system</a:t>
            </a:r>
          </a:p>
          <a:p>
            <a:pPr marL="182880" lvl="1" indent="0">
              <a:buNone/>
            </a:pPr>
            <a:r>
              <a:rPr lang="en-US" sz="2400" dirty="0"/>
              <a:t>Until Barbara’s visit to LAR we were not aware of such setup</a:t>
            </a:r>
            <a:r>
              <a:rPr lang="en-US" sz="2400" dirty="0">
                <a:solidFill>
                  <a:srgbClr val="FF0000"/>
                </a:solidFill>
              </a:rPr>
              <a:t> </a:t>
            </a:r>
          </a:p>
          <a:p>
            <a:pPr marL="182880" lvl="1" indent="0">
              <a:buNone/>
            </a:pPr>
            <a:r>
              <a:rPr lang="en-US" sz="2400" dirty="0"/>
              <a:t>New sync is the only option to get accuracy</a:t>
            </a:r>
          </a:p>
          <a:p>
            <a:pPr marL="0" indent="0">
              <a:buNone/>
            </a:pPr>
            <a:r>
              <a:rPr lang="en-US" dirty="0"/>
              <a:t>Hybrid means that although Experion server is present still some areas are controlled by Operators in front of Native Window.</a:t>
            </a:r>
          </a:p>
          <a:p>
            <a:pPr marL="0" indent="0">
              <a:buNone/>
            </a:pPr>
            <a:r>
              <a:rPr lang="en-US" b="1" dirty="0">
                <a:solidFill>
                  <a:srgbClr val="FF0000"/>
                </a:solidFill>
              </a:rPr>
              <a:t>ASK the customer if operator is looking at Station or Native Window, where they ACK alarms?</a:t>
            </a:r>
          </a:p>
        </p:txBody>
      </p:sp>
      <p:pic>
        <p:nvPicPr>
          <p:cNvPr id="2052" name="Picture 4" descr="Operator's Guide">
            <a:extLst>
              <a:ext uri="{FF2B5EF4-FFF2-40B4-BE49-F238E27FC236}">
                <a16:creationId xmlns:a16="http://schemas.microsoft.com/office/drawing/2014/main" id="{38F9F696-91A8-465A-81DD-98799FBD66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245" y="4867850"/>
            <a:ext cx="2752725" cy="16573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2012 Honeywell Users Group EMEA. Sustain.Ability. Ananthapadmanabha  Krishnamurthy. UIS Enhancements for Experion PKS and TPS - PDF Free Download">
            <a:extLst>
              <a:ext uri="{FF2B5EF4-FFF2-40B4-BE49-F238E27FC236}">
                <a16:creationId xmlns:a16="http://schemas.microsoft.com/office/drawing/2014/main" id="{8E0CBFAD-430D-4AD9-99FE-86FAF4DF39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00" y="4800600"/>
            <a:ext cx="2162691" cy="179185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F91C37E9-637B-45BD-BF9C-545FD56B58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98284" y="394555"/>
            <a:ext cx="1219200" cy="1219200"/>
          </a:xfrm>
          <a:prstGeom prst="rect">
            <a:avLst/>
          </a:prstGeom>
        </p:spPr>
      </p:pic>
    </p:spTree>
    <p:extLst>
      <p:ext uri="{BB962C8B-B14F-4D97-AF65-F5344CB8AC3E}">
        <p14:creationId xmlns:p14="http://schemas.microsoft.com/office/powerpoint/2010/main" val="35732826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152400" y="76200"/>
            <a:ext cx="8369092" cy="498610"/>
          </a:xfrm>
        </p:spPr>
        <p:txBody>
          <a:bodyPr/>
          <a:lstStyle/>
          <a:p>
            <a:r>
              <a:rPr lang="en-US" dirty="0"/>
              <a:t>Why new Sync? Can I use standard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253965" y="685800"/>
            <a:ext cx="8876783" cy="5486400"/>
          </a:xfrm>
        </p:spPr>
        <p:txBody>
          <a:bodyPr/>
          <a:lstStyle/>
          <a:p>
            <a:r>
              <a:rPr lang="en-US" sz="2400" b="1" dirty="0">
                <a:solidFill>
                  <a:srgbClr val="0070C0"/>
                </a:solidFill>
              </a:rPr>
              <a:t>TPS</a:t>
            </a:r>
            <a:r>
              <a:rPr lang="en-US" sz="2400" dirty="0"/>
              <a:t> standard Active Sync Issues</a:t>
            </a:r>
          </a:p>
          <a:p>
            <a:pPr marL="697230" lvl="1" indent="-514350">
              <a:buFont typeface="+mj-lt"/>
              <a:buAutoNum type="arabicPeriod"/>
            </a:pPr>
            <a:r>
              <a:rPr lang="en-US" sz="2400" dirty="0">
                <a:solidFill>
                  <a:srgbClr val="FF0000"/>
                </a:solidFill>
              </a:rPr>
              <a:t>There is no OPC refresh to get active alarms for syncing. Can only validate alarms opened in M&amp;R.</a:t>
            </a:r>
          </a:p>
          <a:p>
            <a:pPr marL="640080" lvl="1" indent="-457200">
              <a:buFont typeface="+mj-lt"/>
              <a:buAutoNum type="arabicPeriod" startAt="2"/>
            </a:pPr>
            <a:r>
              <a:rPr lang="en-US" sz="2400" dirty="0"/>
              <a:t>This really </a:t>
            </a:r>
            <a:r>
              <a:rPr lang="en-US" sz="2400" b="1" u="sng" dirty="0">
                <a:solidFill>
                  <a:srgbClr val="FF0000"/>
                </a:solidFill>
              </a:rPr>
              <a:t>ONLY works against EJC collection </a:t>
            </a:r>
            <a:r>
              <a:rPr lang="en-US" sz="2400" dirty="0"/>
              <a:t>(we only fixed </a:t>
            </a:r>
            <a:r>
              <a:rPr lang="en-US" sz="2400" dirty="0" err="1"/>
              <a:t>alarmidentifier</a:t>
            </a:r>
            <a:r>
              <a:rPr lang="en-US" sz="2400" dirty="0"/>
              <a:t> for EJC)… still there are limitations</a:t>
            </a:r>
          </a:p>
          <a:p>
            <a:pPr marL="640080" lvl="1" indent="-457200">
              <a:buFont typeface="+mj-lt"/>
              <a:buAutoNum type="arabicPeriod" startAt="2"/>
            </a:pPr>
            <a:r>
              <a:rPr lang="en-US" sz="2400" dirty="0"/>
              <a:t>OPC load and connectivity issues</a:t>
            </a:r>
          </a:p>
          <a:p>
            <a:pPr marL="697230" lvl="1" indent="-514350">
              <a:buFont typeface="+mj-lt"/>
              <a:buAutoNum type="arabicPeriod" startAt="2"/>
            </a:pPr>
            <a:r>
              <a:rPr lang="en-US" sz="2400" dirty="0"/>
              <a:t>Timing… sync is processed before all relevant events are collected (I think there is </a:t>
            </a:r>
            <a:r>
              <a:rPr lang="en-US" sz="2400" b="1" u="sng" dirty="0">
                <a:solidFill>
                  <a:srgbClr val="FF0000"/>
                </a:solidFill>
              </a:rPr>
              <a:t>undocumented way </a:t>
            </a:r>
            <a:r>
              <a:rPr lang="en-US" sz="2400" dirty="0"/>
              <a:t>to address this)</a:t>
            </a:r>
          </a:p>
          <a:p>
            <a:pPr marL="697230" lvl="1" indent="-514350">
              <a:buFont typeface="+mj-lt"/>
              <a:buAutoNum type="arabicPeriod" startAt="2"/>
            </a:pPr>
            <a:r>
              <a:rPr lang="en-US" sz="2400" dirty="0"/>
              <a:t>Extremely complicated logic </a:t>
            </a:r>
          </a:p>
          <a:p>
            <a:pPr lvl="2"/>
            <a:r>
              <a:rPr lang="en-US" dirty="0"/>
              <a:t>Realistically impossible to troubleshoot… </a:t>
            </a:r>
          </a:p>
          <a:p>
            <a:pPr lvl="2"/>
            <a:r>
              <a:rPr lang="en-US" dirty="0"/>
              <a:t>Many (Barbara included) still do not fully understand this functionality</a:t>
            </a:r>
          </a:p>
          <a:p>
            <a:endParaRPr lang="en-US" dirty="0"/>
          </a:p>
        </p:txBody>
      </p:sp>
      <p:pic>
        <p:nvPicPr>
          <p:cNvPr id="6" name="Picture 2" descr="2012 Honeywell Users Group EMEA. Sustain.Ability. Ananthapadmanabha  Krishnamurthy. UIS Enhancements for Experion PKS and TPS - PDF Free Download">
            <a:extLst>
              <a:ext uri="{FF2B5EF4-FFF2-40B4-BE49-F238E27FC236}">
                <a16:creationId xmlns:a16="http://schemas.microsoft.com/office/drawing/2014/main" id="{70FC68C6-4BFE-4D5D-A523-A4C49EBB6F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9000" y="3934312"/>
            <a:ext cx="1483759" cy="12293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90CBD48-A08C-4CC0-BE92-9EF0EE2B68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21503" y="325505"/>
            <a:ext cx="1219200" cy="1219200"/>
          </a:xfrm>
          <a:prstGeom prst="rect">
            <a:avLst/>
          </a:prstGeom>
        </p:spPr>
      </p:pic>
    </p:spTree>
    <p:extLst>
      <p:ext uri="{BB962C8B-B14F-4D97-AF65-F5344CB8AC3E}">
        <p14:creationId xmlns:p14="http://schemas.microsoft.com/office/powerpoint/2010/main" val="32291841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Why new Sync better?</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26532"/>
            <a:ext cx="9143999" cy="5498068"/>
          </a:xfrm>
        </p:spPr>
        <p:txBody>
          <a:bodyPr/>
          <a:lstStyle/>
          <a:p>
            <a:pPr marL="0" indent="0">
              <a:buNone/>
            </a:pPr>
            <a:r>
              <a:rPr lang="en-US" sz="2000" b="1" u="sng" dirty="0"/>
              <a:t>ACCURATE and less confusing that Standard sync which…</a:t>
            </a:r>
          </a:p>
          <a:p>
            <a:pPr marL="457200" indent="-457200">
              <a:buFont typeface="+mj-lt"/>
              <a:buAutoNum type="arabicPeriod"/>
            </a:pPr>
            <a:r>
              <a:rPr lang="en-US" sz="2000" b="1" u="sng" dirty="0"/>
              <a:t>Syncs after collection is fully done </a:t>
            </a:r>
            <a:r>
              <a:rPr lang="en-US" sz="2000" dirty="0"/>
              <a:t>(thus not generating many “…-redundant” events)</a:t>
            </a:r>
          </a:p>
          <a:p>
            <a:pPr marL="457200" indent="-457200">
              <a:buFont typeface="+mj-lt"/>
              <a:buAutoNum type="arabicPeriod"/>
            </a:pPr>
            <a:r>
              <a:rPr lang="en-US" sz="2000" b="1" u="sng" dirty="0"/>
              <a:t>Alarms with “Unknown” timestamp </a:t>
            </a:r>
            <a:r>
              <a:rPr lang="en-US" sz="2000" dirty="0"/>
              <a:t>– “…-wrong” </a:t>
            </a:r>
            <a:r>
              <a:rPr lang="en-US" sz="2000" dirty="0" err="1"/>
              <a:t>ReturnToNormal</a:t>
            </a:r>
            <a:r>
              <a:rPr lang="en-US" sz="2000" dirty="0"/>
              <a:t> not generated(only HF6 gets factual timestamp)</a:t>
            </a:r>
          </a:p>
          <a:p>
            <a:pPr marL="457200" indent="-457200">
              <a:buFont typeface="+mj-lt"/>
              <a:buAutoNum type="arabicPeriod"/>
            </a:pPr>
            <a:r>
              <a:rPr lang="en-US" sz="2000" b="1" u="sng" dirty="0"/>
              <a:t>Can validate the file </a:t>
            </a:r>
            <a:r>
              <a:rPr lang="en-US" sz="2000" dirty="0"/>
              <a:t>(it is WYSIWYG, and not overcomplicated OPC logic)</a:t>
            </a:r>
          </a:p>
          <a:p>
            <a:pPr marL="457200" indent="-457200">
              <a:buFont typeface="+mj-lt"/>
              <a:buAutoNum type="arabicPeriod"/>
            </a:pPr>
            <a:r>
              <a:rPr lang="en-US" sz="2000" dirty="0"/>
              <a:t>We </a:t>
            </a:r>
            <a:r>
              <a:rPr lang="en-US" sz="2000" b="1" u="sng" dirty="0"/>
              <a:t>do not care about OPC options\struggles </a:t>
            </a:r>
            <a:r>
              <a:rPr lang="en-US" sz="2000" dirty="0"/>
              <a:t>(e.g. hierarchy settings, OPC failures)</a:t>
            </a:r>
          </a:p>
          <a:p>
            <a:pPr marL="457200" indent="-457200">
              <a:buFont typeface="+mj-lt"/>
              <a:buAutoNum type="arabicPeriod"/>
            </a:pPr>
            <a:r>
              <a:rPr lang="en-US" sz="2000" dirty="0"/>
              <a:t>We </a:t>
            </a:r>
            <a:r>
              <a:rPr lang="en-US" sz="2000" b="1" u="sng" dirty="0"/>
              <a:t>do not care about Advanced security</a:t>
            </a:r>
          </a:p>
          <a:p>
            <a:pPr marL="457200" indent="-457200">
              <a:buFont typeface="+mj-lt"/>
              <a:buAutoNum type="arabicPeriod"/>
            </a:pPr>
            <a:r>
              <a:rPr lang="en-US" sz="2000" dirty="0"/>
              <a:t>ESVT can have ghost alarms, Sync validates them but… cannot validate some (“known limitations”)… No issue here</a:t>
            </a:r>
          </a:p>
          <a:p>
            <a:pPr marL="457200" indent="-457200">
              <a:buFont typeface="+mj-lt"/>
              <a:buAutoNum type="arabicPeriod"/>
            </a:pPr>
            <a:r>
              <a:rPr lang="en-US" sz="2000" dirty="0"/>
              <a:t>ESVT can have missing alarms – DE was not even aware!... No issue here</a:t>
            </a:r>
          </a:p>
          <a:p>
            <a:pPr marL="0" indent="0">
              <a:buNone/>
            </a:pPr>
            <a:r>
              <a:rPr lang="en-US" sz="2000" dirty="0"/>
              <a:t>-------</a:t>
            </a:r>
          </a:p>
          <a:p>
            <a:pPr marL="457200" indent="-457200">
              <a:buFont typeface="+mj-lt"/>
              <a:buAutoNum type="arabicPeriod"/>
            </a:pPr>
            <a:r>
              <a:rPr lang="en-US" sz="2000" dirty="0"/>
              <a:t>We do not have standard sync for Hybrid system</a:t>
            </a:r>
          </a:p>
          <a:p>
            <a:pPr marL="457200" indent="-457200">
              <a:buFont typeface="+mj-lt"/>
              <a:buAutoNum type="arabicPeriod"/>
            </a:pPr>
            <a:r>
              <a:rPr lang="en-US" sz="2000" dirty="0"/>
              <a:t>TPS – only can validate alarms (cannot add\detect missing alarms) and only EJC works (as </a:t>
            </a:r>
            <a:r>
              <a:rPr lang="en-US" sz="2000" dirty="0" err="1"/>
              <a:t>AlarmIdentifiers</a:t>
            </a:r>
            <a:r>
              <a:rPr lang="en-US" sz="2000" dirty="0"/>
              <a:t> were only fixed for EJC! And sync was designed against this EJC collection way… it will not work well with any other TPS collection methods)</a:t>
            </a:r>
          </a:p>
          <a:p>
            <a:endParaRPr lang="en-US" dirty="0"/>
          </a:p>
          <a:p>
            <a:pPr marL="0" indent="0">
              <a:buNone/>
            </a:pPr>
            <a:endParaRPr lang="en-US" dirty="0"/>
          </a:p>
          <a:p>
            <a:endParaRPr lang="en-US" dirty="0"/>
          </a:p>
          <a:p>
            <a:endParaRPr lang="en-US" dirty="0"/>
          </a:p>
          <a:p>
            <a:pPr marL="0" indent="0">
              <a:buNone/>
            </a:pPr>
            <a:endParaRPr lang="en-US" sz="1600" dirty="0"/>
          </a:p>
          <a:p>
            <a:endParaRPr lang="en-US" dirty="0"/>
          </a:p>
        </p:txBody>
      </p:sp>
      <p:pic>
        <p:nvPicPr>
          <p:cNvPr id="4" name="Picture 3">
            <a:extLst>
              <a:ext uri="{FF2B5EF4-FFF2-40B4-BE49-F238E27FC236}">
                <a16:creationId xmlns:a16="http://schemas.microsoft.com/office/drawing/2014/main" id="{76F97DD8-9C61-494E-B7EA-50ADC0F93C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2200" y="-79437"/>
            <a:ext cx="1143000" cy="1143000"/>
          </a:xfrm>
          <a:prstGeom prst="rect">
            <a:avLst/>
          </a:prstGeom>
        </p:spPr>
      </p:pic>
    </p:spTree>
    <p:extLst>
      <p:ext uri="{BB962C8B-B14F-4D97-AF65-F5344CB8AC3E}">
        <p14:creationId xmlns:p14="http://schemas.microsoft.com/office/powerpoint/2010/main" val="19614512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Why Alternative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757269"/>
            <a:ext cx="8498301" cy="2895600"/>
          </a:xfrm>
        </p:spPr>
        <p:txBody>
          <a:bodyPr/>
          <a:lstStyle/>
          <a:p>
            <a:r>
              <a:rPr lang="en-US" dirty="0">
                <a:solidFill>
                  <a:srgbClr val="202124"/>
                </a:solidFill>
                <a:latin typeface="inherit"/>
              </a:rPr>
              <a:t>Quality!</a:t>
            </a:r>
          </a:p>
          <a:p>
            <a:pPr marL="0" indent="0">
              <a:buNone/>
            </a:pPr>
            <a:endParaRPr lang="en-US" dirty="0">
              <a:solidFill>
                <a:srgbClr val="202124"/>
              </a:solidFill>
              <a:latin typeface="inherit"/>
            </a:endParaRPr>
          </a:p>
          <a:p>
            <a:r>
              <a:rPr lang="en-US" dirty="0">
                <a:solidFill>
                  <a:srgbClr val="202124"/>
                </a:solidFill>
                <a:latin typeface="inherit"/>
              </a:rPr>
              <a:t>Clarity! (</a:t>
            </a:r>
            <a:r>
              <a:rPr lang="en-US" dirty="0" err="1">
                <a:solidFill>
                  <a:srgbClr val="202124"/>
                </a:solidFill>
                <a:latin typeface="inherit"/>
              </a:rPr>
              <a:t>vbs</a:t>
            </a:r>
            <a:r>
              <a:rPr lang="en-US" dirty="0">
                <a:solidFill>
                  <a:srgbClr val="202124"/>
                </a:solidFill>
                <a:latin typeface="inherit"/>
              </a:rPr>
              <a:t> script so no logic hidden in executables)</a:t>
            </a:r>
          </a:p>
          <a:p>
            <a:pPr marL="0" indent="0">
              <a:buNone/>
            </a:pPr>
            <a:r>
              <a:rPr lang="en-US" dirty="0">
                <a:solidFill>
                  <a:srgbClr val="202124"/>
                </a:solidFill>
                <a:latin typeface="inherit"/>
              </a:rPr>
              <a:t>	</a:t>
            </a:r>
          </a:p>
          <a:p>
            <a:r>
              <a:rPr lang="en-US" dirty="0">
                <a:solidFill>
                  <a:srgbClr val="202124"/>
                </a:solidFill>
                <a:latin typeface="inherit"/>
              </a:rPr>
              <a:t>Supportability!</a:t>
            </a:r>
          </a:p>
          <a:p>
            <a:pPr marL="0" indent="0">
              <a:buNone/>
            </a:pPr>
            <a:r>
              <a:rPr lang="en-US" dirty="0">
                <a:solidFill>
                  <a:srgbClr val="202124"/>
                </a:solidFill>
                <a:latin typeface="inherit"/>
              </a:rPr>
              <a:t>   Simple Validation Logic WYSIWYG</a:t>
            </a:r>
          </a:p>
          <a:p>
            <a:pPr marL="0" indent="0">
              <a:buNone/>
            </a:pPr>
            <a:r>
              <a:rPr lang="en-US" dirty="0">
                <a:solidFill>
                  <a:srgbClr val="202124"/>
                </a:solidFill>
                <a:latin typeface="inherit"/>
              </a:rPr>
              <a:t>				vs.				</a:t>
            </a:r>
          </a:p>
          <a:p>
            <a:pPr marL="0" indent="0">
              <a:buNone/>
            </a:pPr>
            <a:r>
              <a:rPr lang="en-US" dirty="0">
                <a:solidFill>
                  <a:srgbClr val="202124"/>
                </a:solidFill>
                <a:latin typeface="inherit"/>
              </a:rPr>
              <a:t>Standard sync file (shown below) with ghost alarms, missing alarms and logic to the right impossible to understand</a:t>
            </a:r>
          </a:p>
          <a:p>
            <a:pPr marL="0" indent="0">
              <a:buNone/>
            </a:pPr>
            <a:endParaRPr lang="en-US" dirty="0"/>
          </a:p>
        </p:txBody>
      </p:sp>
      <p:pic>
        <p:nvPicPr>
          <p:cNvPr id="12290" name="Picture 2" descr="zestaw KOŁO RATUNKOWE 58cm 1,5kg + LINA 30m/8mm 7384088376 - Allegro.pl">
            <a:extLst>
              <a:ext uri="{FF2B5EF4-FFF2-40B4-BE49-F238E27FC236}">
                <a16:creationId xmlns:a16="http://schemas.microsoft.com/office/drawing/2014/main" id="{785A6383-420F-4D92-B3D2-770E009808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2205069"/>
            <a:ext cx="2319983" cy="20588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B2BEA73-AE12-40B6-96F3-4B24B5F5412C}"/>
              </a:ext>
            </a:extLst>
          </p:cNvPr>
          <p:cNvPicPr>
            <a:picLocks noChangeAspect="1"/>
          </p:cNvPicPr>
          <p:nvPr/>
        </p:nvPicPr>
        <p:blipFill>
          <a:blip r:embed="rId4"/>
          <a:stretch>
            <a:fillRect/>
          </a:stretch>
        </p:blipFill>
        <p:spPr>
          <a:xfrm>
            <a:off x="-43792" y="5523552"/>
            <a:ext cx="9144000" cy="1154357"/>
          </a:xfrm>
          <a:prstGeom prst="rect">
            <a:avLst/>
          </a:prstGeom>
          <a:ln w="28575">
            <a:solidFill>
              <a:schemeClr val="accent3"/>
            </a:solidFill>
          </a:ln>
        </p:spPr>
      </p:pic>
      <p:sp>
        <p:nvSpPr>
          <p:cNvPr id="4" name="Oval 3">
            <a:extLst>
              <a:ext uri="{FF2B5EF4-FFF2-40B4-BE49-F238E27FC236}">
                <a16:creationId xmlns:a16="http://schemas.microsoft.com/office/drawing/2014/main" id="{4BC1547E-6C74-4BB7-B1D4-79BD2602CFE7}"/>
              </a:ext>
            </a:extLst>
          </p:cNvPr>
          <p:cNvSpPr/>
          <p:nvPr/>
        </p:nvSpPr>
        <p:spPr>
          <a:xfrm>
            <a:off x="4038600" y="5562600"/>
            <a:ext cx="5257800" cy="1371600"/>
          </a:xfrm>
          <a:prstGeom prst="ellipse">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Tree>
    <p:extLst>
      <p:ext uri="{BB962C8B-B14F-4D97-AF65-F5344CB8AC3E}">
        <p14:creationId xmlns:p14="http://schemas.microsoft.com/office/powerpoint/2010/main" val="22955837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Active Sync History…</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133608" y="914400"/>
            <a:ext cx="8876783" cy="5638800"/>
          </a:xfrm>
        </p:spPr>
        <p:txBody>
          <a:bodyPr/>
          <a:lstStyle/>
          <a:p>
            <a:r>
              <a:rPr lang="en-US" dirty="0"/>
              <a:t>HYBRID – (Carson and Wilmington) Implemented first time with LAR in April</a:t>
            </a:r>
            <a:endParaRPr lang="en-US" b="1" dirty="0">
              <a:solidFill>
                <a:srgbClr val="FF0000"/>
              </a:solidFill>
            </a:endParaRPr>
          </a:p>
          <a:p>
            <a:r>
              <a:rPr lang="en-US" dirty="0"/>
              <a:t>ESVT – Robinson and Canton</a:t>
            </a:r>
          </a:p>
          <a:p>
            <a:pPr marL="365760" lvl="2" indent="0">
              <a:buNone/>
            </a:pPr>
            <a:r>
              <a:rPr lang="en-US" dirty="0"/>
              <a:t>Garyville… in progress</a:t>
            </a:r>
          </a:p>
          <a:p>
            <a:r>
              <a:rPr lang="en-US" dirty="0"/>
              <a:t>TPS – Paulsboro (December)… looks great but had significant issues with </a:t>
            </a:r>
            <a:r>
              <a:rPr lang="en-US" dirty="0" err="1"/>
              <a:t>DynAMo</a:t>
            </a:r>
            <a:r>
              <a:rPr lang="en-US" dirty="0"/>
              <a:t> (including cache corruption) so… just waiting to declare full success (or adjust if any issues identified… potentially may be related to invalid identifiers)</a:t>
            </a:r>
          </a:p>
          <a:p>
            <a:endParaRPr lang="en-US" dirty="0"/>
          </a:p>
          <a:p>
            <a:r>
              <a:rPr lang="en-US" dirty="0"/>
              <a:t>Quality of Active Alarms report will be consistently </a:t>
            </a:r>
            <a:r>
              <a:rPr lang="en-US" b="1" dirty="0">
                <a:solidFill>
                  <a:srgbClr val="FF0000"/>
                </a:solidFill>
              </a:rPr>
              <a:t>close to 100%. </a:t>
            </a:r>
            <a:r>
              <a:rPr lang="en-US" dirty="0"/>
              <a:t>It will </a:t>
            </a:r>
            <a:r>
              <a:rPr lang="en-US" u="sng" dirty="0"/>
              <a:t>not</a:t>
            </a:r>
            <a:r>
              <a:rPr lang="en-US" dirty="0"/>
              <a:t> deteriorate over time </a:t>
            </a:r>
          </a:p>
          <a:p>
            <a:pPr marL="0" indent="0">
              <a:buNone/>
            </a:pPr>
            <a:endParaRPr lang="en-US" sz="1600" dirty="0"/>
          </a:p>
          <a:p>
            <a:endParaRPr lang="en-US" dirty="0"/>
          </a:p>
        </p:txBody>
      </p:sp>
    </p:spTree>
    <p:extLst>
      <p:ext uri="{BB962C8B-B14F-4D97-AF65-F5344CB8AC3E}">
        <p14:creationId xmlns:p14="http://schemas.microsoft.com/office/powerpoint/2010/main" val="41402868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How complicated is new Sync?</a:t>
            </a:r>
          </a:p>
        </p:txBody>
      </p:sp>
      <p:sp>
        <p:nvSpPr>
          <p:cNvPr id="6" name="Content Placeholder 5">
            <a:extLst>
              <a:ext uri="{FF2B5EF4-FFF2-40B4-BE49-F238E27FC236}">
                <a16:creationId xmlns:a16="http://schemas.microsoft.com/office/drawing/2014/main" id="{8F1CF288-94DB-4B41-9FF1-6B3A6233F3C4}"/>
              </a:ext>
            </a:extLst>
          </p:cNvPr>
          <p:cNvSpPr>
            <a:spLocks noGrp="1"/>
          </p:cNvSpPr>
          <p:nvPr>
            <p:ph sz="quarter" idx="12"/>
          </p:nvPr>
        </p:nvSpPr>
        <p:spPr>
          <a:xfrm>
            <a:off x="4648200" y="990600"/>
            <a:ext cx="3657600" cy="5562600"/>
          </a:xfrm>
        </p:spPr>
        <p:txBody>
          <a:bodyPr/>
          <a:lstStyle/>
          <a:p>
            <a:r>
              <a:rPr lang="en-US" sz="1100" dirty="0"/>
              <a:t>Standard sync requires the customer to keep ESVTs in sync (</a:t>
            </a:r>
            <a:r>
              <a:rPr lang="en-US" sz="1100" dirty="0">
                <a:solidFill>
                  <a:srgbClr val="FF0000"/>
                </a:solidFill>
              </a:rPr>
              <a:t>very intrusive</a:t>
            </a:r>
            <a:r>
              <a:rPr lang="en-US" sz="1100" dirty="0"/>
              <a:t>)</a:t>
            </a:r>
          </a:p>
          <a:p>
            <a:r>
              <a:rPr lang="en-US" sz="1100" dirty="0"/>
              <a:t>Standard Active Sync logic</a:t>
            </a:r>
          </a:p>
          <a:p>
            <a:endParaRPr lang="en-US" sz="1100" dirty="0"/>
          </a:p>
          <a:p>
            <a:r>
              <a:rPr lang="en-US" sz="1100" dirty="0"/>
              <a:t>custom </a:t>
            </a:r>
            <a:r>
              <a:rPr lang="en-US" sz="1100" dirty="0" err="1"/>
              <a:t>DCSes</a:t>
            </a:r>
            <a:r>
              <a:rPr lang="en-US" sz="1100" dirty="0"/>
              <a:t> scripts\implementation</a:t>
            </a:r>
          </a:p>
          <a:p>
            <a:endParaRPr lang="en-US" sz="1100" dirty="0"/>
          </a:p>
          <a:p>
            <a:r>
              <a:rPr lang="en-US" sz="1100" dirty="0"/>
              <a:t>(New Sync) TPS queries construction (should be  </a:t>
            </a:r>
            <a:r>
              <a:rPr lang="en-US" sz="1100" b="1" u="sng" dirty="0"/>
              <a:t>easy for the customers</a:t>
            </a:r>
            <a:r>
              <a:rPr lang="en-US" sz="1100" dirty="0"/>
              <a:t> and definitely easy for Roy!!)</a:t>
            </a:r>
          </a:p>
          <a:p>
            <a:endParaRPr lang="en-US" sz="1100" dirty="0"/>
          </a:p>
          <a:p>
            <a:endParaRPr lang="en-US" sz="1100" dirty="0"/>
          </a:p>
          <a:p>
            <a:endParaRPr lang="en-US" sz="1100" dirty="0"/>
          </a:p>
          <a:p>
            <a:endParaRPr lang="en-US" sz="1100" dirty="0"/>
          </a:p>
          <a:p>
            <a:r>
              <a:rPr lang="en-US" sz="1100" dirty="0"/>
              <a:t>(New Sync) Hybrid (TPS+EST)</a:t>
            </a:r>
          </a:p>
          <a:p>
            <a:pPr marL="0" indent="0">
              <a:buNone/>
            </a:pPr>
            <a:endParaRPr lang="en-US" sz="1100" dirty="0"/>
          </a:p>
          <a:p>
            <a:pPr marL="0" indent="0">
              <a:buNone/>
            </a:pPr>
            <a:endParaRPr lang="en-US" sz="1100" dirty="0"/>
          </a:p>
          <a:p>
            <a:pPr marL="0" indent="0">
              <a:buNone/>
            </a:pPr>
            <a:endParaRPr lang="en-US" sz="1100" dirty="0"/>
          </a:p>
          <a:p>
            <a:pPr marL="0" indent="0">
              <a:buNone/>
            </a:pPr>
            <a:endParaRPr lang="en-US" sz="1100" dirty="0"/>
          </a:p>
          <a:p>
            <a:r>
              <a:rPr lang="en-US" sz="1100" dirty="0"/>
              <a:t>(New Sync) Pure TPS (small limitations, still way better than standard sync!)</a:t>
            </a:r>
          </a:p>
          <a:p>
            <a:endParaRPr lang="en-US" sz="1100" dirty="0"/>
          </a:p>
          <a:p>
            <a:endParaRPr lang="en-US" sz="1100" dirty="0"/>
          </a:p>
          <a:p>
            <a:r>
              <a:rPr lang="en-US" sz="1100" dirty="0"/>
              <a:t>(New Sync) ESVT </a:t>
            </a:r>
          </a:p>
          <a:p>
            <a:r>
              <a:rPr lang="en-US" sz="1100" dirty="0"/>
              <a:t>(New Sync) Pure Experion </a:t>
            </a:r>
          </a:p>
          <a:p>
            <a:pPr marL="0" indent="0">
              <a:buNone/>
            </a:pPr>
            <a:endParaRPr lang="en-US" sz="1100" dirty="0"/>
          </a:p>
          <a:p>
            <a:endParaRPr lang="en-US" sz="1100" dirty="0"/>
          </a:p>
          <a:p>
            <a:endParaRPr lang="en-US" sz="1100" dirty="0"/>
          </a:p>
          <a:p>
            <a:endParaRPr lang="en-US" sz="1100" dirty="0"/>
          </a:p>
          <a:p>
            <a:endParaRPr lang="en-US" sz="1100" dirty="0"/>
          </a:p>
        </p:txBody>
      </p:sp>
      <p:sp>
        <p:nvSpPr>
          <p:cNvPr id="3" name="TextBox 2">
            <a:extLst>
              <a:ext uri="{FF2B5EF4-FFF2-40B4-BE49-F238E27FC236}">
                <a16:creationId xmlns:a16="http://schemas.microsoft.com/office/drawing/2014/main" id="{49D0159E-E53F-4BFC-B514-B9AA24662461}"/>
              </a:ext>
            </a:extLst>
          </p:cNvPr>
          <p:cNvSpPr txBox="1"/>
          <p:nvPr/>
        </p:nvSpPr>
        <p:spPr>
          <a:xfrm>
            <a:off x="685800" y="5791200"/>
            <a:ext cx="2362200" cy="461665"/>
          </a:xfrm>
          <a:prstGeom prst="rect">
            <a:avLst/>
          </a:prstGeom>
          <a:noFill/>
        </p:spPr>
        <p:txBody>
          <a:bodyPr wrap="square" rtlCol="0">
            <a:spAutoFit/>
          </a:bodyPr>
          <a:lstStyle/>
          <a:p>
            <a:r>
              <a:rPr lang="en-US" b="1" dirty="0">
                <a:solidFill>
                  <a:srgbClr val="00B0F0"/>
                </a:solidFill>
              </a:rPr>
              <a:t>Extremely Easy</a:t>
            </a:r>
          </a:p>
        </p:txBody>
      </p:sp>
      <p:sp>
        <p:nvSpPr>
          <p:cNvPr id="8" name="TextBox 7">
            <a:extLst>
              <a:ext uri="{FF2B5EF4-FFF2-40B4-BE49-F238E27FC236}">
                <a16:creationId xmlns:a16="http://schemas.microsoft.com/office/drawing/2014/main" id="{A7E82F59-DFAA-42B1-B5F7-3E0FC9582823}"/>
              </a:ext>
            </a:extLst>
          </p:cNvPr>
          <p:cNvSpPr txBox="1"/>
          <p:nvPr/>
        </p:nvSpPr>
        <p:spPr>
          <a:xfrm>
            <a:off x="342900" y="1029622"/>
            <a:ext cx="3505200" cy="461665"/>
          </a:xfrm>
          <a:prstGeom prst="rect">
            <a:avLst/>
          </a:prstGeom>
          <a:noFill/>
        </p:spPr>
        <p:txBody>
          <a:bodyPr wrap="square" rtlCol="0">
            <a:spAutoFit/>
          </a:bodyPr>
          <a:lstStyle/>
          <a:p>
            <a:r>
              <a:rPr lang="en-US" b="1" dirty="0">
                <a:solidFill>
                  <a:srgbClr val="00B0F0"/>
                </a:solidFill>
              </a:rPr>
              <a:t>Extremely Complicated</a:t>
            </a:r>
          </a:p>
        </p:txBody>
      </p:sp>
      <p:sp>
        <p:nvSpPr>
          <p:cNvPr id="4" name="Arrow: Up 3">
            <a:extLst>
              <a:ext uri="{FF2B5EF4-FFF2-40B4-BE49-F238E27FC236}">
                <a16:creationId xmlns:a16="http://schemas.microsoft.com/office/drawing/2014/main" id="{5D27D163-3DA7-4F9A-B2E7-0A1A7EC39BEA}"/>
              </a:ext>
            </a:extLst>
          </p:cNvPr>
          <p:cNvSpPr/>
          <p:nvPr/>
        </p:nvSpPr>
        <p:spPr>
          <a:xfrm>
            <a:off x="3728697" y="1260454"/>
            <a:ext cx="767103" cy="4911745"/>
          </a:xfrm>
          <a:prstGeom prst="upArrow">
            <a:avLst/>
          </a:prstGeom>
          <a:solidFill>
            <a:srgbClr val="0070C0"/>
          </a:solidFill>
          <a:ln w="12700"/>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Tree>
    <p:extLst>
      <p:ext uri="{BB962C8B-B14F-4D97-AF65-F5344CB8AC3E}">
        <p14:creationId xmlns:p14="http://schemas.microsoft.com/office/powerpoint/2010/main" val="29003648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485428" y="228600"/>
            <a:ext cx="7986568" cy="498610"/>
          </a:xfrm>
        </p:spPr>
        <p:txBody>
          <a:bodyPr/>
          <a:lstStyle/>
          <a:p>
            <a:r>
              <a:rPr lang="en-US" sz="2400" dirty="0"/>
              <a:t>Will </a:t>
            </a:r>
            <a:r>
              <a:rPr lang="en-US" sz="2400" dirty="0" err="1"/>
              <a:t>notifdmp</a:t>
            </a:r>
            <a:r>
              <a:rPr lang="en-US" sz="2400" dirty="0"/>
              <a:t> return only alarms operator see?</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435932" y="815340"/>
            <a:ext cx="8085560" cy="5227320"/>
          </a:xfrm>
        </p:spPr>
        <p:txBody>
          <a:bodyPr/>
          <a:lstStyle/>
          <a:p>
            <a:pPr marL="0" indent="0">
              <a:buNone/>
            </a:pPr>
            <a:r>
              <a:rPr lang="en-US" dirty="0"/>
              <a:t>No, it will return all alarms assigned to the console, users (e.g. operators) can be configured to see subset of these assets.</a:t>
            </a:r>
          </a:p>
          <a:p>
            <a:pPr marL="0" indent="0">
              <a:buNone/>
            </a:pPr>
            <a:endParaRPr lang="en-US" dirty="0"/>
          </a:p>
          <a:p>
            <a:pPr marL="0" indent="0">
              <a:buNone/>
            </a:pPr>
            <a:r>
              <a:rPr lang="en-US" dirty="0"/>
              <a:t>						</a:t>
            </a:r>
          </a:p>
        </p:txBody>
      </p:sp>
      <p:pic>
        <p:nvPicPr>
          <p:cNvPr id="3" name="Picture 2">
            <a:extLst>
              <a:ext uri="{FF2B5EF4-FFF2-40B4-BE49-F238E27FC236}">
                <a16:creationId xmlns:a16="http://schemas.microsoft.com/office/drawing/2014/main" id="{CA2EAFC2-A762-4C6B-AE78-9FCFAECC3DB0}"/>
              </a:ext>
            </a:extLst>
          </p:cNvPr>
          <p:cNvPicPr>
            <a:picLocks noChangeAspect="1"/>
          </p:cNvPicPr>
          <p:nvPr/>
        </p:nvPicPr>
        <p:blipFill>
          <a:blip r:embed="rId2"/>
          <a:stretch>
            <a:fillRect/>
          </a:stretch>
        </p:blipFill>
        <p:spPr>
          <a:xfrm>
            <a:off x="304800" y="2141108"/>
            <a:ext cx="5334462" cy="2575783"/>
          </a:xfrm>
          <a:prstGeom prst="rect">
            <a:avLst/>
          </a:prstGeom>
        </p:spPr>
      </p:pic>
      <p:pic>
        <p:nvPicPr>
          <p:cNvPr id="6" name="Picture 5">
            <a:extLst>
              <a:ext uri="{FF2B5EF4-FFF2-40B4-BE49-F238E27FC236}">
                <a16:creationId xmlns:a16="http://schemas.microsoft.com/office/drawing/2014/main" id="{23365452-7AE5-46C8-9A26-96F2222D1A81}"/>
              </a:ext>
            </a:extLst>
          </p:cNvPr>
          <p:cNvPicPr>
            <a:picLocks noChangeAspect="1"/>
          </p:cNvPicPr>
          <p:nvPr/>
        </p:nvPicPr>
        <p:blipFill>
          <a:blip r:embed="rId3"/>
          <a:stretch>
            <a:fillRect/>
          </a:stretch>
        </p:blipFill>
        <p:spPr>
          <a:xfrm>
            <a:off x="3016589" y="3922101"/>
            <a:ext cx="5425910" cy="2690093"/>
          </a:xfrm>
          <a:prstGeom prst="rect">
            <a:avLst/>
          </a:prstGeom>
        </p:spPr>
      </p:pic>
    </p:spTree>
    <p:extLst>
      <p:ext uri="{BB962C8B-B14F-4D97-AF65-F5344CB8AC3E}">
        <p14:creationId xmlns:p14="http://schemas.microsoft.com/office/powerpoint/2010/main" val="2898236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b="1" u="sng" dirty="0">
                <a:solidFill>
                  <a:srgbClr val="FF0000"/>
                </a:solidFill>
              </a:rPr>
              <a:t>Quick Implementation:</a:t>
            </a:r>
            <a:br>
              <a:rPr lang="en-US" b="1" u="sng" dirty="0">
                <a:solidFill>
                  <a:srgbClr val="FF0000"/>
                </a:solidFill>
              </a:rPr>
            </a:br>
            <a:endParaRPr lang="en-US" dirty="0"/>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0" y="815340"/>
            <a:ext cx="9144000" cy="5737860"/>
          </a:xfrm>
        </p:spPr>
        <p:txBody>
          <a:bodyPr/>
          <a:lstStyle/>
          <a:p>
            <a:pPr marL="514350" indent="-514350">
              <a:buFont typeface="+mj-lt"/>
              <a:buAutoNum type="arabicPeriod"/>
            </a:pPr>
            <a:r>
              <a:rPr lang="en-US" sz="2000" dirty="0"/>
              <a:t>Generate files on EST\ESVT\ESV (or TPS) and put in one location (can be network)</a:t>
            </a:r>
          </a:p>
          <a:p>
            <a:pPr marL="0" indent="0">
              <a:buNone/>
            </a:pPr>
            <a:r>
              <a:rPr lang="en-US" sz="2000" dirty="0"/>
              <a:t>	- get all alarms (TPS alarms from TPS or EST, not from ESVT!)</a:t>
            </a:r>
          </a:p>
          <a:p>
            <a:pPr marL="514350" indent="-514350">
              <a:buFont typeface="+mj-lt"/>
              <a:buAutoNum type="arabicPeriod" startAt="2"/>
            </a:pPr>
            <a:r>
              <a:rPr lang="en-US" sz="2000" b="1" u="sng" dirty="0"/>
              <a:t>Edit</a:t>
            </a:r>
            <a:r>
              <a:rPr lang="en-US" sz="2000" dirty="0"/>
              <a:t> and Run </a:t>
            </a:r>
            <a:r>
              <a:rPr lang="en-US" sz="2000" b="1" u="sng" dirty="0" err="1"/>
              <a:t>ActiveSync_GenerateFilesForDynAMo</a:t>
            </a:r>
            <a:r>
              <a:rPr lang="en-US" sz="2000" b="1" u="sng" dirty="0"/>
              <a:t> </a:t>
            </a:r>
            <a:r>
              <a:rPr lang="en-US" sz="2000" dirty="0"/>
              <a:t>to process files to generate ACT file (add one section per each channel)</a:t>
            </a:r>
          </a:p>
          <a:p>
            <a:pPr marL="0" indent="0">
              <a:buNone/>
            </a:pPr>
            <a:r>
              <a:rPr lang="en-US" sz="1050" dirty="0"/>
              <a:t>	</a:t>
            </a:r>
            <a:r>
              <a:rPr lang="en-US" sz="1050" dirty="0" err="1"/>
              <a:t>g_ChannelName</a:t>
            </a:r>
            <a:r>
              <a:rPr lang="en-US" sz="1050" dirty="0"/>
              <a:t>="ESVT4"				</a:t>
            </a:r>
          </a:p>
          <a:p>
            <a:pPr marL="0" indent="0">
              <a:buNone/>
            </a:pPr>
            <a:r>
              <a:rPr lang="en-US" sz="1050" dirty="0"/>
              <a:t>	</a:t>
            </a:r>
            <a:r>
              <a:rPr lang="en-US" sz="1050" dirty="0" err="1"/>
              <a:t>g_ServerNames</a:t>
            </a:r>
            <a:r>
              <a:rPr lang="en-US" sz="1050" dirty="0"/>
              <a:t>=Array("localhost","ESVT4")				</a:t>
            </a:r>
          </a:p>
          <a:p>
            <a:pPr marL="0" indent="0">
              <a:buNone/>
            </a:pPr>
            <a:r>
              <a:rPr lang="en-US" sz="1050" dirty="0"/>
              <a:t>	</a:t>
            </a:r>
            <a:r>
              <a:rPr lang="en-US" sz="1050" dirty="0" err="1"/>
              <a:t>g_AlmDmpPrefixes</a:t>
            </a:r>
            <a:r>
              <a:rPr lang="en-US" sz="1050" dirty="0"/>
              <a:t>=Array("L4EST47","L4ACTSY","L4SEQSY") </a:t>
            </a:r>
          </a:p>
          <a:p>
            <a:pPr marL="0" indent="0">
              <a:buNone/>
            </a:pPr>
            <a:r>
              <a:rPr lang="en-US" sz="1050" dirty="0"/>
              <a:t>	call </a:t>
            </a:r>
            <a:r>
              <a:rPr lang="en-US" sz="1050" dirty="0" err="1"/>
              <a:t>ProcessOneChannel</a:t>
            </a:r>
            <a:r>
              <a:rPr lang="en-US" sz="1050" dirty="0"/>
              <a:t>()</a:t>
            </a:r>
          </a:p>
          <a:p>
            <a:pPr marL="514350" indent="-514350">
              <a:buFont typeface="+mj-lt"/>
              <a:buAutoNum type="arabicPeriod" startAt="2"/>
            </a:pPr>
            <a:r>
              <a:rPr lang="en-US" sz="2000" dirty="0">
                <a:solidFill>
                  <a:srgbClr val="FF0000"/>
                </a:solidFill>
              </a:rPr>
              <a:t>Validate ACT file </a:t>
            </a:r>
            <a:r>
              <a:rPr lang="en-US" sz="2000" dirty="0">
                <a:solidFill>
                  <a:srgbClr val="FF0000"/>
                </a:solidFill>
                <a:sym typeface="Wingdings" panose="05000000000000000000" pitchFamily="2" charset="2"/>
              </a:rPr>
              <a:t> WYSIWYG (check no DSA alarms)</a:t>
            </a:r>
            <a:endParaRPr lang="en-US" sz="2000" dirty="0">
              <a:solidFill>
                <a:srgbClr val="FF0000"/>
              </a:solidFill>
            </a:endParaRPr>
          </a:p>
          <a:p>
            <a:pPr marL="514350" indent="-514350">
              <a:buFont typeface="+mj-lt"/>
              <a:buAutoNum type="arabicPeriod" startAt="2"/>
            </a:pPr>
            <a:r>
              <a:rPr lang="en-US" sz="2000" b="1" u="sng" dirty="0"/>
              <a:t>Edit</a:t>
            </a:r>
            <a:r>
              <a:rPr lang="en-US" sz="2000" dirty="0"/>
              <a:t> PPS (to adjust priority or path)</a:t>
            </a:r>
          </a:p>
          <a:p>
            <a:pPr marL="0" indent="0">
              <a:buNone/>
            </a:pPr>
            <a:r>
              <a:rPr lang="en-US" sz="1600" dirty="0"/>
              <a:t>		(priority sample script at the bottom of </a:t>
            </a:r>
            <a:r>
              <a:rPr lang="en-US" sz="1600" b="1" u="sng" dirty="0" err="1"/>
              <a:t>ActiveSync_GenerateFilesForDynAMo</a:t>
            </a:r>
            <a:r>
              <a:rPr lang="en-US" sz="1600" dirty="0"/>
              <a:t>)</a:t>
            </a:r>
          </a:p>
          <a:p>
            <a:pPr marL="514350" indent="-514350">
              <a:buFont typeface="+mj-lt"/>
              <a:buAutoNum type="arabicPeriod" startAt="2"/>
            </a:pPr>
            <a:r>
              <a:rPr lang="en-US" sz="2000" dirty="0"/>
              <a:t>Schedule Active Sync to process the files</a:t>
            </a:r>
          </a:p>
          <a:p>
            <a:endParaRPr lang="en-US" sz="2400" b="1" dirty="0"/>
          </a:p>
        </p:txBody>
      </p:sp>
      <p:pic>
        <p:nvPicPr>
          <p:cNvPr id="3" name="Picture 2">
            <a:extLst>
              <a:ext uri="{FF2B5EF4-FFF2-40B4-BE49-F238E27FC236}">
                <a16:creationId xmlns:a16="http://schemas.microsoft.com/office/drawing/2014/main" id="{23994DEE-97B7-4566-86FB-01D514010388}"/>
              </a:ext>
            </a:extLst>
          </p:cNvPr>
          <p:cNvPicPr>
            <a:picLocks noChangeAspect="1"/>
          </p:cNvPicPr>
          <p:nvPr/>
        </p:nvPicPr>
        <p:blipFill>
          <a:blip r:embed="rId2"/>
          <a:stretch>
            <a:fillRect/>
          </a:stretch>
        </p:blipFill>
        <p:spPr>
          <a:xfrm>
            <a:off x="6404517" y="4876800"/>
            <a:ext cx="2739483" cy="1676400"/>
          </a:xfrm>
          <a:prstGeom prst="rect">
            <a:avLst/>
          </a:prstGeom>
        </p:spPr>
      </p:pic>
    </p:spTree>
    <p:extLst>
      <p:ext uri="{BB962C8B-B14F-4D97-AF65-F5344CB8AC3E}">
        <p14:creationId xmlns:p14="http://schemas.microsoft.com/office/powerpoint/2010/main" val="27900475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err="1"/>
              <a:t>HowTo</a:t>
            </a:r>
            <a:r>
              <a:rPr lang="en-US" dirty="0"/>
              <a:t> new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435932" y="815340"/>
            <a:ext cx="8085560" cy="5227320"/>
          </a:xfrm>
        </p:spPr>
        <p:txBody>
          <a:bodyPr/>
          <a:lstStyle/>
          <a:p>
            <a:pPr marL="0" indent="0">
              <a:buNone/>
            </a:pPr>
            <a:r>
              <a:rPr lang="en-US" b="1" u="sng" dirty="0"/>
              <a:t>1. Schedule files generation 5:00am</a:t>
            </a:r>
          </a:p>
          <a:p>
            <a:pPr marL="0" indent="0">
              <a:buNone/>
            </a:pPr>
            <a:r>
              <a:rPr lang="en-US" dirty="0"/>
              <a:t>Create </a:t>
            </a:r>
            <a:r>
              <a:rPr lang="en-US" dirty="0" err="1"/>
              <a:t>notifdump</a:t>
            </a:r>
            <a:r>
              <a:rPr lang="en-US" dirty="0"/>
              <a:t> files on </a:t>
            </a:r>
          </a:p>
          <a:p>
            <a:pPr>
              <a:buFontTx/>
              <a:buChar char="-"/>
            </a:pPr>
            <a:r>
              <a:rPr lang="en-US" dirty="0"/>
              <a:t>For Experion alarms</a:t>
            </a:r>
          </a:p>
          <a:p>
            <a:pPr lvl="2">
              <a:buFontTx/>
              <a:buChar char="-"/>
            </a:pPr>
            <a:r>
              <a:rPr lang="en-US" sz="1600" dirty="0"/>
              <a:t>Experion servers A\B </a:t>
            </a:r>
          </a:p>
          <a:p>
            <a:pPr lvl="2">
              <a:buFontTx/>
              <a:buChar char="-"/>
            </a:pPr>
            <a:r>
              <a:rPr lang="en-US" sz="1600" dirty="0"/>
              <a:t>or EAS (subscribe for alarms)</a:t>
            </a:r>
          </a:p>
          <a:p>
            <a:pPr>
              <a:buFontTx/>
              <a:buChar char="-"/>
            </a:pPr>
            <a:r>
              <a:rPr lang="en-US" dirty="0"/>
              <a:t>For TPS alarms</a:t>
            </a:r>
          </a:p>
          <a:p>
            <a:pPr lvl="3">
              <a:buFontTx/>
              <a:buChar char="-"/>
            </a:pPr>
            <a:r>
              <a:rPr lang="en-US" sz="1600" dirty="0"/>
              <a:t>files on each station or </a:t>
            </a:r>
          </a:p>
          <a:p>
            <a:pPr lvl="3">
              <a:buFontTx/>
              <a:buChar char="-"/>
            </a:pPr>
            <a:r>
              <a:rPr lang="en-US" sz="1600" dirty="0"/>
              <a:t>TPS query files</a:t>
            </a:r>
          </a:p>
          <a:p>
            <a:pPr marL="0" indent="0">
              <a:buNone/>
            </a:pPr>
            <a:r>
              <a:rPr lang="en-US" dirty="0"/>
              <a:t>e.g. </a:t>
            </a:r>
          </a:p>
          <a:p>
            <a:pPr marL="548640" lvl="3" indent="0">
              <a:buNone/>
            </a:pPr>
            <a:r>
              <a:rPr lang="en-US" dirty="0"/>
              <a:t>NotifConsESVa.txt</a:t>
            </a:r>
          </a:p>
          <a:p>
            <a:pPr marL="548640" lvl="3" indent="0">
              <a:buNone/>
            </a:pPr>
            <a:r>
              <a:rPr lang="en-US" dirty="0"/>
              <a:t>NotifConsESVb.txt</a:t>
            </a:r>
          </a:p>
          <a:p>
            <a:pPr marL="0" indent="0">
              <a:buNone/>
            </a:pPr>
            <a:r>
              <a:rPr lang="en-US" dirty="0"/>
              <a:t>…and copy to </a:t>
            </a:r>
            <a:r>
              <a:rPr lang="en-US" b="1" dirty="0">
                <a:solidFill>
                  <a:srgbClr val="FF0000"/>
                </a:solidFill>
              </a:rPr>
              <a:t>&lt;</a:t>
            </a:r>
            <a:r>
              <a:rPr lang="en-US" sz="2400" b="1" dirty="0">
                <a:solidFill>
                  <a:srgbClr val="FF0000"/>
                </a:solidFill>
              </a:rPr>
              <a:t>X&gt;:\_</a:t>
            </a:r>
            <a:r>
              <a:rPr lang="en-US" sz="2400" b="1" dirty="0" err="1">
                <a:solidFill>
                  <a:srgbClr val="FF0000"/>
                </a:solidFill>
              </a:rPr>
              <a:t>DynAMo_Data</a:t>
            </a:r>
            <a:r>
              <a:rPr lang="en-US" sz="2400" b="1" dirty="0">
                <a:solidFill>
                  <a:srgbClr val="FF0000"/>
                </a:solidFill>
              </a:rPr>
              <a:t>\ActiveSync\ActiveSyncFileGeneration\SourceFiles</a:t>
            </a:r>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31761062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err="1"/>
              <a:t>HowTo</a:t>
            </a:r>
            <a:r>
              <a:rPr lang="en-US" dirty="0"/>
              <a:t> new Sync – prepare script</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p:txBody>
          <a:bodyPr/>
          <a:lstStyle/>
          <a:p>
            <a:pPr marL="0" indent="0">
              <a:buNone/>
            </a:pPr>
            <a:r>
              <a:rPr lang="en-US" b="1" u="sng" dirty="0"/>
              <a:t>2. Edit new ActiveSync script:</a:t>
            </a:r>
          </a:p>
          <a:p>
            <a:pPr marL="0" indent="0">
              <a:buNone/>
            </a:pPr>
            <a:r>
              <a:rPr lang="en-US" dirty="0"/>
              <a:t>Add this section to VBS script for every channel:</a:t>
            </a:r>
          </a:p>
          <a:p>
            <a:pPr marL="0" indent="0">
              <a:buNone/>
            </a:pPr>
            <a:r>
              <a:rPr lang="en-US" sz="1400" dirty="0"/>
              <a:t>	</a:t>
            </a:r>
          </a:p>
          <a:p>
            <a:pPr marL="0" indent="0">
              <a:buNone/>
            </a:pPr>
            <a:endParaRPr lang="en-US" sz="1400" dirty="0"/>
          </a:p>
          <a:p>
            <a:pPr marL="182880" lvl="1" indent="0">
              <a:buNone/>
            </a:pPr>
            <a:r>
              <a:rPr lang="en-US" sz="1400" dirty="0" err="1"/>
              <a:t>g_ChannelName</a:t>
            </a:r>
            <a:r>
              <a:rPr lang="en-US" sz="1400" dirty="0"/>
              <a:t>="ESVT4"				</a:t>
            </a:r>
          </a:p>
          <a:p>
            <a:pPr marL="0" indent="0">
              <a:buNone/>
            </a:pPr>
            <a:r>
              <a:rPr lang="en-US" sz="1400" dirty="0"/>
              <a:t>	</a:t>
            </a:r>
            <a:r>
              <a:rPr lang="en-US" sz="1400" dirty="0" err="1"/>
              <a:t>g_ServerNames</a:t>
            </a:r>
            <a:r>
              <a:rPr lang="en-US" sz="1400" dirty="0"/>
              <a:t>=Array("localhost",“PKSSERVER1")				</a:t>
            </a:r>
          </a:p>
          <a:p>
            <a:pPr marL="0" indent="0">
              <a:buNone/>
            </a:pPr>
            <a:r>
              <a:rPr lang="en-US" sz="1400" dirty="0"/>
              <a:t>	</a:t>
            </a:r>
            <a:r>
              <a:rPr lang="en-US" sz="1400" dirty="0" err="1"/>
              <a:t>g_AlmDmpPrefixes</a:t>
            </a:r>
            <a:r>
              <a:rPr lang="en-US" sz="1400" dirty="0"/>
              <a:t>=Array("L4EST47","L4ACTSY","L4SEQSY") </a:t>
            </a:r>
          </a:p>
          <a:p>
            <a:pPr marL="0" indent="0">
              <a:buNone/>
            </a:pPr>
            <a:r>
              <a:rPr lang="en-US" sz="1400" dirty="0"/>
              <a:t>	call </a:t>
            </a:r>
            <a:r>
              <a:rPr lang="en-US" sz="1400" dirty="0" err="1"/>
              <a:t>ProcessOneChannel</a:t>
            </a:r>
            <a:r>
              <a:rPr lang="en-US" sz="1400" dirty="0"/>
              <a:t>()</a:t>
            </a:r>
          </a:p>
          <a:p>
            <a:pPr marL="0" indent="0">
              <a:buNone/>
            </a:pPr>
            <a:endParaRPr lang="en-US" sz="1400" dirty="0"/>
          </a:p>
          <a:p>
            <a:pPr marL="0" indent="0">
              <a:buNone/>
            </a:pPr>
            <a:endParaRPr lang="en-US" dirty="0"/>
          </a:p>
        </p:txBody>
      </p:sp>
      <p:pic>
        <p:nvPicPr>
          <p:cNvPr id="15" name="Picture 14">
            <a:extLst>
              <a:ext uri="{FF2B5EF4-FFF2-40B4-BE49-F238E27FC236}">
                <a16:creationId xmlns:a16="http://schemas.microsoft.com/office/drawing/2014/main" id="{271327C4-ABDD-4795-8497-8972C59669FD}"/>
              </a:ext>
            </a:extLst>
          </p:cNvPr>
          <p:cNvPicPr>
            <a:picLocks noChangeAspect="1"/>
          </p:cNvPicPr>
          <p:nvPr/>
        </p:nvPicPr>
        <p:blipFill>
          <a:blip r:embed="rId2"/>
          <a:stretch>
            <a:fillRect/>
          </a:stretch>
        </p:blipFill>
        <p:spPr>
          <a:xfrm>
            <a:off x="6858000" y="2396882"/>
            <a:ext cx="1647020" cy="1596497"/>
          </a:xfrm>
          <a:prstGeom prst="rect">
            <a:avLst/>
          </a:prstGeom>
          <a:ln w="22225">
            <a:solidFill>
              <a:schemeClr val="tx2"/>
            </a:solidFill>
          </a:ln>
        </p:spPr>
      </p:pic>
      <p:cxnSp>
        <p:nvCxnSpPr>
          <p:cNvPr id="17" name="Straight Arrow Connector 16">
            <a:extLst>
              <a:ext uri="{FF2B5EF4-FFF2-40B4-BE49-F238E27FC236}">
                <a16:creationId xmlns:a16="http://schemas.microsoft.com/office/drawing/2014/main" id="{694D1855-02D7-4DF8-8473-B4042FA50C2D}"/>
              </a:ext>
            </a:extLst>
          </p:cNvPr>
          <p:cNvCxnSpPr>
            <a:cxnSpLocks/>
          </p:cNvCxnSpPr>
          <p:nvPr/>
        </p:nvCxnSpPr>
        <p:spPr>
          <a:xfrm flipH="1">
            <a:off x="5215564" y="2819400"/>
            <a:ext cx="1566236" cy="152400"/>
          </a:xfrm>
          <a:prstGeom prst="straightConnector1">
            <a:avLst/>
          </a:prstGeom>
          <a:ln w="412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D54D03-CA49-447F-AFFF-2407694C4043}"/>
              </a:ext>
            </a:extLst>
          </p:cNvPr>
          <p:cNvSpPr txBox="1"/>
          <p:nvPr/>
        </p:nvSpPr>
        <p:spPr>
          <a:xfrm>
            <a:off x="5439394" y="2423357"/>
            <a:ext cx="1380506" cy="461665"/>
          </a:xfrm>
          <a:prstGeom prst="rect">
            <a:avLst/>
          </a:prstGeom>
          <a:noFill/>
        </p:spPr>
        <p:txBody>
          <a:bodyPr wrap="none" rtlCol="0">
            <a:spAutoFit/>
          </a:bodyPr>
          <a:lstStyle/>
          <a:p>
            <a:r>
              <a:rPr lang="en-US" dirty="0" err="1">
                <a:solidFill>
                  <a:srgbClr val="FF0000"/>
                </a:solidFill>
              </a:rPr>
              <a:t>Notifdmp</a:t>
            </a:r>
            <a:endParaRPr lang="en-US" dirty="0">
              <a:solidFill>
                <a:srgbClr val="FF0000"/>
              </a:solidFill>
            </a:endParaRPr>
          </a:p>
        </p:txBody>
      </p:sp>
      <p:cxnSp>
        <p:nvCxnSpPr>
          <p:cNvPr id="21" name="Straight Arrow Connector 20">
            <a:extLst>
              <a:ext uri="{FF2B5EF4-FFF2-40B4-BE49-F238E27FC236}">
                <a16:creationId xmlns:a16="http://schemas.microsoft.com/office/drawing/2014/main" id="{48B7AB19-0838-4400-B874-8F77E5FEB849}"/>
              </a:ext>
            </a:extLst>
          </p:cNvPr>
          <p:cNvCxnSpPr>
            <a:cxnSpLocks/>
          </p:cNvCxnSpPr>
          <p:nvPr/>
        </p:nvCxnSpPr>
        <p:spPr>
          <a:xfrm flipH="1" flipV="1">
            <a:off x="4800600" y="3332172"/>
            <a:ext cx="838200" cy="1011228"/>
          </a:xfrm>
          <a:prstGeom prst="straightConnector1">
            <a:avLst/>
          </a:prstGeom>
          <a:ln w="412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64C810F-4D03-4358-B31F-001EFE4612A4}"/>
              </a:ext>
            </a:extLst>
          </p:cNvPr>
          <p:cNvSpPr txBox="1"/>
          <p:nvPr/>
        </p:nvSpPr>
        <p:spPr>
          <a:xfrm>
            <a:off x="5215564" y="3525828"/>
            <a:ext cx="782587" cy="461665"/>
          </a:xfrm>
          <a:prstGeom prst="rect">
            <a:avLst/>
          </a:prstGeom>
          <a:noFill/>
        </p:spPr>
        <p:txBody>
          <a:bodyPr wrap="none" rtlCol="0">
            <a:spAutoFit/>
          </a:bodyPr>
          <a:lstStyle/>
          <a:p>
            <a:r>
              <a:rPr lang="en-US" dirty="0">
                <a:solidFill>
                  <a:srgbClr val="FF0000"/>
                </a:solidFill>
              </a:rPr>
              <a:t>Files</a:t>
            </a:r>
          </a:p>
        </p:txBody>
      </p:sp>
      <p:pic>
        <p:nvPicPr>
          <p:cNvPr id="25" name="Picture 24">
            <a:extLst>
              <a:ext uri="{FF2B5EF4-FFF2-40B4-BE49-F238E27FC236}">
                <a16:creationId xmlns:a16="http://schemas.microsoft.com/office/drawing/2014/main" id="{0A0C320B-2F8A-4030-BF69-E3BA0D931304}"/>
              </a:ext>
            </a:extLst>
          </p:cNvPr>
          <p:cNvPicPr>
            <a:picLocks noChangeAspect="1"/>
          </p:cNvPicPr>
          <p:nvPr/>
        </p:nvPicPr>
        <p:blipFill>
          <a:blip r:embed="rId3"/>
          <a:stretch>
            <a:fillRect/>
          </a:stretch>
        </p:blipFill>
        <p:spPr>
          <a:xfrm>
            <a:off x="5768249" y="4242140"/>
            <a:ext cx="1647021" cy="990600"/>
          </a:xfrm>
          <a:prstGeom prst="rect">
            <a:avLst/>
          </a:prstGeom>
          <a:ln w="22225">
            <a:solidFill>
              <a:schemeClr val="tx2"/>
            </a:solidFill>
          </a:ln>
        </p:spPr>
      </p:pic>
    </p:spTree>
    <p:extLst>
      <p:ext uri="{BB962C8B-B14F-4D97-AF65-F5344CB8AC3E}">
        <p14:creationId xmlns:p14="http://schemas.microsoft.com/office/powerpoint/2010/main" val="34694754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err="1"/>
              <a:t>HowTo</a:t>
            </a:r>
            <a:r>
              <a:rPr lang="en-US" dirty="0"/>
              <a:t> new Sync – prepare PPS script</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304800" y="815340"/>
            <a:ext cx="8085560" cy="5814060"/>
          </a:xfrm>
        </p:spPr>
        <p:txBody>
          <a:bodyPr/>
          <a:lstStyle/>
          <a:p>
            <a:pPr marL="0" indent="0">
              <a:buNone/>
            </a:pPr>
            <a:r>
              <a:rPr lang="en-US" b="1" u="sng" dirty="0"/>
              <a:t>3. Edit PPS script (for </a:t>
            </a:r>
            <a:r>
              <a:rPr lang="en-US" b="1" u="sng" dirty="0" err="1"/>
              <a:t>DynAMo</a:t>
            </a:r>
            <a:r>
              <a:rPr lang="en-US" b="1" u="sng" dirty="0"/>
              <a:t> utility):</a:t>
            </a:r>
          </a:p>
          <a:p>
            <a:pPr marL="0" indent="0">
              <a:buNone/>
            </a:pPr>
            <a:r>
              <a:rPr lang="en-US" sz="2400" dirty="0"/>
              <a:t>Make sure correct mapping\logic for</a:t>
            </a:r>
          </a:p>
          <a:p>
            <a:pPr marL="514350" indent="-514350">
              <a:buFont typeface="+mj-lt"/>
              <a:buAutoNum type="arabicPeriod"/>
            </a:pPr>
            <a:r>
              <a:rPr lang="en-US" sz="2400" dirty="0"/>
              <a:t>Priorities (sample script at the bottom of </a:t>
            </a:r>
            <a:r>
              <a:rPr lang="en-US" sz="2400" dirty="0" err="1"/>
              <a:t>ActiveSync_GenerateFilesForDynAMo</a:t>
            </a:r>
            <a:r>
              <a:rPr lang="en-US" sz="2400" dirty="0"/>
              <a:t>)</a:t>
            </a:r>
          </a:p>
          <a:p>
            <a:pPr lvl="1">
              <a:buFontTx/>
              <a:buChar char="-"/>
            </a:pPr>
            <a:r>
              <a:rPr lang="en-US" sz="2400" dirty="0"/>
              <a:t>Experion </a:t>
            </a:r>
            <a:r>
              <a:rPr lang="en-US" sz="2400" dirty="0" err="1"/>
              <a:t>notifdmp</a:t>
            </a:r>
            <a:r>
              <a:rPr lang="en-US" sz="2400" dirty="0"/>
              <a:t> returns </a:t>
            </a:r>
            <a:r>
              <a:rPr lang="en-US" sz="2400" b="1" u="sng" dirty="0"/>
              <a:t>U 00 </a:t>
            </a:r>
            <a:r>
              <a:rPr lang="en-US" sz="2400" dirty="0"/>
              <a:t>and not Urgent\400</a:t>
            </a:r>
          </a:p>
          <a:p>
            <a:pPr lvl="1">
              <a:buFontTx/>
              <a:buChar char="-"/>
            </a:pPr>
            <a:r>
              <a:rPr lang="en-US" sz="2400" dirty="0"/>
              <a:t>TPS e.g. returns </a:t>
            </a:r>
            <a:r>
              <a:rPr lang="en-US" sz="2400" b="1" u="sng" dirty="0"/>
              <a:t>LOW</a:t>
            </a:r>
            <a:r>
              <a:rPr lang="en-US" sz="2400" dirty="0"/>
              <a:t> and not Low</a:t>
            </a:r>
          </a:p>
          <a:p>
            <a:pPr lvl="1">
              <a:buFontTx/>
              <a:buChar char="-"/>
            </a:pPr>
            <a:endParaRPr lang="en-US" sz="2400" dirty="0"/>
          </a:p>
          <a:p>
            <a:pPr lvl="1">
              <a:buFontTx/>
              <a:buChar char="-"/>
            </a:pPr>
            <a:endParaRPr lang="en-US" sz="2400" dirty="0"/>
          </a:p>
          <a:p>
            <a:pPr lvl="1">
              <a:buFontTx/>
              <a:buChar char="-"/>
            </a:pPr>
            <a:endParaRPr lang="en-US" sz="2400" dirty="0"/>
          </a:p>
          <a:p>
            <a:pPr lvl="1">
              <a:buFontTx/>
              <a:buChar char="-"/>
            </a:pPr>
            <a:endParaRPr lang="en-US" sz="2400" dirty="0"/>
          </a:p>
          <a:p>
            <a:pPr marL="514350" indent="-514350">
              <a:buFont typeface="+mj-lt"/>
              <a:buAutoNum type="arabicPeriod"/>
            </a:pPr>
            <a:r>
              <a:rPr lang="en-US" sz="2400" dirty="0"/>
              <a:t>Path (but likely you already have this logic implemented)</a:t>
            </a:r>
          </a:p>
          <a:p>
            <a:pPr lvl="1">
              <a:buFontTx/>
              <a:buChar char="-"/>
            </a:pPr>
            <a:r>
              <a:rPr lang="en-US" sz="2400" dirty="0"/>
              <a:t>TPS system has only unit</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7D248770-8C13-4C3E-9310-80E19377BB96}"/>
              </a:ext>
            </a:extLst>
          </p:cNvPr>
          <p:cNvPicPr/>
          <p:nvPr/>
        </p:nvPicPr>
        <p:blipFill>
          <a:blip r:embed="rId3"/>
          <a:stretch>
            <a:fillRect/>
          </a:stretch>
        </p:blipFill>
        <p:spPr>
          <a:xfrm>
            <a:off x="4953000" y="3505200"/>
            <a:ext cx="2800350" cy="1362710"/>
          </a:xfrm>
          <a:prstGeom prst="rect">
            <a:avLst/>
          </a:prstGeom>
          <a:ln w="15875">
            <a:solidFill>
              <a:schemeClr val="tx1"/>
            </a:solidFill>
          </a:ln>
        </p:spPr>
      </p:pic>
    </p:spTree>
    <p:extLst>
      <p:ext uri="{BB962C8B-B14F-4D97-AF65-F5344CB8AC3E}">
        <p14:creationId xmlns:p14="http://schemas.microsoft.com/office/powerpoint/2010/main" val="22874793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err="1"/>
              <a:t>HowTo</a:t>
            </a:r>
            <a:r>
              <a:rPr lang="en-US" dirty="0"/>
              <a:t> new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430212" y="829459"/>
            <a:ext cx="8561388" cy="5265034"/>
          </a:xfrm>
        </p:spPr>
        <p:txBody>
          <a:bodyPr/>
          <a:lstStyle/>
          <a:p>
            <a:pPr marL="0" indent="0">
              <a:buNone/>
            </a:pPr>
            <a:r>
              <a:rPr lang="en-US" b="1" u="sng" dirty="0"/>
              <a:t>3. Schedule New Script 5:05am in Windows Task</a:t>
            </a:r>
          </a:p>
          <a:p>
            <a:pPr marL="0" indent="0">
              <a:buNone/>
            </a:pPr>
            <a:r>
              <a:rPr lang="en-US" dirty="0"/>
              <a:t>Run script in (“Run in” below)</a:t>
            </a:r>
          </a:p>
          <a:p>
            <a:pPr marL="0" indent="0">
              <a:buNone/>
            </a:pPr>
            <a:r>
              <a:rPr lang="en-US" dirty="0"/>
              <a:t>&lt;X&gt;:\_DynAMo_Data\ActiveSync\ActiveSyncGeneration</a:t>
            </a:r>
          </a:p>
          <a:p>
            <a:pPr marL="0" indent="0">
              <a:buNone/>
            </a:pPr>
            <a:r>
              <a:rPr lang="en-US" dirty="0"/>
              <a:t>						</a:t>
            </a:r>
          </a:p>
        </p:txBody>
      </p:sp>
      <p:pic>
        <p:nvPicPr>
          <p:cNvPr id="4" name="Picture 3">
            <a:extLst>
              <a:ext uri="{FF2B5EF4-FFF2-40B4-BE49-F238E27FC236}">
                <a16:creationId xmlns:a16="http://schemas.microsoft.com/office/drawing/2014/main" id="{8F10D019-EA21-4EEC-A2FC-394E3CE31C6F}"/>
              </a:ext>
            </a:extLst>
          </p:cNvPr>
          <p:cNvPicPr>
            <a:picLocks noChangeAspect="1"/>
          </p:cNvPicPr>
          <p:nvPr/>
        </p:nvPicPr>
        <p:blipFill>
          <a:blip r:embed="rId2"/>
          <a:stretch>
            <a:fillRect/>
          </a:stretch>
        </p:blipFill>
        <p:spPr>
          <a:xfrm>
            <a:off x="3962400" y="2310542"/>
            <a:ext cx="3663817" cy="4038600"/>
          </a:xfrm>
          <a:prstGeom prst="rect">
            <a:avLst/>
          </a:prstGeom>
        </p:spPr>
      </p:pic>
      <p:sp>
        <p:nvSpPr>
          <p:cNvPr id="8" name="Rectangle: Rounded Corners 7">
            <a:extLst>
              <a:ext uri="{FF2B5EF4-FFF2-40B4-BE49-F238E27FC236}">
                <a16:creationId xmlns:a16="http://schemas.microsoft.com/office/drawing/2014/main" id="{0534F71E-3CC6-4999-9314-BD4B68E7FD51}"/>
              </a:ext>
            </a:extLst>
          </p:cNvPr>
          <p:cNvSpPr/>
          <p:nvPr/>
        </p:nvSpPr>
        <p:spPr>
          <a:xfrm>
            <a:off x="4102100" y="3581400"/>
            <a:ext cx="2603500" cy="228600"/>
          </a:xfrm>
          <a:prstGeom prst="round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
        <p:nvSpPr>
          <p:cNvPr id="9" name="Rectangle: Rounded Corners 8">
            <a:extLst>
              <a:ext uri="{FF2B5EF4-FFF2-40B4-BE49-F238E27FC236}">
                <a16:creationId xmlns:a16="http://schemas.microsoft.com/office/drawing/2014/main" id="{977F90D9-B878-481C-9CAD-5DF9D5BAAA4B}"/>
              </a:ext>
            </a:extLst>
          </p:cNvPr>
          <p:cNvSpPr/>
          <p:nvPr/>
        </p:nvSpPr>
        <p:spPr>
          <a:xfrm>
            <a:off x="6110288" y="4064649"/>
            <a:ext cx="1433512" cy="228600"/>
          </a:xfrm>
          <a:prstGeom prst="round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Tree>
    <p:extLst>
      <p:ext uri="{BB962C8B-B14F-4D97-AF65-F5344CB8AC3E}">
        <p14:creationId xmlns:p14="http://schemas.microsoft.com/office/powerpoint/2010/main" val="39048089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err="1"/>
              <a:t>HowTo</a:t>
            </a:r>
            <a:r>
              <a:rPr lang="en-US" dirty="0"/>
              <a:t> new Sync?</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p:txBody>
          <a:bodyPr/>
          <a:lstStyle/>
          <a:p>
            <a:pPr marL="0" indent="0">
              <a:buNone/>
            </a:pPr>
            <a:r>
              <a:rPr lang="en-US" b="1" u="sng" dirty="0"/>
              <a:t>4. Schedule Active Sync 5:15am</a:t>
            </a:r>
          </a:p>
          <a:p>
            <a:pPr marL="0" indent="0">
              <a:buNone/>
            </a:pPr>
            <a:r>
              <a:rPr lang="en-US" dirty="0"/>
              <a:t>Schedule Active Sync channel</a:t>
            </a:r>
          </a:p>
          <a:p>
            <a:pPr marL="0" indent="0">
              <a:buNone/>
            </a:pPr>
            <a:endParaRPr lang="en-US" dirty="0"/>
          </a:p>
          <a:p>
            <a:pPr marL="0" indent="0">
              <a:buNone/>
            </a:pPr>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3" name="Picture 2">
            <a:extLst>
              <a:ext uri="{FF2B5EF4-FFF2-40B4-BE49-F238E27FC236}">
                <a16:creationId xmlns:a16="http://schemas.microsoft.com/office/drawing/2014/main" id="{F70CA8E3-601C-49FE-856C-FE6EEDEAEA8B}"/>
              </a:ext>
            </a:extLst>
          </p:cNvPr>
          <p:cNvPicPr>
            <a:picLocks noChangeAspect="1"/>
          </p:cNvPicPr>
          <p:nvPr/>
        </p:nvPicPr>
        <p:blipFill>
          <a:blip r:embed="rId2"/>
          <a:stretch>
            <a:fillRect/>
          </a:stretch>
        </p:blipFill>
        <p:spPr>
          <a:xfrm>
            <a:off x="609600" y="2064902"/>
            <a:ext cx="4290432" cy="2728196"/>
          </a:xfrm>
          <a:prstGeom prst="rect">
            <a:avLst/>
          </a:prstGeom>
        </p:spPr>
      </p:pic>
      <p:sp>
        <p:nvSpPr>
          <p:cNvPr id="13" name="Rectangle: Rounded Corners 12">
            <a:extLst>
              <a:ext uri="{FF2B5EF4-FFF2-40B4-BE49-F238E27FC236}">
                <a16:creationId xmlns:a16="http://schemas.microsoft.com/office/drawing/2014/main" id="{EC313C1D-7E60-411C-9026-CFD64550964D}"/>
              </a:ext>
            </a:extLst>
          </p:cNvPr>
          <p:cNvSpPr/>
          <p:nvPr/>
        </p:nvSpPr>
        <p:spPr>
          <a:xfrm>
            <a:off x="1230816" y="2667000"/>
            <a:ext cx="2057400" cy="381000"/>
          </a:xfrm>
          <a:prstGeom prst="round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
        <p:nvSpPr>
          <p:cNvPr id="14" name="Rectangle: Rounded Corners 13">
            <a:extLst>
              <a:ext uri="{FF2B5EF4-FFF2-40B4-BE49-F238E27FC236}">
                <a16:creationId xmlns:a16="http://schemas.microsoft.com/office/drawing/2014/main" id="{D1F79167-2569-492F-A7F3-6A0535DAD419}"/>
              </a:ext>
            </a:extLst>
          </p:cNvPr>
          <p:cNvSpPr/>
          <p:nvPr/>
        </p:nvSpPr>
        <p:spPr>
          <a:xfrm>
            <a:off x="2526216" y="4084202"/>
            <a:ext cx="2057400" cy="381000"/>
          </a:xfrm>
          <a:prstGeom prst="round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grpSp>
        <p:nvGrpSpPr>
          <p:cNvPr id="8" name="Group 7">
            <a:extLst>
              <a:ext uri="{FF2B5EF4-FFF2-40B4-BE49-F238E27FC236}">
                <a16:creationId xmlns:a16="http://schemas.microsoft.com/office/drawing/2014/main" id="{B32A2C2B-20EC-4B18-BB27-FCC2C33031A8}"/>
              </a:ext>
            </a:extLst>
          </p:cNvPr>
          <p:cNvGrpSpPr/>
          <p:nvPr/>
        </p:nvGrpSpPr>
        <p:grpSpPr>
          <a:xfrm rot="630025">
            <a:off x="5405606" y="2337481"/>
            <a:ext cx="3347993" cy="2919562"/>
            <a:chOff x="2453686" y="3915730"/>
            <a:chExt cx="2290741" cy="1466371"/>
          </a:xfrm>
        </p:grpSpPr>
        <p:grpSp>
          <p:nvGrpSpPr>
            <p:cNvPr id="9" name="Group 8">
              <a:extLst>
                <a:ext uri="{FF2B5EF4-FFF2-40B4-BE49-F238E27FC236}">
                  <a16:creationId xmlns:a16="http://schemas.microsoft.com/office/drawing/2014/main" id="{4FD235D2-AB40-4990-A6FC-AA1C77A9CC13}"/>
                </a:ext>
              </a:extLst>
            </p:cNvPr>
            <p:cNvGrpSpPr/>
            <p:nvPr/>
          </p:nvGrpSpPr>
          <p:grpSpPr>
            <a:xfrm rot="274214">
              <a:off x="2453686" y="3915730"/>
              <a:ext cx="2290741" cy="1466371"/>
              <a:chOff x="4636671" y="2286000"/>
              <a:chExt cx="2830683" cy="2895601"/>
            </a:xfrm>
          </p:grpSpPr>
          <p:grpSp>
            <p:nvGrpSpPr>
              <p:cNvPr id="11" name="Group 10">
                <a:extLst>
                  <a:ext uri="{FF2B5EF4-FFF2-40B4-BE49-F238E27FC236}">
                    <a16:creationId xmlns:a16="http://schemas.microsoft.com/office/drawing/2014/main" id="{08A99EE4-6CB5-4D59-B05C-68B7991D1050}"/>
                  </a:ext>
                </a:extLst>
              </p:cNvPr>
              <p:cNvGrpSpPr/>
              <p:nvPr/>
            </p:nvGrpSpPr>
            <p:grpSpPr>
              <a:xfrm>
                <a:off x="4636671" y="2286000"/>
                <a:ext cx="2743201" cy="2895601"/>
                <a:chOff x="4636671" y="2286000"/>
                <a:chExt cx="2743201" cy="2895601"/>
              </a:xfrm>
            </p:grpSpPr>
            <p:pic>
              <p:nvPicPr>
                <p:cNvPr id="15" name="Picture 2">
                  <a:extLst>
                    <a:ext uri="{FF2B5EF4-FFF2-40B4-BE49-F238E27FC236}">
                      <a16:creationId xmlns:a16="http://schemas.microsoft.com/office/drawing/2014/main" id="{C80B7A37-72D0-4F85-861B-3C70D0CC502C}"/>
                    </a:ext>
                  </a:extLst>
                </p:cNvPr>
                <p:cNvPicPr>
                  <a:picLocks noChangeAspect="1" noChangeArrowheads="1"/>
                </p:cNvPicPr>
                <p:nvPr/>
              </p:nvPicPr>
              <p:blipFill>
                <a:blip r:embed="rId3" cstate="print"/>
                <a:srcRect/>
                <a:stretch>
                  <a:fillRect/>
                </a:stretch>
              </p:blipFill>
              <p:spPr bwMode="auto">
                <a:xfrm>
                  <a:off x="4636671" y="2414589"/>
                  <a:ext cx="2743201" cy="2767012"/>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6" name="Oval 15">
                  <a:extLst>
                    <a:ext uri="{FF2B5EF4-FFF2-40B4-BE49-F238E27FC236}">
                      <a16:creationId xmlns:a16="http://schemas.microsoft.com/office/drawing/2014/main" id="{FD5C4BFD-D7A7-4D9C-96E0-2F1C298B03C7}"/>
                    </a:ext>
                  </a:extLst>
                </p:cNvPr>
                <p:cNvSpPr/>
                <p:nvPr/>
              </p:nvSpPr>
              <p:spPr>
                <a:xfrm>
                  <a:off x="5627270" y="2286000"/>
                  <a:ext cx="228600" cy="228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ZoneTexte 30">
                <a:extLst>
                  <a:ext uri="{FF2B5EF4-FFF2-40B4-BE49-F238E27FC236}">
                    <a16:creationId xmlns:a16="http://schemas.microsoft.com/office/drawing/2014/main" id="{EA3CE3CB-2039-438A-8CEF-A0E0F54730F3}"/>
                  </a:ext>
                </a:extLst>
              </p:cNvPr>
              <p:cNvSpPr txBox="1"/>
              <p:nvPr/>
            </p:nvSpPr>
            <p:spPr>
              <a:xfrm rot="21177897">
                <a:off x="4679086" y="2655912"/>
                <a:ext cx="2788268" cy="2228330"/>
              </a:xfrm>
              <a:prstGeom prst="rect">
                <a:avLst/>
              </a:prstGeom>
              <a:noFill/>
            </p:spPr>
            <p:txBody>
              <a:bodyPr wrap="square" rtlCol="0">
                <a:spAutoFit/>
              </a:bodyPr>
              <a:lstStyle>
                <a:defPPr>
                  <a:defRPr lang="fr-FR"/>
                </a:defPPr>
                <a:lvl1pPr algn="ctr">
                  <a:defRPr sz="3600">
                    <a:latin typeface="Lucida Handwriting" pitchFamily="66" charset="0"/>
                  </a:defRPr>
                </a:lvl1pPr>
              </a:lstStyle>
              <a:p>
                <a:pPr algn="l"/>
                <a:r>
                  <a:rPr lang="en-US" sz="2000" b="1" dirty="0">
                    <a:solidFill>
                      <a:srgbClr val="2C2FD4"/>
                    </a:solidFill>
                    <a:latin typeface="Arial" panose="020B0604020202020204" pitchFamily="34" charset="0"/>
                    <a:cs typeface="Arial" panose="020B0604020202020204" pitchFamily="34" charset="0"/>
                  </a:rPr>
                  <a:t>Before you enable the channel give ACT file to the customer to review: </a:t>
                </a:r>
              </a:p>
              <a:p>
                <a:pPr marL="342900" indent="-342900" algn="l">
                  <a:buFontTx/>
                  <a:buChar char="-"/>
                </a:pPr>
                <a:r>
                  <a:rPr lang="en-US" sz="2000" b="1" dirty="0">
                    <a:solidFill>
                      <a:srgbClr val="2C2FD4"/>
                    </a:solidFill>
                    <a:latin typeface="Arial" panose="020B0604020202020204" pitchFamily="34" charset="0"/>
                    <a:cs typeface="Arial" panose="020B0604020202020204" pitchFamily="34" charset="0"/>
                  </a:rPr>
                  <a:t>Do we have all alarms?</a:t>
                </a:r>
              </a:p>
              <a:p>
                <a:pPr marL="342900" indent="-342900" algn="l">
                  <a:buFontTx/>
                  <a:buChar char="-"/>
                </a:pPr>
                <a:r>
                  <a:rPr lang="en-US" sz="2000" b="1" dirty="0">
                    <a:solidFill>
                      <a:srgbClr val="2C2FD4"/>
                    </a:solidFill>
                    <a:latin typeface="Arial" panose="020B0604020202020204" pitchFamily="34" charset="0"/>
                    <a:cs typeface="Arial" panose="020B0604020202020204" pitchFamily="34" charset="0"/>
                  </a:rPr>
                  <a:t>Are DSA alarms properly excluded?</a:t>
                </a:r>
              </a:p>
            </p:txBody>
          </p:sp>
        </p:grpSp>
        <p:pic>
          <p:nvPicPr>
            <p:cNvPr id="10" name="Picture 4" descr="C:\Users\e154578\AppData\Local\Temp\SNAGHTML265367b.PNG">
              <a:extLst>
                <a:ext uri="{FF2B5EF4-FFF2-40B4-BE49-F238E27FC236}">
                  <a16:creationId xmlns:a16="http://schemas.microsoft.com/office/drawing/2014/main" id="{0F94F631-E58D-4F92-AB85-A151573CF2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5465" y="4572492"/>
              <a:ext cx="288988" cy="28898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718081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err="1"/>
              <a:t>HowTo</a:t>
            </a:r>
            <a:r>
              <a:rPr lang="en-US" dirty="0"/>
              <a:t> new Sync (ESVT)?</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p:txBody>
          <a:bodyPr/>
          <a:lstStyle/>
          <a:p>
            <a:pPr marL="0" indent="0">
              <a:buNone/>
            </a:pPr>
            <a:r>
              <a:rPr lang="en-US" b="1" u="sng" dirty="0"/>
              <a:t>5. (ESVT and TPS only)</a:t>
            </a:r>
          </a:p>
          <a:p>
            <a:pPr marL="0" indent="0">
              <a:buNone/>
            </a:pPr>
            <a:r>
              <a:rPr lang="en-US" dirty="0"/>
              <a:t>Only 202 HF6 has 1979 fix. For all others you need to create trigger to replace this with correct timestamp. Already written by Barbara and successfully used at many sites.</a:t>
            </a:r>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5031084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TODOs…Confusions… What is left…</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381000" y="914400"/>
            <a:ext cx="8085560" cy="5227320"/>
          </a:xfrm>
        </p:spPr>
        <p:txBody>
          <a:bodyPr/>
          <a:lstStyle/>
          <a:p>
            <a:pPr marL="0" indent="0">
              <a:buNone/>
            </a:pPr>
            <a:r>
              <a:rPr lang="en-US" sz="1800" b="1" u="sng" dirty="0"/>
              <a:t>General</a:t>
            </a:r>
          </a:p>
          <a:p>
            <a:pPr marL="342900" indent="-342900">
              <a:buFont typeface="+mj-lt"/>
              <a:buAutoNum type="arabicPeriod"/>
            </a:pPr>
            <a:r>
              <a:rPr lang="en-US" sz="1800" dirty="0"/>
              <a:t>What DE will\should fix? </a:t>
            </a:r>
          </a:p>
          <a:p>
            <a:pPr marL="342900" indent="-342900">
              <a:buFont typeface="+mj-lt"/>
              <a:buAutoNum type="arabicPeriod"/>
            </a:pPr>
            <a:r>
              <a:rPr lang="en-US" sz="1800" dirty="0"/>
              <a:t>How far we should go with custom logic?</a:t>
            </a:r>
          </a:p>
          <a:p>
            <a:pPr marL="182880" lvl="1" indent="0">
              <a:buNone/>
            </a:pPr>
            <a:r>
              <a:rPr lang="en-US" sz="1800" dirty="0">
                <a:solidFill>
                  <a:srgbClr val="FF0000"/>
                </a:solidFill>
              </a:rPr>
              <a:t>- Should we sync </a:t>
            </a:r>
            <a:r>
              <a:rPr lang="en-US" sz="1800" b="1" u="sng" dirty="0">
                <a:solidFill>
                  <a:srgbClr val="FF0000"/>
                </a:solidFill>
              </a:rPr>
              <a:t>shelving</a:t>
            </a:r>
            <a:r>
              <a:rPr lang="en-US" sz="1800" dirty="0">
                <a:solidFill>
                  <a:srgbClr val="FF0000"/>
                </a:solidFill>
              </a:rPr>
              <a:t>? Should we fix other </a:t>
            </a:r>
            <a:r>
              <a:rPr lang="en-US" sz="1800" dirty="0" err="1">
                <a:solidFill>
                  <a:srgbClr val="FF0000"/>
                </a:solidFill>
              </a:rPr>
              <a:t>DynAMo</a:t>
            </a:r>
            <a:r>
              <a:rPr lang="en-US" sz="1800" dirty="0">
                <a:solidFill>
                  <a:srgbClr val="FF0000"/>
                </a:solidFill>
              </a:rPr>
              <a:t> limitations?)</a:t>
            </a:r>
          </a:p>
          <a:p>
            <a:pPr marL="182880" lvl="1" indent="0">
              <a:buNone/>
            </a:pPr>
            <a:r>
              <a:rPr lang="en-US" sz="1800" dirty="0">
                <a:solidFill>
                  <a:srgbClr val="FF0000"/>
                </a:solidFill>
              </a:rPr>
              <a:t>We have to!</a:t>
            </a:r>
          </a:p>
          <a:p>
            <a:pPr marL="182880" lvl="1" indent="0">
              <a:buNone/>
            </a:pPr>
            <a:r>
              <a:rPr lang="en-US" sz="1800" dirty="0">
                <a:solidFill>
                  <a:srgbClr val="FF0000"/>
                </a:solidFill>
              </a:rPr>
              <a:t>- Should we prepare “System Report”</a:t>
            </a:r>
          </a:p>
          <a:p>
            <a:pPr marL="182880" lvl="1" indent="0">
              <a:buNone/>
            </a:pPr>
            <a:r>
              <a:rPr lang="en-US" sz="1800" dirty="0">
                <a:solidFill>
                  <a:srgbClr val="FF0000"/>
                </a:solidFill>
              </a:rPr>
              <a:t>- Priority… enhance for severity</a:t>
            </a:r>
          </a:p>
          <a:p>
            <a:pPr marL="0" indent="0">
              <a:buNone/>
            </a:pPr>
            <a:r>
              <a:rPr lang="en-US" sz="1800" b="1" u="sng" dirty="0"/>
              <a:t>TPS</a:t>
            </a:r>
          </a:p>
          <a:p>
            <a:pPr marL="342900" indent="-342900">
              <a:buFont typeface="+mj-lt"/>
              <a:buAutoNum type="arabicPeriod"/>
            </a:pPr>
            <a:r>
              <a:rPr lang="en-US" sz="1800" dirty="0"/>
              <a:t>Should we include sequence alarms? (&lt;1% in LAR, none in Paulsboro).</a:t>
            </a:r>
          </a:p>
          <a:p>
            <a:pPr marL="0" indent="0">
              <a:buNone/>
            </a:pPr>
            <a:r>
              <a:rPr lang="en-US" sz="1800" dirty="0"/>
              <a:t>NO</a:t>
            </a:r>
          </a:p>
          <a:p>
            <a:pPr marL="0" indent="0">
              <a:buNone/>
            </a:pPr>
            <a:r>
              <a:rPr lang="en-US" sz="1800" dirty="0"/>
              <a:t>4. Adjust identifiers if needed (already adjusted for most important)</a:t>
            </a:r>
          </a:p>
          <a:p>
            <a:pPr marL="0" indent="0">
              <a:buNone/>
            </a:pPr>
            <a:r>
              <a:rPr lang="en-US" sz="1800" b="1" u="sng" dirty="0"/>
              <a:t>Suppressed Sync</a:t>
            </a:r>
          </a:p>
          <a:p>
            <a:pPr marL="0" indent="0">
              <a:buNone/>
            </a:pPr>
            <a:r>
              <a:rPr lang="en-US" sz="1800" dirty="0"/>
              <a:t>Should we switch to file sync from OPC Sync? I know how to do this for TPS system, still did not figure out Experion (if I only can get few short answers…)</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						</a:t>
            </a:r>
          </a:p>
        </p:txBody>
      </p:sp>
    </p:spTree>
    <p:extLst>
      <p:ext uri="{BB962C8B-B14F-4D97-AF65-F5344CB8AC3E}">
        <p14:creationId xmlns:p14="http://schemas.microsoft.com/office/powerpoint/2010/main" val="27897797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A74A7-765C-471F-BE26-885FA6DE1FE7}"/>
              </a:ext>
            </a:extLst>
          </p:cNvPr>
          <p:cNvSpPr>
            <a:spLocks noGrp="1"/>
          </p:cNvSpPr>
          <p:nvPr>
            <p:ph type="title"/>
          </p:nvPr>
        </p:nvSpPr>
        <p:spPr>
          <a:xfrm>
            <a:off x="534924" y="76200"/>
            <a:ext cx="7986568" cy="498610"/>
          </a:xfrm>
        </p:spPr>
        <p:txBody>
          <a:bodyPr/>
          <a:lstStyle/>
          <a:p>
            <a:r>
              <a:rPr lang="en-US" dirty="0"/>
              <a:t>GOAL</a:t>
            </a:r>
          </a:p>
        </p:txBody>
      </p:sp>
      <p:sp>
        <p:nvSpPr>
          <p:cNvPr id="7" name="Content Placeholder 6">
            <a:extLst>
              <a:ext uri="{FF2B5EF4-FFF2-40B4-BE49-F238E27FC236}">
                <a16:creationId xmlns:a16="http://schemas.microsoft.com/office/drawing/2014/main" id="{76A5BA0C-0EDF-4A31-A712-3B39BE912D62}"/>
              </a:ext>
            </a:extLst>
          </p:cNvPr>
          <p:cNvSpPr>
            <a:spLocks noGrp="1"/>
          </p:cNvSpPr>
          <p:nvPr>
            <p:ph sz="quarter" idx="12"/>
          </p:nvPr>
        </p:nvSpPr>
        <p:spPr>
          <a:xfrm>
            <a:off x="381000" y="914400"/>
            <a:ext cx="8085560" cy="5227320"/>
          </a:xfrm>
        </p:spPr>
        <p:txBody>
          <a:bodyPr/>
          <a:lstStyle/>
          <a:p>
            <a:pPr marL="0" indent="0">
              <a:buNone/>
            </a:pPr>
            <a:r>
              <a:rPr lang="en-US" sz="1800" b="1" u="sng" dirty="0"/>
              <a:t>Perfect sync!</a:t>
            </a:r>
          </a:p>
          <a:p>
            <a:pPr marL="0" indent="0">
              <a:buNone/>
            </a:pPr>
            <a:r>
              <a:rPr lang="en-US" sz="1800" dirty="0"/>
              <a:t>Advanced Active Sync will eliminate the need for manual “close alarm”.</a:t>
            </a:r>
          </a:p>
          <a:p>
            <a:pPr marL="0" indent="0">
              <a:buNone/>
            </a:pPr>
            <a:endParaRPr lang="en-US" sz="1800" dirty="0"/>
          </a:p>
          <a:p>
            <a:pPr marL="0" indent="0">
              <a:buNone/>
            </a:pPr>
            <a:r>
              <a:rPr lang="en-US" sz="1800" dirty="0"/>
              <a:t>Unfortunately manual </a:t>
            </a:r>
            <a:r>
              <a:rPr lang="en-US" sz="1800" dirty="0" err="1"/>
              <a:t>unshelve</a:t>
            </a:r>
            <a:r>
              <a:rPr lang="en-US" sz="1800" dirty="0"/>
              <a:t> and </a:t>
            </a:r>
            <a:r>
              <a:rPr lang="en-US" sz="1800" dirty="0" err="1"/>
              <a:t>unsuppress</a:t>
            </a:r>
            <a:r>
              <a:rPr lang="en-US" sz="1800" dirty="0"/>
              <a:t> is still required (and some suppression activities are wrong)….</a:t>
            </a:r>
          </a:p>
          <a:p>
            <a:pPr marL="0" indent="0">
              <a:buNone/>
            </a:pPr>
            <a:endParaRPr lang="en-US" sz="1800" dirty="0"/>
          </a:p>
          <a:p>
            <a:pPr marL="0" indent="0">
              <a:buNone/>
            </a:pPr>
            <a:r>
              <a:rPr lang="en-US" sz="1800" dirty="0"/>
              <a:t>Perfect collection is very long goal and we should not concentrate on this (it requires Experion fixes)</a:t>
            </a:r>
          </a:p>
          <a:p>
            <a:pPr marL="0" indent="0">
              <a:buNone/>
            </a:pPr>
            <a:endParaRPr lang="en-US" sz="1800" dirty="0"/>
          </a:p>
          <a:p>
            <a:pPr marL="0" indent="0">
              <a:buNone/>
            </a:pPr>
            <a:endParaRPr lang="en-US" sz="1800" dirty="0"/>
          </a:p>
          <a:p>
            <a:pPr marL="0" indent="0">
              <a:buNone/>
            </a:pPr>
            <a:r>
              <a:rPr lang="en-US" sz="1800" dirty="0"/>
              <a:t>						</a:t>
            </a:r>
          </a:p>
        </p:txBody>
      </p:sp>
    </p:spTree>
    <p:extLst>
      <p:ext uri="{BB962C8B-B14F-4D97-AF65-F5344CB8AC3E}">
        <p14:creationId xmlns:p14="http://schemas.microsoft.com/office/powerpoint/2010/main" val="9183671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rrowheads="1"/>
          </p:cNvPicPr>
          <p:nvPr/>
        </p:nvPicPr>
        <p:blipFill>
          <a:blip r:embed="rId3" cstate="print"/>
          <a:srcRect/>
          <a:stretch>
            <a:fillRect/>
          </a:stretch>
        </p:blipFill>
        <p:spPr bwMode="auto">
          <a:xfrm>
            <a:off x="1755775" y="1571625"/>
            <a:ext cx="5619750" cy="1057275"/>
          </a:xfrm>
          <a:prstGeom prst="rect">
            <a:avLst/>
          </a:prstGeom>
          <a:noFill/>
          <a:ln w="9525">
            <a:noFill/>
            <a:miter lim="800000"/>
            <a:headEnd/>
            <a:tailEnd/>
          </a:ln>
        </p:spPr>
      </p:pic>
      <p:sp>
        <p:nvSpPr>
          <p:cNvPr id="33795" name="Rectangle 3"/>
          <p:cNvSpPr>
            <a:spLocks noChangeArrowheads="1"/>
          </p:cNvSpPr>
          <p:nvPr/>
        </p:nvSpPr>
        <p:spPr bwMode="auto">
          <a:xfrm>
            <a:off x="2947988" y="3314700"/>
            <a:ext cx="3241675" cy="454025"/>
          </a:xfrm>
          <a:prstGeom prst="rect">
            <a:avLst/>
          </a:prstGeom>
          <a:noFill/>
          <a:ln w="9525">
            <a:noFill/>
            <a:miter lim="800000"/>
            <a:headEnd/>
            <a:tailEnd/>
          </a:ln>
        </p:spPr>
        <p:txBody>
          <a:bodyPr wrap="none" lIns="90488" tIns="44450" rIns="90488" bIns="44450" anchor="ctr">
            <a:spAutoFit/>
          </a:bodyPr>
          <a:lstStyle/>
          <a:p>
            <a:pPr algn="r" eaLnBrk="0" hangingPunct="0"/>
            <a:r>
              <a:rPr lang="en-US" dirty="0">
                <a:latin typeface="Arial" charset="0"/>
              </a:rPr>
              <a:t> </a:t>
            </a:r>
            <a:r>
              <a:rPr lang="en-US" b="1" dirty="0">
                <a:latin typeface="Arial" charset="0"/>
              </a:rPr>
              <a:t>www.honeywell.com</a:t>
            </a:r>
          </a:p>
        </p:txBody>
      </p:sp>
    </p:spTree>
    <p:extLst>
      <p:ext uri="{BB962C8B-B14F-4D97-AF65-F5344CB8AC3E}">
        <p14:creationId xmlns:p14="http://schemas.microsoft.com/office/powerpoint/2010/main" val="21238843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4820" name="Picture 4"/>
          <p:cNvPicPr>
            <a:picLocks noChangeAspect="1" noChangeArrowheads="1"/>
          </p:cNvPicPr>
          <p:nvPr/>
        </p:nvPicPr>
        <p:blipFill>
          <a:blip r:embed="rId3" cstate="print"/>
          <a:srcRect/>
          <a:stretch>
            <a:fillRect/>
          </a:stretch>
        </p:blipFill>
        <p:spPr bwMode="auto">
          <a:xfrm>
            <a:off x="7934325" y="2057400"/>
            <a:ext cx="1209675" cy="18764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Quiz</a:t>
            </a:r>
          </a:p>
        </p:txBody>
      </p:sp>
      <p:sp>
        <p:nvSpPr>
          <p:cNvPr id="3" name="Content Placeholder 2"/>
          <p:cNvSpPr>
            <a:spLocks noGrp="1"/>
          </p:cNvSpPr>
          <p:nvPr>
            <p:ph sz="quarter" idx="12"/>
          </p:nvPr>
        </p:nvSpPr>
        <p:spPr>
          <a:xfrm>
            <a:off x="228600" y="990600"/>
            <a:ext cx="8405601" cy="1524000"/>
          </a:xfrm>
        </p:spPr>
        <p:txBody>
          <a:bodyPr/>
          <a:lstStyle/>
          <a:p>
            <a:pPr marL="0" indent="0">
              <a:buNone/>
            </a:pPr>
            <a:r>
              <a:rPr lang="en-US" sz="2800" dirty="0"/>
              <a:t>I came to site to upgrade the system that Barbara installed. That will be configured perfectly so no need to check anything?</a:t>
            </a:r>
          </a:p>
        </p:txBody>
      </p:sp>
      <p:sp>
        <p:nvSpPr>
          <p:cNvPr id="11" name="TextBox 10"/>
          <p:cNvSpPr txBox="1"/>
          <p:nvPr/>
        </p:nvSpPr>
        <p:spPr>
          <a:xfrm>
            <a:off x="1219200" y="3247540"/>
            <a:ext cx="5562600" cy="1292662"/>
          </a:xfrm>
          <a:prstGeom prst="rect">
            <a:avLst/>
          </a:prstGeom>
          <a:noFill/>
        </p:spPr>
        <p:txBody>
          <a:bodyPr wrap="square" rtlCol="0">
            <a:spAutoFit/>
          </a:bodyPr>
          <a:lstStyle/>
          <a:p>
            <a:pPr algn="l"/>
            <a:r>
              <a:rPr lang="en-US" sz="1800" b="1" dirty="0">
                <a:solidFill>
                  <a:schemeClr val="bg2"/>
                </a:solidFill>
              </a:rPr>
              <a:t>OMG, Definitely you need to check. </a:t>
            </a:r>
          </a:p>
          <a:p>
            <a:pPr algn="l"/>
            <a:endParaRPr lang="en-US" sz="1800" b="1" dirty="0">
              <a:solidFill>
                <a:schemeClr val="bg2"/>
              </a:solidFill>
            </a:endParaRPr>
          </a:p>
          <a:p>
            <a:pPr marL="342900" indent="-342900" algn="l">
              <a:buAutoNum type="arabicPeriod"/>
            </a:pPr>
            <a:r>
              <a:rPr lang="en-US" sz="1400" b="0" i="0" dirty="0">
                <a:solidFill>
                  <a:srgbClr val="222222"/>
                </a:solidFill>
                <a:effectLst/>
                <a:latin typeface="Open Sans" panose="020B0606030504020204" pitchFamily="34" charset="0"/>
              </a:rPr>
              <a:t>“It's only those who do nothing that make no mistakes”</a:t>
            </a:r>
          </a:p>
          <a:p>
            <a:pPr marL="342900" indent="-342900" algn="l">
              <a:buAutoNum type="arabicPeriod"/>
            </a:pPr>
            <a:r>
              <a:rPr lang="en-US" sz="1400" dirty="0">
                <a:solidFill>
                  <a:srgbClr val="222222"/>
                </a:solidFill>
                <a:latin typeface="Open Sans" panose="020B0606030504020204" pitchFamily="34" charset="0"/>
              </a:rPr>
              <a:t>System may deteriorate… may not work any more</a:t>
            </a:r>
          </a:p>
          <a:p>
            <a:pPr marL="342900" indent="-342900" algn="l">
              <a:buAutoNum type="arabicPeriod"/>
            </a:pPr>
            <a:endParaRPr lang="en-US" sz="1400" b="1" dirty="0">
              <a:solidFill>
                <a:srgbClr val="222222"/>
              </a:solidFill>
              <a:latin typeface="Open Sans" panose="020B0606030504020204" pitchFamily="34" charset="0"/>
            </a:endParaRPr>
          </a:p>
        </p:txBody>
      </p:sp>
      <p:sp>
        <p:nvSpPr>
          <p:cNvPr id="15" name="Rounded Rectangle 14"/>
          <p:cNvSpPr/>
          <p:nvPr/>
        </p:nvSpPr>
        <p:spPr bwMode="auto">
          <a:xfrm>
            <a:off x="457200" y="2514600"/>
            <a:ext cx="2743200" cy="457200"/>
          </a:xfrm>
          <a:prstGeom prst="roundRect">
            <a:avLst/>
          </a:prstGeom>
          <a:noFill/>
          <a:ln w="9525" cap="flat" cmpd="sng" algn="ctr">
            <a:solidFill>
              <a:srgbClr val="FF0000">
                <a:alpha val="0"/>
              </a:srgbClr>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
        <p:nvSpPr>
          <p:cNvPr id="13" name="Flowchart: Process 12"/>
          <p:cNvSpPr/>
          <p:nvPr/>
        </p:nvSpPr>
        <p:spPr bwMode="auto">
          <a:xfrm>
            <a:off x="1086246" y="2793542"/>
            <a:ext cx="5828508" cy="3048000"/>
          </a:xfrm>
          <a:prstGeom prst="flowChartProcess">
            <a:avLst/>
          </a:prstGeom>
          <a:solidFill>
            <a:schemeClr val="bg1"/>
          </a:solidFill>
          <a:ln w="9525" cap="flat" cmpd="sng" algn="ctr">
            <a:solidFill>
              <a:srgbClr val="FF0000"/>
            </a:solidFill>
            <a:prstDash val="solid"/>
            <a:round/>
            <a:headEnd type="none" w="med" len="med"/>
            <a:tailEnd type="none" w="med" len="med"/>
          </a:ln>
          <a:effectLst/>
        </p:spPr>
        <p:txBody>
          <a:bodyPr vert="horz" wrap="none" lIns="90488" tIns="44450" rIns="90488" bIns="4445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6463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Honeywell Theme">
  <a:themeElements>
    <a:clrScheme name="Custom 9">
      <a:dk1>
        <a:srgbClr val="707070"/>
      </a:dk1>
      <a:lt1>
        <a:srgbClr val="FFFFFF"/>
      </a:lt1>
      <a:dk2>
        <a:srgbClr val="E1261C"/>
      </a:dk2>
      <a:lt2>
        <a:srgbClr val="000000"/>
      </a:lt2>
      <a:accent1>
        <a:srgbClr val="00CC99"/>
      </a:accent1>
      <a:accent2>
        <a:srgbClr val="F37021"/>
      </a:accent2>
      <a:accent3>
        <a:srgbClr val="1792E5"/>
      </a:accent3>
      <a:accent4>
        <a:srgbClr val="FFFFFF"/>
      </a:accent4>
      <a:accent5>
        <a:srgbClr val="FFFFFF"/>
      </a:accent5>
      <a:accent6>
        <a:srgbClr val="FFFFFF"/>
      </a:accent6>
      <a:hlink>
        <a:srgbClr val="0070C0"/>
      </a:hlink>
      <a:folHlink>
        <a:srgbClr val="0070C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_16x9" id="{C42472D5-BEC0-4916-9C24-1870CEA876B1}" vid="{A6739C69-AEDA-4E79-B7C9-D7F7D10ED69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2BA525D060474184D4A99B5122737B" ma:contentTypeVersion="38" ma:contentTypeDescription="Create a new document." ma:contentTypeScope="" ma:versionID="04e3a038b9e0cdb02f121161bc4ff708">
  <xsd:schema xmlns:xsd="http://www.w3.org/2001/XMLSchema" xmlns:xs="http://www.w3.org/2001/XMLSchema" xmlns:p="http://schemas.microsoft.com/office/2006/metadata/properties" xmlns:ns2="13102e63-8df2-463d-b456-b153fd94878f" xmlns:ns3="79f18359-1f79-4d97-8488-5159af00fe92" xmlns:ns4="484c8c59-755d-4516-b8d2-1621b38262b4" xmlns:ns5="8b6554e0-6c02-4d94-8886-01899cf0d43b" xmlns:ns6="8dd6cfa0-c720-477c-8c78-13341ad92507" xmlns:ns7="874e6739-022b-4d38-a832-8b3d3f8180ab" xmlns:ns8="777ffc60-420e-4bde-b6a8-286c4d59a07b" targetNamespace="http://schemas.microsoft.com/office/2006/metadata/properties" ma:root="true" ma:fieldsID="f4f78c640f46fdbefa48c2dcd8c7d644" ns2:_="" ns3:_="" ns4:_="" ns5:_="" ns6:_="" ns7:_="" ns8:_="">
    <xsd:import namespace="13102e63-8df2-463d-b456-b153fd94878f"/>
    <xsd:import namespace="79f18359-1f79-4d97-8488-5159af00fe92"/>
    <xsd:import namespace="484c8c59-755d-4516-b8d2-1621b38262b4"/>
    <xsd:import namespace="8b6554e0-6c02-4d94-8886-01899cf0d43b"/>
    <xsd:import namespace="8dd6cfa0-c720-477c-8c78-13341ad92507"/>
    <xsd:import namespace="874e6739-022b-4d38-a832-8b3d3f8180ab"/>
    <xsd:import namespace="777ffc60-420e-4bde-b6a8-286c4d59a07b"/>
    <xsd:element name="properties">
      <xsd:complexType>
        <xsd:sequence>
          <xsd:element name="documentManagement">
            <xsd:complexType>
              <xsd:all>
                <xsd:element ref="ns2:b02ef9c9ba2b47a7a966ec85f27fc64b" minOccurs="0"/>
                <xsd:element ref="ns3:TaxCatchAll" minOccurs="0"/>
                <xsd:element ref="ns2:hd313e3cdfe647b3a6b09e2e2bc5fac2" minOccurs="0"/>
                <xsd:element ref="ns2:n098ebb87c784f83a42ec9af1bd9cecf" minOccurs="0"/>
                <xsd:element ref="ns2:Owner" minOccurs="0"/>
                <xsd:element ref="ns2:ac28b01270a741659ca1702f61e5905d" minOccurs="0"/>
                <xsd:element ref="ns4:TaxKeywordTaxHTField" minOccurs="0"/>
                <xsd:element ref="ns5:b0caa8eb156f4565967e6e39d216d06b" minOccurs="0"/>
                <xsd:element ref="ns6:p412ac8d45554458a97bfcbdaea713f8" minOccurs="0"/>
                <xsd:element ref="ns6:l4fa28db16204ee8a0d9625e3b412144" minOccurs="0"/>
                <xsd:element ref="ns6:n4567c8ba68a4f639ae0ab1902ae4a96" minOccurs="0"/>
                <xsd:element ref="ns7:MappedRecordSeries" minOccurs="0"/>
                <xsd:element ref="ns7:LegacyContentType" minOccurs="0"/>
                <xsd:element ref="ns7:OwningOrganization" minOccurs="0"/>
                <xsd:element ref="ns3:OwnerOrgCode" minOccurs="0"/>
                <xsd:element ref="ns8:MediaServiceMetadata" minOccurs="0"/>
                <xsd:element ref="ns8:MediaServiceFastMetadata" minOccurs="0"/>
                <xsd:element ref="ns3:SharedWithUsers" minOccurs="0"/>
                <xsd:element ref="ns3:SharedWithDetails" minOccurs="0"/>
                <xsd:element ref="ns8:MediaServiceDateTaken" minOccurs="0"/>
                <xsd:element ref="ns8:MediaLengthInSeconds" minOccurs="0"/>
                <xsd:element ref="ns8:lcf76f155ced4ddcb4097134ff3c332f" minOccurs="0"/>
                <xsd:element ref="ns8:MediaServiceGenerationTime" minOccurs="0"/>
                <xsd:element ref="ns8:MediaServiceEventHashCode" minOccurs="0"/>
                <xsd:element ref="ns8:MediaServiceOCR" minOccurs="0"/>
                <xsd:element ref="ns8:MediaServiceLocation" minOccurs="0"/>
                <xsd:element ref="ns8:MediaServiceObjectDetectorVersions" minOccurs="0"/>
                <xsd:element ref="ns8: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02e63-8df2-463d-b456-b153fd94878f" elementFormDefault="qualified">
    <xsd:import namespace="http://schemas.microsoft.com/office/2006/documentManagement/types"/>
    <xsd:import namespace="http://schemas.microsoft.com/office/infopath/2007/PartnerControls"/>
    <xsd:element name="b02ef9c9ba2b47a7a966ec85f27fc64b" ma:index="8" nillable="true" ma:taxonomy="true" ma:internalName="b02ef9c9ba2b47a7a966ec85f27fc64b" ma:taxonomyFieldName="Team" ma:displayName="Team" ma:fieldId="{b02ef9c9-ba2b-47a7-a966-ec85f27fc64b}" ma:taxonomyMulti="true" ma:sspId="9d3dc079-0d96-4575-90ae-c0c875b5f743" ma:termSetId="e75d72a3-1f4f-474a-80bd-cd7cc4e43956" ma:anchorId="00000000-0000-0000-0000-000000000000" ma:open="false" ma:isKeyword="false">
      <xsd:complexType>
        <xsd:sequence>
          <xsd:element ref="pc:Terms" minOccurs="0" maxOccurs="1"/>
        </xsd:sequence>
      </xsd:complexType>
    </xsd:element>
    <xsd:element name="hd313e3cdfe647b3a6b09e2e2bc5fac2" ma:index="11" nillable="true" ma:taxonomy="true" ma:internalName="hd313e3cdfe647b3a6b09e2e2bc5fac2" ma:taxonomyFieldName="TeamType" ma:displayName="Team Type" ma:fieldId="{1d313e3c-dfe6-47b3-a6b0-9e2e2bc5fac2}" ma:sspId="9d3dc079-0d96-4575-90ae-c0c875b5f743" ma:termSetId="14664bb3-b598-4762-9d05-d5b859d6e09b" ma:anchorId="00000000-0000-0000-0000-000000000000" ma:open="false" ma:isKeyword="false">
      <xsd:complexType>
        <xsd:sequence>
          <xsd:element ref="pc:Terms" minOccurs="0" maxOccurs="1"/>
        </xsd:sequence>
      </xsd:complexType>
    </xsd:element>
    <xsd:element name="n098ebb87c784f83a42ec9af1bd9cecf" ma:index="13" nillable="true" ma:taxonomy="true" ma:internalName="n098ebb87c784f83a42ec9af1bd9cecf" ma:taxonomyFieldName="Topic" ma:displayName="Topic" ma:fieldId="{7098ebb8-7c78-4f83-a42e-c9af1bd9cecf}" ma:sspId="9d3dc079-0d96-4575-90ae-c0c875b5f743" ma:termSetId="8ca3fd85-7b5c-42e6-a6be-bfca5e182723" ma:anchorId="00000000-0000-0000-0000-000000000000" ma:open="false" ma:isKeyword="false">
      <xsd:complexType>
        <xsd:sequence>
          <xsd:element ref="pc:Terms" minOccurs="0" maxOccurs="1"/>
        </xsd:sequence>
      </xsd:complexType>
    </xsd:element>
    <xsd:element name="Owner" ma:index="15" nillable="true" ma:displayName="Owner" ma:description="Please select the owner this content applied to" ma:SharePointGroup="0" ma:internalName="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c28b01270a741659ca1702f61e5905d" ma:index="16" nillable="true" ma:taxonomy="true" ma:internalName="ac28b01270a741659ca1702f61e5905d" ma:taxonomyFieldName="ResourceType" ma:displayName="Resource Type" ma:fieldId="{ac28b012-70a7-4165-9ca1-702f61e5905d}" ma:sspId="9d3dc079-0d96-4575-90ae-c0c875b5f743" ma:termSetId="5792e98d-b39f-42d0-961b-31f9dd407dee"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9f18359-1f79-4d97-8488-5159af00fe92"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062b0034-d932-4308-b1c7-2f6080464146}" ma:internalName="TaxCatchAll" ma:showField="CatchAllData" ma:web="79f18359-1f79-4d97-8488-5159af00fe92">
      <xsd:complexType>
        <xsd:complexContent>
          <xsd:extension base="dms:MultiChoiceLookup">
            <xsd:sequence>
              <xsd:element name="Value" type="dms:Lookup" maxOccurs="unbounded" minOccurs="0" nillable="true"/>
            </xsd:sequence>
          </xsd:extension>
        </xsd:complexContent>
      </xsd:complexType>
    </xsd:element>
    <xsd:element name="OwnerOrgCode" ma:index="31" nillable="true" ma:displayName="Owner Org Code" ma:default="27000682" ma:internalName="OwnerOrgCode" ma:readOnly="true">
      <xsd:simpleType>
        <xsd:restriction base="dms:Text">
          <xsd:maxLength value="255"/>
        </xsd:restriction>
      </xsd:simpleType>
    </xsd:element>
    <xsd:element name="SharedWithUsers" ma:index="3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84c8c59-755d-4516-b8d2-1621b38262b4" elementFormDefault="qualified">
    <xsd:import namespace="http://schemas.microsoft.com/office/2006/documentManagement/types"/>
    <xsd:import namespace="http://schemas.microsoft.com/office/infopath/2007/PartnerControls"/>
    <xsd:element name="TaxKeywordTaxHTField" ma:index="18" nillable="true" ma:taxonomy="true" ma:internalName="TaxKeywordTaxHTField" ma:taxonomyFieldName="TaxKeyword" ma:displayName="Enterprise Keywords" ma:fieldId="{23f27201-bee3-471e-b2e7-b64fd8b7ca38}" ma:taxonomyMulti="true" ma:sspId="9d3dc079-0d96-4575-90ae-c0c875b5f743"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b6554e0-6c02-4d94-8886-01899cf0d43b" elementFormDefault="qualified">
    <xsd:import namespace="http://schemas.microsoft.com/office/2006/documentManagement/types"/>
    <xsd:import namespace="http://schemas.microsoft.com/office/infopath/2007/PartnerControls"/>
    <xsd:element name="b0caa8eb156f4565967e6e39d216d06b" ma:index="20" nillable="true" ma:taxonomy="true" ma:internalName="b0caa8eb156f4565967e6e39d216d06b" ma:taxonomyFieldName="Languages" ma:displayName="Languages" ma:default="1;#English|32ca1fd3-5f6e-4457-8601-3240b5297d4c" ma:fieldId="{b0caa8eb-156f-4565-967e-6e39d216d06b}" ma:sspId="9d3dc079-0d96-4575-90ae-c0c875b5f743" ma:termSetId="2ece876c-f993-4461-a37b-05a4166201c2"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dd6cfa0-c720-477c-8c78-13341ad92507" elementFormDefault="qualified">
    <xsd:import namespace="http://schemas.microsoft.com/office/2006/documentManagement/types"/>
    <xsd:import namespace="http://schemas.microsoft.com/office/infopath/2007/PartnerControls"/>
    <xsd:element name="p412ac8d45554458a97bfcbdaea713f8" ma:index="22" nillable="true" ma:taxonomy="true" ma:internalName="p412ac8d45554458a97bfcbdaea713f8" ma:taxonomyFieldName="SupplementalMarkings" ma:displayName="Confidentiality" ma:default="" ma:fieldId="{9412ac8d-4555-4458-a97b-fcbdaea713f8}" ma:sspId="9d3dc079-0d96-4575-90ae-c0c875b5f743" ma:termSetId="b2ef3f8b-6f45-4c67-bddc-a61a96060b19" ma:anchorId="00000000-0000-0000-0000-000000000000" ma:open="false" ma:isKeyword="false">
      <xsd:complexType>
        <xsd:sequence>
          <xsd:element ref="pc:Terms" minOccurs="0" maxOccurs="1"/>
        </xsd:sequence>
      </xsd:complexType>
    </xsd:element>
    <xsd:element name="l4fa28db16204ee8a0d9625e3b412144" ma:index="24" nillable="true" ma:taxonomy="true" ma:internalName="l4fa28db16204ee8a0d9625e3b412144" ma:taxonomyFieldName="Integrity" ma:displayName="Integrity" ma:default="" ma:fieldId="{54fa28db-1620-4ee8-a0d9-625e3b412144}" ma:sspId="9d3dc079-0d96-4575-90ae-c0c875b5f743" ma:termSetId="da840edb-f0c4-4778-93e8-59f277d3ab20" ma:anchorId="00000000-0000-0000-0000-000000000000" ma:open="false" ma:isKeyword="false">
      <xsd:complexType>
        <xsd:sequence>
          <xsd:element ref="pc:Terms" minOccurs="0" maxOccurs="1"/>
        </xsd:sequence>
      </xsd:complexType>
    </xsd:element>
    <xsd:element name="n4567c8ba68a4f639ae0ab1902ae4a96" ma:index="26" nillable="true" ma:taxonomy="true" ma:internalName="n4567c8ba68a4f639ae0ab1902ae4a96" ma:taxonomyFieldName="Availability" ma:displayName="Availability" ma:default="" ma:fieldId="{74567c8b-a68a-4f63-9ae0-ab1902ae4a96}" ma:sspId="9d3dc079-0d96-4575-90ae-c0c875b5f743" ma:termSetId="106c72f5-422e-44dd-88d1-6524746fa7e6"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74e6739-022b-4d38-a832-8b3d3f8180ab" elementFormDefault="qualified">
    <xsd:import namespace="http://schemas.microsoft.com/office/2006/documentManagement/types"/>
    <xsd:import namespace="http://schemas.microsoft.com/office/infopath/2007/PartnerControls"/>
    <xsd:element name="MappedRecordSeries" ma:index="28" nillable="true" ma:displayName="Mapped Record Series" ma:internalName="MappedRecordSeries" ma:readOnly="true">
      <xsd:simpleType>
        <xsd:restriction base="dms:Text">
          <xsd:maxLength value="255"/>
        </xsd:restriction>
      </xsd:simpleType>
    </xsd:element>
    <xsd:element name="LegacyContentType" ma:index="29" nillable="true" ma:displayName="Legacy Content Type" ma:internalName="LegacyContentType" ma:readOnly="true">
      <xsd:simpleType>
        <xsd:restriction base="dms:Text">
          <xsd:maxLength value="255"/>
        </xsd:restriction>
      </xsd:simpleType>
    </xsd:element>
    <xsd:element name="OwningOrganization" ma:index="30" nillable="true" ma:displayName="Owning Organization" ma:default="LAR-Tech Svcs-Proc Cntrl Systems (27000682)" ma:internalName="OwningOrganization" ma:readOnly="tru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7ffc60-420e-4bde-b6a8-286c4d59a07b" elementFormDefault="qualified">
    <xsd:import namespace="http://schemas.microsoft.com/office/2006/documentManagement/types"/>
    <xsd:import namespace="http://schemas.microsoft.com/office/infopath/2007/PartnerControls"/>
    <xsd:element name="MediaServiceMetadata" ma:index="32" nillable="true" ma:displayName="MediaServiceMetadata" ma:hidden="true" ma:internalName="MediaServiceMetadata" ma:readOnly="true">
      <xsd:simpleType>
        <xsd:restriction base="dms:Note"/>
      </xsd:simpleType>
    </xsd:element>
    <xsd:element name="MediaServiceFastMetadata" ma:index="33" nillable="true" ma:displayName="MediaServiceFastMetadata" ma:hidden="true" ma:internalName="MediaServiceFastMetadata" ma:readOnly="true">
      <xsd:simpleType>
        <xsd:restriction base="dms:Note"/>
      </xsd:simpleType>
    </xsd:element>
    <xsd:element name="MediaServiceDateTaken" ma:index="36" nillable="true" ma:displayName="MediaServiceDateTaken" ma:hidden="true" ma:indexed="true" ma:internalName="MediaServiceDateTaken" ma:readOnly="true">
      <xsd:simpleType>
        <xsd:restriction base="dms:Text"/>
      </xsd:simpleType>
    </xsd:element>
    <xsd:element name="MediaLengthInSeconds" ma:index="37" nillable="true" ma:displayName="MediaLengthInSeconds" ma:hidden="true" ma:internalName="MediaLengthInSeconds" ma:readOnly="true">
      <xsd:simpleType>
        <xsd:restriction base="dms:Unknown"/>
      </xsd:simpleType>
    </xsd:element>
    <xsd:element name="lcf76f155ced4ddcb4097134ff3c332f" ma:index="39" nillable="true" ma:taxonomy="true" ma:internalName="lcf76f155ced4ddcb4097134ff3c332f" ma:taxonomyFieldName="MediaServiceImageTags" ma:displayName="Image Tags" ma:readOnly="false" ma:fieldId="{5cf76f15-5ced-4ddc-b409-7134ff3c332f}" ma:taxonomyMulti="true" ma:sspId="9d3dc079-0d96-4575-90ae-c0c875b5f743" ma:termSetId="09814cd3-568e-fe90-9814-8d621ff8fb84" ma:anchorId="fba54fb3-c3e1-fe81-a776-ca4b69148c4d" ma:open="true" ma:isKeyword="false">
      <xsd:complexType>
        <xsd:sequence>
          <xsd:element ref="pc:Terms" minOccurs="0" maxOccurs="1"/>
        </xsd:sequence>
      </xsd:complexType>
    </xsd:element>
    <xsd:element name="MediaServiceGenerationTime" ma:index="40" nillable="true" ma:displayName="MediaServiceGenerationTime" ma:hidden="true" ma:internalName="MediaServiceGenerationTime" ma:readOnly="true">
      <xsd:simpleType>
        <xsd:restriction base="dms:Text"/>
      </xsd:simpleType>
    </xsd:element>
    <xsd:element name="MediaServiceEventHashCode" ma:index="41" nillable="true" ma:displayName="MediaServiceEventHashCode" ma:hidden="true" ma:internalName="MediaServiceEventHashCode" ma:readOnly="true">
      <xsd:simpleType>
        <xsd:restriction base="dms:Text"/>
      </xsd:simpleType>
    </xsd:element>
    <xsd:element name="MediaServiceOCR" ma:index="42" nillable="true" ma:displayName="Extracted Text" ma:internalName="MediaServiceOCR" ma:readOnly="true">
      <xsd:simpleType>
        <xsd:restriction base="dms:Note">
          <xsd:maxLength value="255"/>
        </xsd:restriction>
      </xsd:simpleType>
    </xsd:element>
    <xsd:element name="MediaServiceLocation" ma:index="43" nillable="true" ma:displayName="Location" ma:indexed="true" ma:internalName="MediaServiceLocation" ma:readOnly="true">
      <xsd:simpleType>
        <xsd:restriction base="dms:Text"/>
      </xsd:simpleType>
    </xsd:element>
    <xsd:element name="MediaServiceObjectDetectorVersions" ma:index="44" nillable="true" ma:displayName="MediaServiceObjectDetectorVersions" ma:hidden="true" ma:indexed="true" ma:internalName="MediaServiceObjectDetectorVersions" ma:readOnly="true">
      <xsd:simpleType>
        <xsd:restriction base="dms:Text"/>
      </xsd:simpleType>
    </xsd:element>
    <xsd:element name="MediaServiceSearchProperties" ma:index="4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098ebb87c784f83a42ec9af1bd9cecf xmlns="13102e63-8df2-463d-b456-b153fd94878f">
      <Terms xmlns="http://schemas.microsoft.com/office/infopath/2007/PartnerControls"/>
    </n098ebb87c784f83a42ec9af1bd9cecf>
    <ac28b01270a741659ca1702f61e5905d xmlns="13102e63-8df2-463d-b456-b153fd94878f">
      <Terms xmlns="http://schemas.microsoft.com/office/infopath/2007/PartnerControls"/>
    </ac28b01270a741659ca1702f61e5905d>
    <b0caa8eb156f4565967e6e39d216d06b xmlns="8b6554e0-6c02-4d94-8886-01899cf0d43b">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32ca1fd3-5f6e-4457-8601-3240b5297d4c</TermId>
        </TermInfo>
      </Terms>
    </b0caa8eb156f4565967e6e39d216d06b>
    <lcf76f155ced4ddcb4097134ff3c332f xmlns="777ffc60-420e-4bde-b6a8-286c4d59a07b">
      <Terms xmlns="http://schemas.microsoft.com/office/infopath/2007/PartnerControls"/>
    </lcf76f155ced4ddcb4097134ff3c332f>
    <TaxKeywordTaxHTField xmlns="484c8c59-755d-4516-b8d2-1621b38262b4">
      <Terms xmlns="http://schemas.microsoft.com/office/infopath/2007/PartnerControls"/>
    </TaxKeywordTaxHTField>
    <n4567c8ba68a4f639ae0ab1902ae4a96 xmlns="8dd6cfa0-c720-477c-8c78-13341ad92507">
      <Terms xmlns="http://schemas.microsoft.com/office/infopath/2007/PartnerControls"/>
    </n4567c8ba68a4f639ae0ab1902ae4a96>
    <hd313e3cdfe647b3a6b09e2e2bc5fac2 xmlns="13102e63-8df2-463d-b456-b153fd94878f">
      <Terms xmlns="http://schemas.microsoft.com/office/infopath/2007/PartnerControls">
        <TermInfo xmlns="http://schemas.microsoft.com/office/infopath/2007/PartnerControls">
          <TermName xmlns="http://schemas.microsoft.com/office/infopath/2007/PartnerControls">Business Unit</TermName>
          <TermId xmlns="http://schemas.microsoft.com/office/infopath/2007/PartnerControls">d243dc7c-05fb-4ab4-82e7-434edd086e0f</TermId>
        </TermInfo>
      </Terms>
    </hd313e3cdfe647b3a6b09e2e2bc5fac2>
    <p412ac8d45554458a97bfcbdaea713f8 xmlns="8dd6cfa0-c720-477c-8c78-13341ad92507">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72b8e752-526f-4a85-bf96-f5fadb15ce3f</TermId>
        </TermInfo>
      </Terms>
    </p412ac8d45554458a97bfcbdaea713f8>
    <l4fa28db16204ee8a0d9625e3b412144 xmlns="8dd6cfa0-c720-477c-8c78-13341ad92507">
      <Terms xmlns="http://schemas.microsoft.com/office/infopath/2007/PartnerControls"/>
    </l4fa28db16204ee8a0d9625e3b412144>
    <TaxCatchAll xmlns="79f18359-1f79-4d97-8488-5159af00fe92">
      <Value>4</Value>
      <Value>3</Value>
      <Value>2</Value>
      <Value>1</Value>
    </TaxCatchAll>
    <b02ef9c9ba2b47a7a966ec85f27fc64b xmlns="13102e63-8df2-463d-b456-b153fd94878f">
      <Terms xmlns="http://schemas.microsoft.com/office/infopath/2007/PartnerControls">
        <TermInfo xmlns="http://schemas.microsoft.com/office/infopath/2007/PartnerControls">
          <TermName xmlns="http://schemas.microsoft.com/office/infopath/2007/PartnerControls">Los Angeles Process Controls</TermName>
          <TermId xmlns="http://schemas.microsoft.com/office/infopath/2007/PartnerControls">fadccdf7-f025-4fa5-9440-73a8e1305e54</TermId>
        </TermInfo>
      </Terms>
    </b02ef9c9ba2b47a7a966ec85f27fc64b>
    <Owner xmlns="13102e63-8df2-463d-b456-b153fd94878f">
      <UserInfo>
        <DisplayName/>
        <AccountId xsi:nil="true"/>
        <AccountType/>
      </UserInfo>
    </Owner>
    <OwnerOrgCode xmlns="79f18359-1f79-4d97-8488-5159af00fe92">27000682</OwnerOrgCode>
    <OwningOrganization xmlns="874e6739-022b-4d38-a832-8b3d3f8180ab">LAR-Tech Svcs-Proc Cntrl Systems (27000682)</OwningOrganization>
  </documentManagement>
</p:properties>
</file>

<file path=customXml/itemProps1.xml><?xml version="1.0" encoding="utf-8"?>
<ds:datastoreItem xmlns:ds="http://schemas.openxmlformats.org/officeDocument/2006/customXml" ds:itemID="{8D54A354-9FEC-43F0-B774-24C6C6D3F896}"/>
</file>

<file path=customXml/itemProps2.xml><?xml version="1.0" encoding="utf-8"?>
<ds:datastoreItem xmlns:ds="http://schemas.openxmlformats.org/officeDocument/2006/customXml" ds:itemID="{17B64E4B-A632-46C6-9887-1E44DF932568}">
  <ds:schemaRefs>
    <ds:schemaRef ds:uri="http://schemas.microsoft.com/sharepoint/v3/contenttype/forms"/>
  </ds:schemaRefs>
</ds:datastoreItem>
</file>

<file path=customXml/itemProps3.xml><?xml version="1.0" encoding="utf-8"?>
<ds:datastoreItem xmlns:ds="http://schemas.openxmlformats.org/officeDocument/2006/customXml" ds:itemID="{6224935E-034E-4259-A457-56A9238EF78A}">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6163660a-daca-4a92-a6e4-1e391feabf44"/>
    <ds:schemaRef ds:uri="39016d91-f845-4bba-84b9-984546cc4661"/>
    <ds:schemaRef ds:uri="http://purl.org/dc/elements/1.1/"/>
    <ds:schemaRef ds:uri="http://purl.org/dc/term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59486</TotalTime>
  <Words>4781</Words>
  <Application>Microsoft Office PowerPoint</Application>
  <PresentationFormat>On-screen Show (4:3)</PresentationFormat>
  <Paragraphs>711</Paragraphs>
  <Slides>77</Slides>
  <Notes>31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77</vt:i4>
      </vt:variant>
    </vt:vector>
  </HeadingPairs>
  <TitlesOfParts>
    <vt:vector size="87" baseType="lpstr">
      <vt:lpstr>Arial</vt:lpstr>
      <vt:lpstr>Bauhaus 93</vt:lpstr>
      <vt:lpstr>Calibri</vt:lpstr>
      <vt:lpstr>Helvetica Neue</vt:lpstr>
      <vt:lpstr>inherit</vt:lpstr>
      <vt:lpstr>Open Sans</vt:lpstr>
      <vt:lpstr>Times New Roman</vt:lpstr>
      <vt:lpstr>Wingdings</vt:lpstr>
      <vt:lpstr>1_Honeywell Theme</vt:lpstr>
      <vt:lpstr>think-cell Slide</vt:lpstr>
      <vt:lpstr>DynAMo Standard Sync,  Quality, Testing, Troubleshooting and… Alternative Active Sync    </vt:lpstr>
      <vt:lpstr>Topics</vt:lpstr>
      <vt:lpstr>Quiz</vt:lpstr>
      <vt:lpstr>Quiz</vt:lpstr>
      <vt:lpstr>Our goals (per Barbara)</vt:lpstr>
      <vt:lpstr>True or …NOT? </vt:lpstr>
      <vt:lpstr>Summary of quality issues? </vt:lpstr>
      <vt:lpstr>Barbara’s terminology</vt:lpstr>
      <vt:lpstr>ESVT “Unknown Timestamp” and quality</vt:lpstr>
      <vt:lpstr>Active Alarms Quality (per Barbara)…</vt:lpstr>
      <vt:lpstr>Suppressed Sync Quality (per Barbara)</vt:lpstr>
      <vt:lpstr>Shelved Quality (per Barbara)</vt:lpstr>
      <vt:lpstr> DynAMo Standard Sync - how to implement    </vt:lpstr>
      <vt:lpstr>M&amp;R – Simplified Data Flow</vt:lpstr>
      <vt:lpstr>Active Alarm Sync – OPTIONS</vt:lpstr>
      <vt:lpstr>Syncing data flow</vt:lpstr>
      <vt:lpstr>Quiz</vt:lpstr>
      <vt:lpstr>Terminology</vt:lpstr>
      <vt:lpstr>Disable Sync channels</vt:lpstr>
      <vt:lpstr>PowerPoint Presentation</vt:lpstr>
      <vt:lpstr>Configure RDM standalone – NO CUSTOM!!</vt:lpstr>
      <vt:lpstr>Project Checklist – Suppressed Sync</vt:lpstr>
      <vt:lpstr>Project Checklist – Suppressed Sync</vt:lpstr>
      <vt:lpstr>Quiz</vt:lpstr>
      <vt:lpstr>Project Checklist – Suppressed Sync</vt:lpstr>
      <vt:lpstr>PowerPoint Presentation</vt:lpstr>
      <vt:lpstr>Active Alarms Sync (TPS or ESVT only)</vt:lpstr>
      <vt:lpstr>Active Alarms Sync (TPS or ESVT only)</vt:lpstr>
      <vt:lpstr>Project Checklist – Active Sync</vt:lpstr>
      <vt:lpstr>OPC settings confusions…</vt:lpstr>
      <vt:lpstr>Project Checklist – Collector</vt:lpstr>
      <vt:lpstr>PowerPoint Presentation</vt:lpstr>
      <vt:lpstr>Windows schedules</vt:lpstr>
      <vt:lpstr>Windows Tasks</vt:lpstr>
      <vt:lpstr>PowerPoint Presentation</vt:lpstr>
      <vt:lpstr>Project Checklist – Collector</vt:lpstr>
      <vt:lpstr>Project Checklist - Archiver</vt:lpstr>
      <vt:lpstr>Project Checklist – is Sync reasonable?</vt:lpstr>
      <vt:lpstr>PowerPoint Presentation</vt:lpstr>
      <vt:lpstr>Project Checklist – is Sync reasonable?</vt:lpstr>
      <vt:lpstr>Project Checklist – is Sync reasonable?</vt:lpstr>
      <vt:lpstr>Before final test… understand this…</vt:lpstr>
      <vt:lpstr>Final Test</vt:lpstr>
      <vt:lpstr>Project Checklist – FINAL CHECK?</vt:lpstr>
      <vt:lpstr>Active\suppressed\shelved</vt:lpstr>
      <vt:lpstr>Suppressed</vt:lpstr>
      <vt:lpstr>Suppressed</vt:lpstr>
      <vt:lpstr> Troubleshooting+ “Magic query”    </vt:lpstr>
      <vt:lpstr>“Magic Query” vs Event Investigator</vt:lpstr>
      <vt:lpstr>Active Sync DataFlow</vt:lpstr>
      <vt:lpstr>Rules Builder</vt:lpstr>
      <vt:lpstr>Example “Magic query” output</vt:lpstr>
      <vt:lpstr>PowerPoint Presentation</vt:lpstr>
      <vt:lpstr>Example “Magic query” output</vt:lpstr>
      <vt:lpstr>Why Alternative Sync? It is very simple functionality (one script) developed at the beginning of 2021. All short instructions are inside this one script.  The extremely detailed internal manual was also created in 2022 only to address still strong un-comfortability with new functionality to hopefully speed up the general deployment. </vt:lpstr>
      <vt:lpstr>M&amp;R OPC\File Active Alarms Sync</vt:lpstr>
      <vt:lpstr>M&amp;R NEW Active Alarms Sync</vt:lpstr>
      <vt:lpstr>Why new Sync? Can I use standard sync?</vt:lpstr>
      <vt:lpstr>Why new Sync? Can I use standard sync?</vt:lpstr>
      <vt:lpstr>Why new Sync? Can I use standard sync?</vt:lpstr>
      <vt:lpstr>Why new Sync? Can I use standard sync?</vt:lpstr>
      <vt:lpstr>Why new Sync better?</vt:lpstr>
      <vt:lpstr>Why Alternative Sync?</vt:lpstr>
      <vt:lpstr>Active Sync History…</vt:lpstr>
      <vt:lpstr>How complicated is new Sync?</vt:lpstr>
      <vt:lpstr>Will notifdmp return only alarms operator see?</vt:lpstr>
      <vt:lpstr>Quick Implementation: </vt:lpstr>
      <vt:lpstr>HowTo new Sync?</vt:lpstr>
      <vt:lpstr>HowTo new Sync – prepare script</vt:lpstr>
      <vt:lpstr>HowTo new Sync – prepare PPS script</vt:lpstr>
      <vt:lpstr>HowTo new Sync?</vt:lpstr>
      <vt:lpstr>HowTo new Sync?</vt:lpstr>
      <vt:lpstr>HowTo new Sync (ESVT)?</vt:lpstr>
      <vt:lpstr>TODOs…Confusions… What is left…</vt:lpstr>
      <vt:lpstr>GOAL</vt:lpstr>
      <vt:lpstr>PowerPoint Presentation</vt:lpstr>
      <vt:lpstr>Quiz</vt:lpstr>
    </vt:vector>
  </TitlesOfParts>
  <Company>Honeywell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DynAMo Introduction - Install</dc:title>
  <dc:subject>DynAMo Install Course</dc:subject>
  <dc:creator>Barbara Schubert</dc:creator>
  <cp:lastModifiedBy>Schubert, Barbara (ON0W)</cp:lastModifiedBy>
  <cp:revision>1109</cp:revision>
  <cp:lastPrinted>2015-01-28T19:27:50Z</cp:lastPrinted>
  <dcterms:created xsi:type="dcterms:W3CDTF">2005-01-12T04:53:11Z</dcterms:created>
  <dcterms:modified xsi:type="dcterms:W3CDTF">2022-01-18T15:37:24Z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0x010100C82BA525D060474184D4A99B5122737B</vt:lpwstr>
  </property>
  <property fmtid="{D5CDD505-2E9C-101B-9397-08002B2CF9AE}" pid="3" name="MSIP_Label_d546e5e1-5d42-4630-bacd-c69bfdcbd5e8_Enabled">
    <vt:lpwstr>true</vt:lpwstr>
  </property>
  <property fmtid="{D5CDD505-2E9C-101B-9397-08002B2CF9AE}" pid="4" name="MSIP_Label_d546e5e1-5d42-4630-bacd-c69bfdcbd5e8_SetDate">
    <vt:lpwstr>2022-01-18T15:37:24Z</vt:lpwstr>
  </property>
  <property fmtid="{D5CDD505-2E9C-101B-9397-08002B2CF9AE}" pid="5" name="MSIP_Label_d546e5e1-5d42-4630-bacd-c69bfdcbd5e8_Method">
    <vt:lpwstr>Standard</vt:lpwstr>
  </property>
  <property fmtid="{D5CDD505-2E9C-101B-9397-08002B2CF9AE}" pid="6" name="MSIP_Label_d546e5e1-5d42-4630-bacd-c69bfdcbd5e8_Name">
    <vt:lpwstr>d546e5e1-5d42-4630-bacd-c69bfdcbd5e8</vt:lpwstr>
  </property>
  <property fmtid="{D5CDD505-2E9C-101B-9397-08002B2CF9AE}" pid="7" name="MSIP_Label_d546e5e1-5d42-4630-bacd-c69bfdcbd5e8_SiteId">
    <vt:lpwstr>96ece526-9c7d-48b0-8daf-8b93c90a5d18</vt:lpwstr>
  </property>
  <property fmtid="{D5CDD505-2E9C-101B-9397-08002B2CF9AE}" pid="8" name="MSIP_Label_d546e5e1-5d42-4630-bacd-c69bfdcbd5e8_ActionId">
    <vt:lpwstr>4e524361-2798-48fa-aa55-e932030a6719</vt:lpwstr>
  </property>
  <property fmtid="{D5CDD505-2E9C-101B-9397-08002B2CF9AE}" pid="9" name="MSIP_Label_d546e5e1-5d42-4630-bacd-c69bfdcbd5e8_ContentBits">
    <vt:lpwstr>0</vt:lpwstr>
  </property>
  <property fmtid="{D5CDD505-2E9C-101B-9397-08002B2CF9AE}" pid="10" name="SmartTag">
    <vt:lpwstr>4</vt:lpwstr>
  </property>
  <property fmtid="{D5CDD505-2E9C-101B-9397-08002B2CF9AE}" pid="11" name="TaxKeyword">
    <vt:lpwstr/>
  </property>
  <property fmtid="{D5CDD505-2E9C-101B-9397-08002B2CF9AE}" pid="12" name="Topic">
    <vt:lpwstr/>
  </property>
  <property fmtid="{D5CDD505-2E9C-101B-9397-08002B2CF9AE}" pid="13" name="MediaServiceImageTags">
    <vt:lpwstr/>
  </property>
  <property fmtid="{D5CDD505-2E9C-101B-9397-08002B2CF9AE}" pid="14" name="Availability">
    <vt:lpwstr/>
  </property>
  <property fmtid="{D5CDD505-2E9C-101B-9397-08002B2CF9AE}" pid="15" name="Integrity">
    <vt:lpwstr/>
  </property>
  <property fmtid="{D5CDD505-2E9C-101B-9397-08002B2CF9AE}" pid="16" name="Languages">
    <vt:lpwstr>1;#English|32ca1fd3-5f6e-4457-8601-3240b5297d4c</vt:lpwstr>
  </property>
  <property fmtid="{D5CDD505-2E9C-101B-9397-08002B2CF9AE}" pid="17" name="TeamType">
    <vt:lpwstr>3;#Business Unit|d243dc7c-05fb-4ab4-82e7-434edd086e0f</vt:lpwstr>
  </property>
  <property fmtid="{D5CDD505-2E9C-101B-9397-08002B2CF9AE}" pid="18" name="SupplementalMarkings">
    <vt:lpwstr>4;#Internal|72b8e752-526f-4a85-bf96-f5fadb15ce3f</vt:lpwstr>
  </property>
  <property fmtid="{D5CDD505-2E9C-101B-9397-08002B2CF9AE}" pid="19" name="Team">
    <vt:lpwstr>2;#Los Angeles Process Controls|fadccdf7-f025-4fa5-9440-73a8e1305e54</vt:lpwstr>
  </property>
  <property fmtid="{D5CDD505-2E9C-101B-9397-08002B2CF9AE}" pid="20" name="ResourceType">
    <vt:lpwstr/>
  </property>
</Properties>
</file>